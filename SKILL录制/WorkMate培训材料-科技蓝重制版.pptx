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培训围绕一项任务如何在 WorkMate 中持续推进展开。先认识工作空间，再配置模式、引擎和模型，随后介绍上下文、复用能力与外部系统连接，最后说明持续运行和使用边界。</a:t>
            </a:r>
          </a:p>
          <a:p>
            <a:r>
              <a:t>来源：用户提供的 WorkMate培训材料0929.pptx，第 1 页。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本页介绍今天的分享内容。围绕一项任务，认识 WorkMate 的工作方式</a:t>
            </a:r>
          </a:p>
          <a:p>
            <a:r>
              <a:t>来源：用户提供的 WorkMate培训材料0929.pptx，第 2 页。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本页介绍WorkMate 产品特性。对话、文件和项目共同组织工作，任务过程可查看，结果可编辑，资料可继续复用</a:t>
            </a:r>
          </a:p>
          <a:p>
            <a:r>
              <a:t>来源：用户提供的 WorkMate培训材料0929.pptx，第 3 页。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本页介绍沿着一项任务的生命周期，理解核心能力。本章不按按钮逐个罗列，而是回答：如何让一项工作从开始到持续运行。</a:t>
            </a:r>
          </a:p>
          <a:p>
            <a:r>
              <a:t>来源：用户提供的 WorkMate培训材料0929.pptx，第 5 页。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本页介绍模式选择：Chat 与 Agent。快速问答与持续执行，分别对应不同的任务方式</a:t>
            </a:r>
          </a:p>
          <a:p>
            <a:r>
              <a:t>来源：用户提供的 WorkMate培训材料0929.pptx，第 6 页。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本页介绍项目：承载长期工作的独立空间。按具体事情建立项目，让资料、会话、能力和记忆保持清晰边界</a:t>
            </a:r>
          </a:p>
          <a:p>
            <a:r>
              <a:t>来源：用户提供的 WorkMate培训材料0929.pptx，第 7 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本页介绍对话框：明确本次任务的上下文。引用资料与能力后，再描述目标、交付物和验收标准</a:t>
            </a:r>
          </a:p>
          <a:p>
            <a:r>
              <a:t>来源：用户提供的 WorkMate培训材料0929.pptx，第 8 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本页介绍会话管理与执行观测。组织会话，查看统计，并在需要时分叉探索或回到之前的状态</a:t>
            </a:r>
          </a:p>
          <a:p>
            <a:r>
              <a:t>来源：用户提供的 WorkMate培训材料0929.pptx，第 9 页。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Chat / Agent 是工作模式，Pi / Claude 是 Agent 执行引擎。测试数字沿用原始材料，仅作示例，不代表固定耗时。按用户补充，日常任务先尝试 Pi，编程场景使用 Claude。</a:t>
            </a:r>
          </a:p>
          <a:p>
            <a:r>
              <a:t>来源：用户提供的 WorkMate培训材料0929.pptx，第 10 页。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本页介绍选择模型：先判断数据边界。再看输入类型、上下文容量与任务能力</a:t>
            </a:r>
          </a:p>
          <a:p>
            <a:r>
              <a:t>来源：用户提供的 WorkMate培训材料0929.pptx，第 11 页。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本页介绍文件管理：会话文件与项目文件。按资料的使用范围组织文件</a:t>
            </a:r>
          </a:p>
          <a:p>
            <a:r>
              <a:t>来源：用户提供的 WorkMate培训材料0929.pptx，第 12 页。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本页介绍经验复用：Skill、专家与专家团。按任务的标准化程度与协作需要，选择合适的复用形式</a:t>
            </a:r>
          </a:p>
          <a:p>
            <a:r>
              <a:t>来源：用户提供的 WorkMate培训材料0929.pptx，第 13 页。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本页介绍文件预览与编辑。支持 MD、DOCX、PPTX、PDF、HTML 等格式预览，并支持 MD、HTML 编辑</a:t>
            </a:r>
          </a:p>
          <a:p>
            <a:r>
              <a:t>来源：用户提供的 WorkMate培训材料0929.pptx，第 14 页。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本页介绍连接器：连接外部信息与业务系统。Agent 在授权范围内访问系统，获取业务信息并执行任务</a:t>
            </a:r>
          </a:p>
          <a:p>
            <a:r>
              <a:t>来源：用户提供的 WorkMate培训材料0929.pptx，第 15 页。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本页介绍连接器的启用与接入。按任务需要启用能力，明确本次要使用的系统</a:t>
            </a:r>
          </a:p>
          <a:p>
            <a:r>
              <a:t>来源：用户提供的 WorkMate培训材料0929.pptx，第 15 页。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用户补充：外部软件已有 MCP 而 WorkMate 暂未支持时，用户可以直接自定义添加 MCP，也可以反馈给 WorkMate 团队接入。</a:t>
            </a:r>
          </a:p>
          <a:p>
            <a:r>
              <a:t>来源：用户在本次对话中补充的培训说明。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内置浏览器的好处是用户在同一界面就可以看到浏览器操作，更安全可信。复杂表单场景可以使用连接器中的 AgentBrowser，能力更强。一些系统如果尚未开放 MCP 等能力，也可以通过浏览器自动化完成操作。</a:t>
            </a:r>
          </a:p>
          <a:p>
            <a:r>
              <a:t>来源：用户提供的 WorkMate培训材料0929.pptx，第 16 页。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本页介绍联网检索：获取最新资讯。启用联网检索后，可调用泰为平台的检索能力获取最新信息</a:t>
            </a:r>
          </a:p>
          <a:p>
            <a:r>
              <a:t>来源：用户提供的 WorkMate培训材料0929.pptx，第 17 页。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本页介绍远程连接：通过铃客持续协作。通过铃客向 WorkMate 发送任务，并获取执行结果</a:t>
            </a:r>
          </a:p>
          <a:p>
            <a:r>
              <a:t>来源：用户提供的 WorkMate培训材料0929.pptx，第 18 页。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本页介绍定时任务：让重复工作按计划执行。适合目标明确、输入稳定，并且结果可以按规则检查的重复工作</a:t>
            </a:r>
          </a:p>
          <a:p>
            <a:r>
              <a:t>来源：用户提供的 WorkMate培训材料0929.pptx，第 19 页。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本页介绍HTML 的生成、预览与分享。内置 HTML Skill 引导生成，浏览器实时预览，并支持页面分享</a:t>
            </a:r>
          </a:p>
          <a:p>
            <a:r>
              <a:t>来源：用户提供的 WorkMate培训材料0929.pptx，第 20 页。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本页介绍HTML 可视化编辑。通过可视化方式微调局部内容与样式</a:t>
            </a:r>
          </a:p>
          <a:p>
            <a:r>
              <a:t>来源：用户提供的 WorkMate培训材料0929.pptx，第 21 页。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当前 Windows 数据目录为 D:\.workmate。不要移动、重命名或删除该目录，不要把软件安装到数据目录。可在设置中的数据目录管理入口切换根目录，但目前无法自动迁移数据，切换不会自动搬迁原目录中的数据。设置截图由用户提供。</a:t>
            </a:r>
          </a:p>
          <a:p>
            <a:r>
              <a:t>来源：用户在本次对话中补充的培训说明。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本页介绍安全使用边界。数据、权限和关键操作需要清晰边界，结果提交前保留人工复核</a:t>
            </a:r>
          </a:p>
          <a:p>
            <a:r>
              <a:t>来源：用户提供的 WorkMate培训材料0929.pptx，第 22 页。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本页介绍遇到问题时的排查与反馈。保留问题现场，结合会话分析与日志反馈定位原因</a:t>
            </a:r>
          </a:p>
          <a:p>
            <a:r>
              <a:t>来源：用户提供的 WorkMate培训材料0929.pptx，第 22 页。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/>
          <p:nvPr>
            <p:ph type="body" idx="1"/>
          </p:nvPr>
        </p:nvSpPr>
        <p:spPr/>
        <p:txBody>
          <a:bodyPr/>
          <a:lstStyle/>
          <a:p>
            <a:r>
              <a:t>已用用户本次提供的飞书 WorkMate 用户群与铃客 WorkMate 用户群二维码替换旧用户群码和培训签到码。两份原始二维码海报均注明仅限企业内部成员加入，11 月 4 日前有效。二维码保持原图内容，仅裁除海报外围并保留白色静区。</a:t>
            </a:r>
          </a:p>
          <a:p>
            <a:r>
              <a:t>来源：用户提供的 WorkMate培训材料0929.pptx，第 23 页。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nput-ui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engine-menu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4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png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web-search-settings.png"/><Relationship Id="rId4" Type="http://schemas.openxmlformats.org/officeDocument/2006/relationships/image" Target="../media/image23.png"/><Relationship Id="rId5" Type="http://schemas.openxmlformats.org/officeDocument/2006/relationships/image" Target="../media/web-search-example.png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7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data-directory-settings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feishu-group-qr.png"/><Relationship Id="rId4" Type="http://schemas.openxmlformats.org/officeDocument/2006/relationships/image" Target="../media/lingke-group-qr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Mate 使用培训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认识 WorkMate"/>
          <p:cNvSpPr txBox="1"/>
          <p:nvPr/>
        </p:nvSpPr>
        <p:spPr>
          <a:xfrm>
            <a:off x="10337780" y="217475"/>
            <a:ext cx="1397020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认识 WorkMate</a:t>
            </a:r>
            <a:endParaRPr lang="zh-CN" sz="780"/>
          </a:p>
        </p:txBody>
      </p:sp>
      <p:sp>
        <p:nvSpPr>
          <p:cNvPr id="6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7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8" name="桌面 AI 工作助手"/>
          <p:cNvSpPr txBox="1"/>
          <p:nvPr/>
        </p:nvSpPr>
        <p:spPr>
          <a:xfrm>
            <a:off x="640080" y="1214171"/>
            <a:ext cx="1454289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桌面 AI 工作助手</a:t>
            </a:r>
            <a:endParaRPr lang="zh-CN" sz="1380"/>
          </a:p>
        </p:txBody>
      </p:sp>
      <p:sp>
        <p:nvSpPr>
          <p:cNvPr id="9" name="WorkMate"/>
          <p:cNvSpPr txBox="1"/>
          <p:nvPr/>
        </p:nvSpPr>
        <p:spPr>
          <a:xfrm>
            <a:off x="640080" y="1943100"/>
            <a:ext cx="3843576" cy="11125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60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6000"/>
          </a:p>
        </p:txBody>
      </p:sp>
      <p:sp>
        <p:nvSpPr>
          <p:cNvPr id="10" name="使用培训"/>
          <p:cNvSpPr txBox="1"/>
          <p:nvPr/>
        </p:nvSpPr>
        <p:spPr>
          <a:xfrm>
            <a:off x="640080" y="2922880"/>
            <a:ext cx="2438400" cy="8572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56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使用培训</a:t>
            </a:r>
            <a:endParaRPr lang="zh-CN" sz="4560"/>
          </a:p>
        </p:txBody>
      </p:sp>
      <p:sp>
        <p:nvSpPr>
          <p:cNvPr id="11" name="秦晓"/>
          <p:cNvSpPr txBox="1"/>
          <p:nvPr/>
        </p:nvSpPr>
        <p:spPr>
          <a:xfrm>
            <a:off x="670560" y="5227320"/>
            <a:ext cx="502920" cy="3124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秦晓</a:t>
            </a:r>
            <a:endParaRPr lang="zh-CN" sz="1500"/>
          </a:p>
        </p:txBody>
      </p:sp>
      <p:sp>
        <p:nvSpPr>
          <p:cNvPr id="12" name="信息技术部　运营管理室"/>
          <p:cNvSpPr txBox="1"/>
          <p:nvPr/>
        </p:nvSpPr>
        <p:spPr>
          <a:xfrm>
            <a:off x="670560" y="5581193"/>
            <a:ext cx="163068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信息技术部　运营管理室</a:t>
            </a:r>
            <a:endParaRPr lang="zh-CN" sz="1080"/>
          </a:p>
        </p:txBody>
      </p:sp>
      <p:sp>
        <p:nvSpPr>
          <p:cNvPr id="13" name="AI研发效能管理团队"/>
          <p:cNvSpPr txBox="1"/>
          <p:nvPr/>
        </p:nvSpPr>
        <p:spPr>
          <a:xfrm>
            <a:off x="670560" y="5773181"/>
            <a:ext cx="1341834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AI研发效能管理团队</a:t>
            </a:r>
            <a:endParaRPr lang="zh-CN" sz="1080"/>
          </a:p>
        </p:txBody>
      </p:sp>
      <p:pic>
        <p:nvPicPr>
          <p:cNvPr id="14" name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7200" y="1877364"/>
            <a:ext cx="2743200" cy="2326031"/>
          </a:xfrm>
          <a:prstGeom prst="rect">
            <a:avLst/>
          </a:prstGeom>
        </p:spPr>
      </p:pic>
      <p:sp>
        <p:nvSpPr>
          <p:cNvPr id="15" name="01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01 / 26</a:t>
            </a:r>
            <a:endParaRPr lang="zh-CN" sz="84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今天的分享内容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课程导航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课程导航</a:t>
            </a:r>
            <a:endParaRPr lang="zh-CN" sz="780"/>
          </a:p>
        </p:txBody>
      </p:sp>
      <p:sp>
        <p:nvSpPr>
          <p:cNvPr id="6" name="COURSE MAP"/>
          <p:cNvSpPr txBox="1"/>
          <p:nvPr/>
        </p:nvSpPr>
        <p:spPr>
          <a:xfrm>
            <a:off x="579120" y="733044"/>
            <a:ext cx="89927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COURSE MAP</a:t>
            </a:r>
            <a:endParaRPr lang="zh-CN" sz="900"/>
          </a:p>
        </p:txBody>
      </p:sp>
      <p:sp>
        <p:nvSpPr>
          <p:cNvPr id="7" name="今天的分享内容"/>
          <p:cNvSpPr txBox="1"/>
          <p:nvPr/>
        </p:nvSpPr>
        <p:spPr>
          <a:xfrm>
            <a:off x="579120" y="1014832"/>
            <a:ext cx="257556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今天的分享内容</a:t>
            </a:r>
            <a:endParaRPr lang="zh-CN" sz="2760"/>
          </a:p>
        </p:txBody>
      </p:sp>
      <p:sp>
        <p:nvSpPr>
          <p:cNvPr id="8" name="围绕一项任务，认识 WorkMate 的工作方式"/>
          <p:cNvSpPr txBox="1"/>
          <p:nvPr/>
        </p:nvSpPr>
        <p:spPr>
          <a:xfrm>
            <a:off x="579120" y="1548232"/>
            <a:ext cx="3230642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围绕一项任务，认识 WorkMate 的工作方式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01"/>
          <p:cNvSpPr txBox="1"/>
          <p:nvPr/>
        </p:nvSpPr>
        <p:spPr>
          <a:xfrm>
            <a:off x="624840" y="2301088"/>
            <a:ext cx="360045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860"/>
          </a:p>
        </p:txBody>
      </p:sp>
      <p:sp>
        <p:nvSpPr>
          <p:cNvPr id="12" name="认识 WorkMate"/>
          <p:cNvSpPr txBox="1"/>
          <p:nvPr/>
        </p:nvSpPr>
        <p:spPr>
          <a:xfrm>
            <a:off x="1356360" y="2301088"/>
            <a:ext cx="1826776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认识 WorkMate</a:t>
            </a:r>
            <a:endParaRPr lang="zh-CN" sz="1860"/>
          </a:p>
        </p:txBody>
      </p:sp>
      <p:sp>
        <p:nvSpPr>
          <p:cNvPr id="13" name="工作空间与适用场景"/>
          <p:cNvSpPr txBox="1"/>
          <p:nvPr/>
        </p:nvSpPr>
        <p:spPr>
          <a:xfrm>
            <a:off x="5715000" y="2346350"/>
            <a:ext cx="176784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工作空间与适用场景</a:t>
            </a:r>
            <a:endParaRPr lang="zh-CN" sz="1440"/>
          </a:p>
        </p:txBody>
      </p:sp>
      <p:sp>
        <p:nvSpPr>
          <p:cNvPr id="14" name="Style"/>
          <p:cNvSpPr txBox="1"/>
          <p:nvPr/>
        </p:nvSpPr>
        <p:spPr>
          <a:xfrm>
            <a:off x="1356360" y="2926080"/>
            <a:ext cx="1025652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5" name="02"/>
          <p:cNvSpPr txBox="1"/>
          <p:nvPr/>
        </p:nvSpPr>
        <p:spPr>
          <a:xfrm>
            <a:off x="624840" y="3169768"/>
            <a:ext cx="405408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860"/>
          </a:p>
        </p:txBody>
      </p:sp>
      <p:sp>
        <p:nvSpPr>
          <p:cNvPr id="16" name="配置一项任务"/>
          <p:cNvSpPr txBox="1"/>
          <p:nvPr/>
        </p:nvSpPr>
        <p:spPr>
          <a:xfrm>
            <a:off x="1356360" y="3169768"/>
            <a:ext cx="1539240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配置一项任务</a:t>
            </a:r>
            <a:endParaRPr lang="zh-CN" sz="1860"/>
          </a:p>
        </p:txBody>
      </p:sp>
      <p:sp>
        <p:nvSpPr>
          <p:cNvPr id="17" name="Chat / Agent、项目、引擎与模型"/>
          <p:cNvSpPr txBox="1"/>
          <p:nvPr/>
        </p:nvSpPr>
        <p:spPr>
          <a:xfrm>
            <a:off x="5715000" y="3215030"/>
            <a:ext cx="2879943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Chat / Agent、项目、引擎与模型</a:t>
            </a:r>
            <a:endParaRPr lang="zh-CN" sz="1440"/>
          </a:p>
        </p:txBody>
      </p:sp>
      <p:sp>
        <p:nvSpPr>
          <p:cNvPr id="18" name="Style"/>
          <p:cNvSpPr txBox="1"/>
          <p:nvPr/>
        </p:nvSpPr>
        <p:spPr>
          <a:xfrm>
            <a:off x="1356360" y="3794760"/>
            <a:ext cx="1025652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9" name="03"/>
          <p:cNvSpPr txBox="1"/>
          <p:nvPr/>
        </p:nvSpPr>
        <p:spPr>
          <a:xfrm>
            <a:off x="624840" y="4038448"/>
            <a:ext cx="405408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860"/>
          </a:p>
        </p:txBody>
      </p:sp>
      <p:sp>
        <p:nvSpPr>
          <p:cNvPr id="20" name="掌握核心能力"/>
          <p:cNvSpPr txBox="1"/>
          <p:nvPr/>
        </p:nvSpPr>
        <p:spPr>
          <a:xfrm>
            <a:off x="1356360" y="4038448"/>
            <a:ext cx="1539240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掌握核心能力</a:t>
            </a:r>
            <a:endParaRPr lang="zh-CN" sz="1860"/>
          </a:p>
        </p:txBody>
      </p:sp>
      <p:sp>
        <p:nvSpPr>
          <p:cNvPr id="21" name="上下文、Skill、专家与连接器"/>
          <p:cNvSpPr txBox="1"/>
          <p:nvPr/>
        </p:nvSpPr>
        <p:spPr>
          <a:xfrm>
            <a:off x="5715000" y="4083710"/>
            <a:ext cx="2478703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上下文、Skill、专家与连接器</a:t>
            </a:r>
            <a:endParaRPr lang="zh-CN" sz="1440"/>
          </a:p>
        </p:txBody>
      </p:sp>
      <p:sp>
        <p:nvSpPr>
          <p:cNvPr id="22" name="Style"/>
          <p:cNvSpPr txBox="1"/>
          <p:nvPr/>
        </p:nvSpPr>
        <p:spPr>
          <a:xfrm>
            <a:off x="1356360" y="4663440"/>
            <a:ext cx="1025652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23" name="04"/>
          <p:cNvSpPr txBox="1"/>
          <p:nvPr/>
        </p:nvSpPr>
        <p:spPr>
          <a:xfrm>
            <a:off x="624840" y="4907128"/>
            <a:ext cx="405408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04</a:t>
            </a:r>
            <a:endParaRPr lang="zh-CN" sz="1860"/>
          </a:p>
        </p:txBody>
      </p:sp>
      <p:sp>
        <p:nvSpPr>
          <p:cNvPr id="24" name="持续运行与使用边界"/>
          <p:cNvSpPr txBox="1"/>
          <p:nvPr/>
        </p:nvSpPr>
        <p:spPr>
          <a:xfrm>
            <a:off x="1356360" y="4907128"/>
            <a:ext cx="2247900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持续运行与使用边界</a:t>
            </a:r>
            <a:endParaRPr lang="zh-CN" sz="1860"/>
          </a:p>
        </p:txBody>
      </p:sp>
      <p:sp>
        <p:nvSpPr>
          <p:cNvPr id="25" name="远程连接、定时任务、协作与人工复核"/>
          <p:cNvSpPr txBox="1"/>
          <p:nvPr/>
        </p:nvSpPr>
        <p:spPr>
          <a:xfrm>
            <a:off x="5715000" y="4952390"/>
            <a:ext cx="323088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远程连接、定时任务、协作与人工复核</a:t>
            </a:r>
            <a:endParaRPr lang="zh-CN" sz="1440"/>
          </a:p>
        </p:txBody>
      </p:sp>
      <p:sp>
        <p:nvSpPr>
          <p:cNvPr id="26" name="Style"/>
          <p:cNvSpPr txBox="1"/>
          <p:nvPr/>
        </p:nvSpPr>
        <p:spPr>
          <a:xfrm>
            <a:off x="1356360" y="5532120"/>
            <a:ext cx="1025652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27" name="02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02 / 26</a:t>
            </a:r>
            <a:endParaRPr lang="zh-CN" sz="84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Mate 产品特性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认识 WorkMate"/>
          <p:cNvSpPr txBox="1"/>
          <p:nvPr/>
        </p:nvSpPr>
        <p:spPr>
          <a:xfrm>
            <a:off x="10337780" y="217475"/>
            <a:ext cx="1397020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认识 WorkMate</a:t>
            </a:r>
            <a:endParaRPr lang="zh-CN" sz="780"/>
          </a:p>
        </p:txBody>
      </p:sp>
      <p:sp>
        <p:nvSpPr>
          <p:cNvPr id="6" name="01 / WORKSPACE"/>
          <p:cNvSpPr txBox="1"/>
          <p:nvPr/>
        </p:nvSpPr>
        <p:spPr>
          <a:xfrm>
            <a:off x="579120" y="733044"/>
            <a:ext cx="1113413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 / WORKSPACE</a:t>
            </a:r>
            <a:endParaRPr lang="zh-CN" sz="900"/>
          </a:p>
        </p:txBody>
      </p:sp>
      <p:sp>
        <p:nvSpPr>
          <p:cNvPr id="7" name="WorkMate 产品特性"/>
          <p:cNvSpPr txBox="1"/>
          <p:nvPr/>
        </p:nvSpPr>
        <p:spPr>
          <a:xfrm>
            <a:off x="579120" y="1014832"/>
            <a:ext cx="1117092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WorkMate 产品特性</a:t>
            </a:r>
            <a:endParaRPr lang="zh-CN" sz="2760"/>
          </a:p>
        </p:txBody>
      </p:sp>
      <p:sp>
        <p:nvSpPr>
          <p:cNvPr id="8" name="对话、文件和项目共同组织工作，任务过程可查看，结果可编辑，资料可继续复用"/>
          <p:cNvSpPr txBox="1"/>
          <p:nvPr/>
        </p:nvSpPr>
        <p:spPr>
          <a:xfrm>
            <a:off x="579120" y="1548232"/>
            <a:ext cx="588264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对话、文件和项目共同组织工作，任务过程可查看，结果可编辑，资料可继续复用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693" y="2095500"/>
            <a:ext cx="7399254" cy="4076700"/>
          </a:xfrm>
          <a:prstGeom prst="rect">
            <a:avLst/>
          </a:prstGeom>
        </p:spPr>
      </p:pic>
      <p:sp>
        <p:nvSpPr>
          <p:cNvPr id="12" name="01"/>
          <p:cNvSpPr txBox="1"/>
          <p:nvPr/>
        </p:nvSpPr>
        <p:spPr>
          <a:xfrm>
            <a:off x="9296400" y="2298192"/>
            <a:ext cx="27557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200"/>
          </a:p>
        </p:txBody>
      </p:sp>
      <p:sp>
        <p:nvSpPr>
          <p:cNvPr id="13" name="组织资料"/>
          <p:cNvSpPr txBox="1"/>
          <p:nvPr/>
        </p:nvSpPr>
        <p:spPr>
          <a:xfrm>
            <a:off x="9738360" y="227959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组织资料</a:t>
            </a:r>
            <a:endParaRPr lang="zh-CN" sz="1620"/>
          </a:p>
        </p:txBody>
      </p:sp>
      <p:sp>
        <p:nvSpPr>
          <p:cNvPr id="14" name="文件与项目上下文"/>
          <p:cNvSpPr txBox="1"/>
          <p:nvPr/>
        </p:nvSpPr>
        <p:spPr>
          <a:xfrm>
            <a:off x="9738360" y="2640482"/>
            <a:ext cx="1280160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文件与项目上下文</a:t>
            </a:r>
            <a:endParaRPr lang="zh-CN" sz="1140"/>
          </a:p>
        </p:txBody>
      </p:sp>
      <p:sp>
        <p:nvSpPr>
          <p:cNvPr id="15" name="02"/>
          <p:cNvSpPr txBox="1"/>
          <p:nvPr/>
        </p:nvSpPr>
        <p:spPr>
          <a:xfrm>
            <a:off x="9296400" y="344119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200"/>
          </a:p>
        </p:txBody>
      </p:sp>
      <p:sp>
        <p:nvSpPr>
          <p:cNvPr id="16" name="推进任务"/>
          <p:cNvSpPr txBox="1"/>
          <p:nvPr/>
        </p:nvSpPr>
        <p:spPr>
          <a:xfrm>
            <a:off x="9738360" y="342259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推进任务</a:t>
            </a:r>
            <a:endParaRPr lang="zh-CN" sz="1620"/>
          </a:p>
        </p:txBody>
      </p:sp>
      <p:sp>
        <p:nvSpPr>
          <p:cNvPr id="17" name="执行过程可以查看"/>
          <p:cNvSpPr txBox="1"/>
          <p:nvPr/>
        </p:nvSpPr>
        <p:spPr>
          <a:xfrm>
            <a:off x="9738360" y="3783482"/>
            <a:ext cx="1280160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执行过程可以查看</a:t>
            </a:r>
            <a:endParaRPr lang="zh-CN" sz="1140"/>
          </a:p>
        </p:txBody>
      </p:sp>
      <p:sp>
        <p:nvSpPr>
          <p:cNvPr id="18" name="03"/>
          <p:cNvSpPr txBox="1"/>
          <p:nvPr/>
        </p:nvSpPr>
        <p:spPr>
          <a:xfrm>
            <a:off x="9296400" y="458419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200"/>
          </a:p>
        </p:txBody>
      </p:sp>
      <p:sp>
        <p:nvSpPr>
          <p:cNvPr id="19" name="保留成果"/>
          <p:cNvSpPr txBox="1"/>
          <p:nvPr/>
        </p:nvSpPr>
        <p:spPr>
          <a:xfrm>
            <a:off x="9738360" y="456559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保留成果</a:t>
            </a:r>
            <a:endParaRPr lang="zh-CN" sz="1620"/>
          </a:p>
        </p:txBody>
      </p:sp>
      <p:sp>
        <p:nvSpPr>
          <p:cNvPr id="20" name="继续编辑与复用"/>
          <p:cNvSpPr txBox="1"/>
          <p:nvPr/>
        </p:nvSpPr>
        <p:spPr>
          <a:xfrm>
            <a:off x="9738360" y="4926482"/>
            <a:ext cx="1135380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继续编辑与复用</a:t>
            </a:r>
            <a:endParaRPr lang="zh-CN" sz="1140"/>
          </a:p>
        </p:txBody>
      </p:sp>
      <p:sp>
        <p:nvSpPr>
          <p:cNvPr id="21" name="03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03 / 26</a:t>
            </a:r>
            <a:endParaRPr lang="zh-CN" sz="84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沿着一项任务的生命周期，理解核心能力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核心能力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核心能力</a:t>
            </a:r>
            <a:endParaRPr lang="zh-CN" sz="780"/>
          </a:p>
        </p:txBody>
      </p:sp>
      <p:sp>
        <p:nvSpPr>
          <p:cNvPr id="6" name="02 / TASK LIFECYCLE"/>
          <p:cNvSpPr txBox="1"/>
          <p:nvPr/>
        </p:nvSpPr>
        <p:spPr>
          <a:xfrm>
            <a:off x="579120" y="733044"/>
            <a:ext cx="1358682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 / TASK LIFECYCLE</a:t>
            </a:r>
            <a:endParaRPr lang="zh-CN" sz="900"/>
          </a:p>
        </p:txBody>
      </p:sp>
      <p:sp>
        <p:nvSpPr>
          <p:cNvPr id="7" name="沿着一项任务的生命周期，理解核心能力"/>
          <p:cNvSpPr txBox="1"/>
          <p:nvPr/>
        </p:nvSpPr>
        <p:spPr>
          <a:xfrm>
            <a:off x="579120" y="1014832"/>
            <a:ext cx="643128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沿着一项任务的生命周期，理解核心能力</a:t>
            </a:r>
            <a:endParaRPr lang="zh-CN" sz="2760"/>
          </a:p>
        </p:txBody>
      </p:sp>
      <p:sp>
        <p:nvSpPr>
          <p:cNvPr id="8" name="本章不按按钮逐个罗列，而是回答：如何让一项工作从开始到持续运行。"/>
          <p:cNvSpPr txBox="1"/>
          <p:nvPr/>
        </p:nvSpPr>
        <p:spPr>
          <a:xfrm>
            <a:off x="579120" y="1548232"/>
            <a:ext cx="524256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本章不按按钮逐个罗列，而是回答：如何让一项工作从开始到持续运行。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Style"/>
          <p:cNvSpPr txBox="1"/>
          <p:nvPr/>
        </p:nvSpPr>
        <p:spPr>
          <a:xfrm>
            <a:off x="579120" y="2133600"/>
            <a:ext cx="11033760" cy="58674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2" name="Style"/>
          <p:cNvSpPr txBox="1"/>
          <p:nvPr/>
        </p:nvSpPr>
        <p:spPr>
          <a:xfrm>
            <a:off x="579120" y="2133600"/>
            <a:ext cx="22860" cy="58674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3" name="介绍思路：先让任务有清晰边界，再给 Agent 正确上下文；随后扩展可调用的能力"/>
          <p:cNvSpPr txBox="1"/>
          <p:nvPr/>
        </p:nvSpPr>
        <p:spPr>
          <a:xfrm>
            <a:off x="762000" y="2264512"/>
            <a:ext cx="8673286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介绍思路：先让任务有清晰边界，再给 Agent 正确上下文；随后扩展可调用的能力，最后让成熟方法持续运行并被复用。</a:t>
            </a:r>
            <a:endParaRPr lang="zh-CN" sz="1260"/>
          </a:p>
        </p:txBody>
      </p:sp>
      <p:sp>
        <p:nvSpPr>
          <p:cNvPr id="14" name="Style"/>
          <p:cNvSpPr txBox="1"/>
          <p:nvPr/>
        </p:nvSpPr>
        <p:spPr>
          <a:xfrm>
            <a:off x="579120" y="2971800"/>
            <a:ext cx="2590800" cy="3032760"/>
          </a:xfrm>
          <a:prstGeom prst="rect">
            <a:avLst/>
          </a:prstGeom>
          <a:solidFill>
            <a:srgbClr val="F5F8FD"/>
          </a:solidFill>
          <a:ln w="7620">
            <a:solidFill>
              <a:srgbClr val="DBE5F1"/>
            </a:solidFill>
          </a:ln>
        </p:spPr>
      </p:sp>
      <p:sp>
        <p:nvSpPr>
          <p:cNvPr id="15" name="Style"/>
          <p:cNvSpPr txBox="1"/>
          <p:nvPr/>
        </p:nvSpPr>
        <p:spPr>
          <a:xfrm>
            <a:off x="579120" y="2971800"/>
            <a:ext cx="2590800" cy="2286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6" name="01 · 定边界"/>
          <p:cNvSpPr txBox="1"/>
          <p:nvPr/>
        </p:nvSpPr>
        <p:spPr>
          <a:xfrm>
            <a:off x="746760" y="3159252"/>
            <a:ext cx="910769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 · 定边界</a:t>
            </a:r>
            <a:endParaRPr lang="zh-CN" sz="1200"/>
          </a:p>
        </p:txBody>
      </p:sp>
      <p:sp>
        <p:nvSpPr>
          <p:cNvPr id="17" name="让任务有起点"/>
          <p:cNvSpPr txBox="1"/>
          <p:nvPr/>
        </p:nvSpPr>
        <p:spPr>
          <a:xfrm>
            <a:off x="746760" y="3560978"/>
            <a:ext cx="1447800" cy="3543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4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让任务有起点</a:t>
            </a:r>
            <a:endParaRPr lang="zh-CN" sz="1740"/>
          </a:p>
        </p:txBody>
      </p:sp>
      <p:sp>
        <p:nvSpPr>
          <p:cNvPr id="18" name="选择合适模式、模型与项目空"/>
          <p:cNvSpPr txBox="1"/>
          <p:nvPr/>
        </p:nvSpPr>
        <p:spPr>
          <a:xfrm>
            <a:off x="746760" y="4047592"/>
            <a:ext cx="22021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选择合适模式、模型与项目空</a:t>
            </a:r>
            <a:endParaRPr lang="zh-CN" sz="1260"/>
          </a:p>
        </p:txBody>
      </p:sp>
      <p:sp>
        <p:nvSpPr>
          <p:cNvPr id="19" name="间，明确目标、权限和长期工作"/>
          <p:cNvSpPr txBox="1"/>
          <p:nvPr/>
        </p:nvSpPr>
        <p:spPr>
          <a:xfrm>
            <a:off x="746760" y="4271608"/>
            <a:ext cx="23622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间，明确目标、权限和长期工作</a:t>
            </a:r>
            <a:endParaRPr lang="zh-CN" sz="1260"/>
          </a:p>
        </p:txBody>
      </p:sp>
      <p:sp>
        <p:nvSpPr>
          <p:cNvPr id="20" name="边界。"/>
          <p:cNvSpPr txBox="1"/>
          <p:nvPr/>
        </p:nvSpPr>
        <p:spPr>
          <a:xfrm>
            <a:off x="746760" y="4495624"/>
            <a:ext cx="6019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边界。</a:t>
            </a:r>
            <a:endParaRPr lang="zh-CN" sz="1260"/>
          </a:p>
        </p:txBody>
      </p:sp>
      <p:sp>
        <p:nvSpPr>
          <p:cNvPr id="21" name="Style"/>
          <p:cNvSpPr txBox="1"/>
          <p:nvPr/>
        </p:nvSpPr>
        <p:spPr>
          <a:xfrm>
            <a:off x="746760" y="5189220"/>
            <a:ext cx="126492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" name="Chat / Agent"/>
          <p:cNvSpPr txBox="1"/>
          <p:nvPr/>
        </p:nvSpPr>
        <p:spPr>
          <a:xfrm>
            <a:off x="815340" y="5223053"/>
            <a:ext cx="956012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Chat / Agent</a:t>
            </a:r>
            <a:endParaRPr lang="zh-CN" sz="1080"/>
          </a:p>
        </p:txBody>
      </p:sp>
      <p:sp>
        <p:nvSpPr>
          <p:cNvPr id="23" name="Style"/>
          <p:cNvSpPr txBox="1"/>
          <p:nvPr/>
        </p:nvSpPr>
        <p:spPr>
          <a:xfrm>
            <a:off x="2072640" y="5189220"/>
            <a:ext cx="5334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项目"/>
          <p:cNvSpPr txBox="1"/>
          <p:nvPr/>
        </p:nvSpPr>
        <p:spPr>
          <a:xfrm>
            <a:off x="2141220" y="5223053"/>
            <a:ext cx="39624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项目</a:t>
            </a:r>
            <a:endParaRPr lang="zh-CN" sz="1080"/>
          </a:p>
        </p:txBody>
      </p:sp>
      <p:sp>
        <p:nvSpPr>
          <p:cNvPr id="25" name="Style"/>
          <p:cNvSpPr txBox="1"/>
          <p:nvPr/>
        </p:nvSpPr>
        <p:spPr>
          <a:xfrm>
            <a:off x="746760" y="5509260"/>
            <a:ext cx="80772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6" name="会话管理"/>
          <p:cNvSpPr txBox="1"/>
          <p:nvPr/>
        </p:nvSpPr>
        <p:spPr>
          <a:xfrm>
            <a:off x="815340" y="5543093"/>
            <a:ext cx="670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会话管理</a:t>
            </a:r>
            <a:endParaRPr lang="zh-CN" sz="1080"/>
          </a:p>
        </p:txBody>
      </p:sp>
      <p:sp>
        <p:nvSpPr>
          <p:cNvPr id="27" name="Style"/>
          <p:cNvSpPr txBox="1"/>
          <p:nvPr/>
        </p:nvSpPr>
        <p:spPr>
          <a:xfrm>
            <a:off x="1615440" y="5509260"/>
            <a:ext cx="5334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8" name="模型"/>
          <p:cNvSpPr txBox="1"/>
          <p:nvPr/>
        </p:nvSpPr>
        <p:spPr>
          <a:xfrm>
            <a:off x="1684020" y="5543093"/>
            <a:ext cx="39624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模型</a:t>
            </a:r>
            <a:endParaRPr lang="zh-CN" sz="1080"/>
          </a:p>
        </p:txBody>
      </p:sp>
      <p:sp>
        <p:nvSpPr>
          <p:cNvPr id="29" name="→"/>
          <p:cNvSpPr txBox="1"/>
          <p:nvPr/>
        </p:nvSpPr>
        <p:spPr>
          <a:xfrm>
            <a:off x="3185160" y="4245559"/>
            <a:ext cx="32766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→</a:t>
            </a:r>
            <a:endParaRPr lang="zh-CN" sz="1620"/>
          </a:p>
        </p:txBody>
      </p:sp>
      <p:sp>
        <p:nvSpPr>
          <p:cNvPr id="30" name="Style"/>
          <p:cNvSpPr txBox="1"/>
          <p:nvPr/>
        </p:nvSpPr>
        <p:spPr>
          <a:xfrm>
            <a:off x="3393440" y="2971800"/>
            <a:ext cx="2590800" cy="3032760"/>
          </a:xfrm>
          <a:prstGeom prst="rect">
            <a:avLst/>
          </a:prstGeom>
          <a:solidFill>
            <a:srgbClr val="F5F8FD"/>
          </a:solidFill>
          <a:ln w="7620">
            <a:solidFill>
              <a:srgbClr val="DBE5F1"/>
            </a:solidFill>
          </a:ln>
        </p:spPr>
      </p:sp>
      <p:sp>
        <p:nvSpPr>
          <p:cNvPr id="31" name="Style"/>
          <p:cNvSpPr txBox="1"/>
          <p:nvPr/>
        </p:nvSpPr>
        <p:spPr>
          <a:xfrm>
            <a:off x="3393440" y="2971800"/>
            <a:ext cx="2590800" cy="2286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2" name="02 · 给上下文"/>
          <p:cNvSpPr txBox="1"/>
          <p:nvPr/>
        </p:nvSpPr>
        <p:spPr>
          <a:xfrm>
            <a:off x="3561040" y="3159252"/>
            <a:ext cx="1092101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 · 给上下文</a:t>
            </a:r>
            <a:endParaRPr lang="zh-CN" sz="1200"/>
          </a:p>
        </p:txBody>
      </p:sp>
      <p:sp>
        <p:nvSpPr>
          <p:cNvPr id="33" name="让 Agent 理解现场"/>
          <p:cNvSpPr txBox="1"/>
          <p:nvPr/>
        </p:nvSpPr>
        <p:spPr>
          <a:xfrm>
            <a:off x="3561040" y="3560978"/>
            <a:ext cx="1990785" cy="3543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4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让 Agent 理解现场</a:t>
            </a:r>
            <a:endParaRPr lang="zh-CN" sz="1740"/>
          </a:p>
        </p:txBody>
      </p:sp>
      <p:sp>
        <p:nvSpPr>
          <p:cNvPr id="34" name="把本次资料和长期知识组织起"/>
          <p:cNvSpPr txBox="1"/>
          <p:nvPr/>
        </p:nvSpPr>
        <p:spPr>
          <a:xfrm>
            <a:off x="3561040" y="4047592"/>
            <a:ext cx="22021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把本次资料和长期知识组织起</a:t>
            </a:r>
            <a:endParaRPr lang="zh-CN" sz="1260"/>
          </a:p>
        </p:txBody>
      </p:sp>
      <p:sp>
        <p:nvSpPr>
          <p:cNvPr id="35" name="来，让输入、过程与成果能够持"/>
          <p:cNvSpPr txBox="1"/>
          <p:nvPr/>
        </p:nvSpPr>
        <p:spPr>
          <a:xfrm>
            <a:off x="3561040" y="4271608"/>
            <a:ext cx="23622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来，让输入、过程与成果能够持</a:t>
            </a:r>
            <a:endParaRPr lang="zh-CN" sz="1260"/>
          </a:p>
        </p:txBody>
      </p:sp>
      <p:sp>
        <p:nvSpPr>
          <p:cNvPr id="36" name="续承接。"/>
          <p:cNvSpPr txBox="1"/>
          <p:nvPr/>
        </p:nvSpPr>
        <p:spPr>
          <a:xfrm>
            <a:off x="3561040" y="4495624"/>
            <a:ext cx="7620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续承接。</a:t>
            </a:r>
            <a:endParaRPr lang="zh-CN" sz="1260"/>
          </a:p>
        </p:txBody>
      </p:sp>
      <p:sp>
        <p:nvSpPr>
          <p:cNvPr id="37" name="Style"/>
          <p:cNvSpPr txBox="1"/>
          <p:nvPr/>
        </p:nvSpPr>
        <p:spPr>
          <a:xfrm>
            <a:off x="3561080" y="5189220"/>
            <a:ext cx="80772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8" name="文件管理"/>
          <p:cNvSpPr txBox="1"/>
          <p:nvPr/>
        </p:nvSpPr>
        <p:spPr>
          <a:xfrm>
            <a:off x="3629620" y="5223053"/>
            <a:ext cx="670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文件管理</a:t>
            </a:r>
            <a:endParaRPr lang="zh-CN" sz="1080"/>
          </a:p>
        </p:txBody>
      </p:sp>
      <p:sp>
        <p:nvSpPr>
          <p:cNvPr id="39" name="Style"/>
          <p:cNvSpPr txBox="1"/>
          <p:nvPr/>
        </p:nvSpPr>
        <p:spPr>
          <a:xfrm>
            <a:off x="4429760" y="5189220"/>
            <a:ext cx="97536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0" name="@ 文件引用"/>
          <p:cNvSpPr txBox="1"/>
          <p:nvPr/>
        </p:nvSpPr>
        <p:spPr>
          <a:xfrm>
            <a:off x="4498300" y="5223053"/>
            <a:ext cx="833973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@ 文件引用</a:t>
            </a:r>
            <a:endParaRPr lang="zh-CN" sz="1080"/>
          </a:p>
        </p:txBody>
      </p:sp>
      <p:sp>
        <p:nvSpPr>
          <p:cNvPr id="41" name="Style"/>
          <p:cNvSpPr txBox="1"/>
          <p:nvPr/>
        </p:nvSpPr>
        <p:spPr>
          <a:xfrm>
            <a:off x="3561080" y="5509260"/>
            <a:ext cx="94488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2" name="预览与编辑"/>
          <p:cNvSpPr txBox="1"/>
          <p:nvPr/>
        </p:nvSpPr>
        <p:spPr>
          <a:xfrm>
            <a:off x="3629620" y="5543093"/>
            <a:ext cx="80772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预览与编辑</a:t>
            </a:r>
            <a:endParaRPr lang="zh-CN" sz="1080"/>
          </a:p>
        </p:txBody>
      </p:sp>
      <p:sp>
        <p:nvSpPr>
          <p:cNvPr id="43" name="→"/>
          <p:cNvSpPr txBox="1"/>
          <p:nvPr/>
        </p:nvSpPr>
        <p:spPr>
          <a:xfrm>
            <a:off x="5999440" y="4245559"/>
            <a:ext cx="32766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→</a:t>
            </a:r>
            <a:endParaRPr lang="zh-CN" sz="1620"/>
          </a:p>
        </p:txBody>
      </p:sp>
      <p:sp>
        <p:nvSpPr>
          <p:cNvPr id="44" name="Style"/>
          <p:cNvSpPr txBox="1"/>
          <p:nvPr/>
        </p:nvSpPr>
        <p:spPr>
          <a:xfrm>
            <a:off x="6207760" y="2971800"/>
            <a:ext cx="2590800" cy="3032760"/>
          </a:xfrm>
          <a:prstGeom prst="rect">
            <a:avLst/>
          </a:prstGeom>
          <a:solidFill>
            <a:srgbClr val="F5F8FD"/>
          </a:solidFill>
          <a:ln w="7620">
            <a:solidFill>
              <a:srgbClr val="DBE5F1"/>
            </a:solidFill>
          </a:ln>
        </p:spPr>
      </p:sp>
      <p:sp>
        <p:nvSpPr>
          <p:cNvPr id="45" name="Style"/>
          <p:cNvSpPr txBox="1"/>
          <p:nvPr/>
        </p:nvSpPr>
        <p:spPr>
          <a:xfrm>
            <a:off x="6207760" y="2971800"/>
            <a:ext cx="2590800" cy="2286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46" name="03 · 扩展执行"/>
          <p:cNvSpPr txBox="1"/>
          <p:nvPr/>
        </p:nvSpPr>
        <p:spPr>
          <a:xfrm>
            <a:off x="6375380" y="3159252"/>
            <a:ext cx="1092101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 · 扩展执行</a:t>
            </a:r>
            <a:endParaRPr lang="zh-CN" sz="1200"/>
          </a:p>
        </p:txBody>
      </p:sp>
      <p:sp>
        <p:nvSpPr>
          <p:cNvPr id="47" name="让能力服务任务"/>
          <p:cNvSpPr txBox="1"/>
          <p:nvPr/>
        </p:nvSpPr>
        <p:spPr>
          <a:xfrm>
            <a:off x="6375380" y="3560978"/>
            <a:ext cx="1668780" cy="3543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4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让能力服务任务</a:t>
            </a:r>
            <a:endParaRPr lang="zh-CN" sz="1740"/>
          </a:p>
        </p:txBody>
      </p:sp>
      <p:sp>
        <p:nvSpPr>
          <p:cNvPr id="48" name="按任务需要调用流程、专家和外"/>
          <p:cNvSpPr txBox="1"/>
          <p:nvPr/>
        </p:nvSpPr>
        <p:spPr>
          <a:xfrm>
            <a:off x="6375380" y="4047592"/>
            <a:ext cx="23622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按任务需要调用流程、专家和外</a:t>
            </a:r>
            <a:endParaRPr lang="zh-CN" sz="1260"/>
          </a:p>
        </p:txBody>
      </p:sp>
      <p:sp>
        <p:nvSpPr>
          <p:cNvPr id="49" name="部系统，完成研究、协同和跨系"/>
          <p:cNvSpPr txBox="1"/>
          <p:nvPr/>
        </p:nvSpPr>
        <p:spPr>
          <a:xfrm>
            <a:off x="6375380" y="4271608"/>
            <a:ext cx="23622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部系统，完成研究、协同和跨系</a:t>
            </a:r>
            <a:endParaRPr lang="zh-CN" sz="1260"/>
          </a:p>
        </p:txBody>
      </p:sp>
      <p:sp>
        <p:nvSpPr>
          <p:cNvPr id="50" name="统操作。"/>
          <p:cNvSpPr txBox="1"/>
          <p:nvPr/>
        </p:nvSpPr>
        <p:spPr>
          <a:xfrm>
            <a:off x="6375380" y="4495624"/>
            <a:ext cx="7620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统操作。</a:t>
            </a:r>
            <a:endParaRPr lang="zh-CN" sz="1260"/>
          </a:p>
        </p:txBody>
      </p:sp>
      <p:sp>
        <p:nvSpPr>
          <p:cNvPr id="51" name="Style"/>
          <p:cNvSpPr txBox="1"/>
          <p:nvPr/>
        </p:nvSpPr>
        <p:spPr>
          <a:xfrm>
            <a:off x="6375400" y="5189220"/>
            <a:ext cx="18669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2" name="Skill / 专家 / 专家团"/>
          <p:cNvSpPr txBox="1"/>
          <p:nvPr/>
        </p:nvSpPr>
        <p:spPr>
          <a:xfrm>
            <a:off x="6443960" y="5223053"/>
            <a:ext cx="1386423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Skill / 专家 / 专家团</a:t>
            </a:r>
            <a:endParaRPr lang="zh-CN" sz="1080"/>
          </a:p>
        </p:txBody>
      </p:sp>
      <p:sp>
        <p:nvSpPr>
          <p:cNvPr id="53" name="Style"/>
          <p:cNvSpPr txBox="1"/>
          <p:nvPr/>
        </p:nvSpPr>
        <p:spPr>
          <a:xfrm>
            <a:off x="6375400" y="5509260"/>
            <a:ext cx="67056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4" name="连接器"/>
          <p:cNvSpPr txBox="1"/>
          <p:nvPr/>
        </p:nvSpPr>
        <p:spPr>
          <a:xfrm>
            <a:off x="6443960" y="5543093"/>
            <a:ext cx="53340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连接器</a:t>
            </a:r>
            <a:endParaRPr lang="zh-CN" sz="1080"/>
          </a:p>
        </p:txBody>
      </p:sp>
      <p:sp>
        <p:nvSpPr>
          <p:cNvPr id="55" name="Style"/>
          <p:cNvSpPr txBox="1"/>
          <p:nvPr/>
        </p:nvSpPr>
        <p:spPr>
          <a:xfrm>
            <a:off x="7106920" y="5509260"/>
            <a:ext cx="67056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6" name="浏览器"/>
          <p:cNvSpPr txBox="1"/>
          <p:nvPr/>
        </p:nvSpPr>
        <p:spPr>
          <a:xfrm>
            <a:off x="7175480" y="5543093"/>
            <a:ext cx="53340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浏览器</a:t>
            </a:r>
            <a:endParaRPr lang="zh-CN" sz="1080"/>
          </a:p>
        </p:txBody>
      </p:sp>
      <p:sp>
        <p:nvSpPr>
          <p:cNvPr id="57" name="Style"/>
          <p:cNvSpPr txBox="1"/>
          <p:nvPr/>
        </p:nvSpPr>
        <p:spPr>
          <a:xfrm>
            <a:off x="7838440" y="5509260"/>
            <a:ext cx="80772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8" name="联网检索"/>
          <p:cNvSpPr txBox="1"/>
          <p:nvPr/>
        </p:nvSpPr>
        <p:spPr>
          <a:xfrm>
            <a:off x="7907000" y="5543093"/>
            <a:ext cx="670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联网检索</a:t>
            </a:r>
            <a:endParaRPr lang="zh-CN" sz="1080"/>
          </a:p>
        </p:txBody>
      </p:sp>
      <p:sp>
        <p:nvSpPr>
          <p:cNvPr id="59" name="→"/>
          <p:cNvSpPr txBox="1"/>
          <p:nvPr/>
        </p:nvSpPr>
        <p:spPr>
          <a:xfrm>
            <a:off x="8813780" y="4245559"/>
            <a:ext cx="32766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→</a:t>
            </a:r>
            <a:endParaRPr lang="zh-CN" sz="1620"/>
          </a:p>
        </p:txBody>
      </p:sp>
      <p:sp>
        <p:nvSpPr>
          <p:cNvPr id="60" name="Style"/>
          <p:cNvSpPr txBox="1"/>
          <p:nvPr/>
        </p:nvSpPr>
        <p:spPr>
          <a:xfrm>
            <a:off x="9022080" y="2971800"/>
            <a:ext cx="2590800" cy="3032760"/>
          </a:xfrm>
          <a:prstGeom prst="rect">
            <a:avLst/>
          </a:prstGeom>
          <a:solidFill>
            <a:srgbClr val="F5F8FD"/>
          </a:solidFill>
          <a:ln w="7620">
            <a:solidFill>
              <a:srgbClr val="DBE5F1"/>
            </a:solidFill>
          </a:ln>
        </p:spPr>
      </p:sp>
      <p:sp>
        <p:nvSpPr>
          <p:cNvPr id="61" name="Style"/>
          <p:cNvSpPr txBox="1"/>
          <p:nvPr/>
        </p:nvSpPr>
        <p:spPr>
          <a:xfrm>
            <a:off x="9022080" y="2971800"/>
            <a:ext cx="2590800" cy="2286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62" name="04 · 持续复用"/>
          <p:cNvSpPr txBox="1"/>
          <p:nvPr/>
        </p:nvSpPr>
        <p:spPr>
          <a:xfrm>
            <a:off x="9189720" y="3159252"/>
            <a:ext cx="1092101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04 · 持续复用</a:t>
            </a:r>
            <a:endParaRPr lang="zh-CN" sz="1200"/>
          </a:p>
        </p:txBody>
      </p:sp>
      <p:sp>
        <p:nvSpPr>
          <p:cNvPr id="63" name="让工作持续推进"/>
          <p:cNvSpPr txBox="1"/>
          <p:nvPr/>
        </p:nvSpPr>
        <p:spPr>
          <a:xfrm>
            <a:off x="9189720" y="3560978"/>
            <a:ext cx="1668780" cy="3543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4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让工作持续推进</a:t>
            </a:r>
            <a:endParaRPr lang="zh-CN" sz="1740"/>
          </a:p>
        </p:txBody>
      </p:sp>
      <p:sp>
        <p:nvSpPr>
          <p:cNvPr id="64" name="将可检查的重复工作按计划运"/>
          <p:cNvSpPr txBox="1"/>
          <p:nvPr/>
        </p:nvSpPr>
        <p:spPr>
          <a:xfrm>
            <a:off x="9189720" y="4047592"/>
            <a:ext cx="22021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将可检查的重复工作按计划运</a:t>
            </a:r>
            <a:endParaRPr lang="zh-CN" sz="1260"/>
          </a:p>
        </p:txBody>
      </p:sp>
      <p:sp>
        <p:nvSpPr>
          <p:cNvPr id="65" name="行，把成果沉淀为可复用的工作"/>
          <p:cNvSpPr txBox="1"/>
          <p:nvPr/>
        </p:nvSpPr>
        <p:spPr>
          <a:xfrm>
            <a:off x="9189720" y="4271608"/>
            <a:ext cx="23622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行，把成果沉淀为可复用的工作</a:t>
            </a:r>
            <a:endParaRPr lang="zh-CN" sz="1260"/>
          </a:p>
        </p:txBody>
      </p:sp>
      <p:sp>
        <p:nvSpPr>
          <p:cNvPr id="66" name="资产。"/>
          <p:cNvSpPr txBox="1"/>
          <p:nvPr/>
        </p:nvSpPr>
        <p:spPr>
          <a:xfrm>
            <a:off x="9189720" y="4495624"/>
            <a:ext cx="6019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资产。</a:t>
            </a:r>
            <a:endParaRPr lang="zh-CN" sz="1260"/>
          </a:p>
        </p:txBody>
      </p:sp>
      <p:sp>
        <p:nvSpPr>
          <p:cNvPr id="67" name="Style"/>
          <p:cNvSpPr txBox="1"/>
          <p:nvPr/>
        </p:nvSpPr>
        <p:spPr>
          <a:xfrm>
            <a:off x="9189720" y="5189220"/>
            <a:ext cx="80772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8" name="远程连接"/>
          <p:cNvSpPr txBox="1"/>
          <p:nvPr/>
        </p:nvSpPr>
        <p:spPr>
          <a:xfrm>
            <a:off x="9258300" y="5223053"/>
            <a:ext cx="670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远程连接</a:t>
            </a:r>
            <a:endParaRPr lang="zh-CN" sz="1080"/>
          </a:p>
        </p:txBody>
      </p:sp>
      <p:sp>
        <p:nvSpPr>
          <p:cNvPr id="69" name="Style"/>
          <p:cNvSpPr txBox="1"/>
          <p:nvPr/>
        </p:nvSpPr>
        <p:spPr>
          <a:xfrm>
            <a:off x="10058400" y="5189220"/>
            <a:ext cx="80772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0" name="定时任务"/>
          <p:cNvSpPr txBox="1"/>
          <p:nvPr/>
        </p:nvSpPr>
        <p:spPr>
          <a:xfrm>
            <a:off x="10126980" y="5223053"/>
            <a:ext cx="670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定时任务</a:t>
            </a:r>
            <a:endParaRPr lang="zh-CN" sz="1080"/>
          </a:p>
        </p:txBody>
      </p:sp>
      <p:sp>
        <p:nvSpPr>
          <p:cNvPr id="71" name="Style"/>
          <p:cNvSpPr txBox="1"/>
          <p:nvPr/>
        </p:nvSpPr>
        <p:spPr>
          <a:xfrm>
            <a:off x="9189720" y="5509260"/>
            <a:ext cx="95250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2" name="HTML 协作"/>
          <p:cNvSpPr txBox="1"/>
          <p:nvPr/>
        </p:nvSpPr>
        <p:spPr>
          <a:xfrm>
            <a:off x="9258300" y="5543093"/>
            <a:ext cx="827246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HTML 协作</a:t>
            </a:r>
            <a:endParaRPr lang="zh-CN" sz="1080"/>
          </a:p>
        </p:txBody>
      </p:sp>
      <p:sp>
        <p:nvSpPr>
          <p:cNvPr id="73" name="Style"/>
          <p:cNvSpPr txBox="1"/>
          <p:nvPr/>
        </p:nvSpPr>
        <p:spPr>
          <a:xfrm>
            <a:off x="10203180" y="5509260"/>
            <a:ext cx="807720" cy="24384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74" name="经验沉淀"/>
          <p:cNvSpPr txBox="1"/>
          <p:nvPr/>
        </p:nvSpPr>
        <p:spPr>
          <a:xfrm>
            <a:off x="10271760" y="5543093"/>
            <a:ext cx="670560" cy="2362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经验沉淀</a:t>
            </a:r>
            <a:endParaRPr lang="zh-CN" sz="1080"/>
          </a:p>
        </p:txBody>
      </p:sp>
      <p:sp>
        <p:nvSpPr>
          <p:cNvPr id="75" name="04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04 / 26</a:t>
            </a:r>
            <a:endParaRPr lang="zh-CN" sz="84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模式选择：Chat 与 Ag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任务配置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任务配置</a:t>
            </a:r>
            <a:endParaRPr lang="zh-CN" sz="780"/>
          </a:p>
        </p:txBody>
      </p:sp>
      <p:sp>
        <p:nvSpPr>
          <p:cNvPr id="6" name="03 / MODE"/>
          <p:cNvSpPr txBox="1"/>
          <p:nvPr/>
        </p:nvSpPr>
        <p:spPr>
          <a:xfrm>
            <a:off x="579120" y="733044"/>
            <a:ext cx="739854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 / MODE</a:t>
            </a:r>
            <a:endParaRPr lang="zh-CN" sz="900"/>
          </a:p>
        </p:txBody>
      </p:sp>
      <p:sp>
        <p:nvSpPr>
          <p:cNvPr id="7" name="模式选择：Chat 与 Agent"/>
          <p:cNvSpPr txBox="1"/>
          <p:nvPr/>
        </p:nvSpPr>
        <p:spPr>
          <a:xfrm>
            <a:off x="579120" y="1014832"/>
            <a:ext cx="4223028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模式选择：Chat 与 Agent</a:t>
            </a:r>
            <a:endParaRPr lang="zh-CN" sz="2760"/>
          </a:p>
        </p:txBody>
      </p:sp>
      <p:sp>
        <p:nvSpPr>
          <p:cNvPr id="8" name="快速问答与持续执行，分别对应不同的任务方式"/>
          <p:cNvSpPr txBox="1"/>
          <p:nvPr/>
        </p:nvSpPr>
        <p:spPr>
          <a:xfrm>
            <a:off x="579120" y="1548232"/>
            <a:ext cx="348234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快速问答与持续执行，分别对应不同的任务方式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2212796"/>
            <a:ext cx="5791200" cy="3316328"/>
          </a:xfrm>
          <a:prstGeom prst="rect">
            <a:avLst/>
          </a:prstGeom>
        </p:spPr>
      </p:pic>
      <p:sp>
        <p:nvSpPr>
          <p:cNvPr id="12" name="Style"/>
          <p:cNvSpPr txBox="1"/>
          <p:nvPr/>
        </p:nvSpPr>
        <p:spPr>
          <a:xfrm>
            <a:off x="6705600" y="2209800"/>
            <a:ext cx="4907280" cy="1508760"/>
          </a:xfrm>
          <a:prstGeom prst="rect">
            <a:avLst/>
          </a:prstGeom>
          <a:solidFill>
            <a:srgbClr val="F5F8FD"/>
          </a:solidFill>
          <a:ln>
            <a:noFill/>
          </a:ln>
        </p:spPr>
      </p:sp>
      <p:sp>
        <p:nvSpPr>
          <p:cNvPr id="13" name="Style"/>
          <p:cNvSpPr txBox="1"/>
          <p:nvPr/>
        </p:nvSpPr>
        <p:spPr>
          <a:xfrm>
            <a:off x="6705600" y="3886200"/>
            <a:ext cx="4907280" cy="164592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4" name="Chat"/>
          <p:cNvSpPr txBox="1"/>
          <p:nvPr/>
        </p:nvSpPr>
        <p:spPr>
          <a:xfrm>
            <a:off x="6903720" y="2360066"/>
            <a:ext cx="703064" cy="4076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Chat</a:t>
            </a:r>
            <a:endParaRPr lang="zh-CN" sz="2040"/>
          </a:p>
        </p:txBody>
      </p:sp>
      <p:sp>
        <p:nvSpPr>
          <p:cNvPr id="15" name="快速问答、摘要、润色、翻译"/>
          <p:cNvSpPr txBox="1"/>
          <p:nvPr/>
        </p:nvSpPr>
        <p:spPr>
          <a:xfrm>
            <a:off x="6903720" y="2811170"/>
            <a:ext cx="249936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快速问答、摘要、润色、翻译</a:t>
            </a:r>
            <a:endParaRPr lang="zh-CN" sz="1440"/>
          </a:p>
        </p:txBody>
      </p:sp>
      <p:sp>
        <p:nvSpPr>
          <p:cNvPr id="16" name="适合一次性、短流程任务"/>
          <p:cNvSpPr txBox="1"/>
          <p:nvPr/>
        </p:nvSpPr>
        <p:spPr>
          <a:xfrm>
            <a:off x="6903720" y="3067155"/>
            <a:ext cx="213360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适合一次性、短流程任务</a:t>
            </a:r>
            <a:endParaRPr lang="zh-CN" sz="1440"/>
          </a:p>
        </p:txBody>
      </p:sp>
      <p:sp>
        <p:nvSpPr>
          <p:cNvPr id="17" name="重点是获得答案或一段内容"/>
          <p:cNvSpPr txBox="1"/>
          <p:nvPr/>
        </p:nvSpPr>
        <p:spPr>
          <a:xfrm>
            <a:off x="6903720" y="3323139"/>
            <a:ext cx="231648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重点是获得答案或一段内容</a:t>
            </a:r>
            <a:endParaRPr lang="zh-CN" sz="1440"/>
          </a:p>
        </p:txBody>
      </p:sp>
      <p:sp>
        <p:nvSpPr>
          <p:cNvPr id="18" name="Agent"/>
          <p:cNvSpPr txBox="1"/>
          <p:nvPr/>
        </p:nvSpPr>
        <p:spPr>
          <a:xfrm>
            <a:off x="6903720" y="4051706"/>
            <a:ext cx="845046" cy="4076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04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Agent</a:t>
            </a:r>
            <a:endParaRPr lang="zh-CN" sz="2040"/>
          </a:p>
        </p:txBody>
      </p:sp>
      <p:sp>
        <p:nvSpPr>
          <p:cNvPr id="19" name="多步骤任务、文件处理、持续协作"/>
          <p:cNvSpPr txBox="1"/>
          <p:nvPr/>
        </p:nvSpPr>
        <p:spPr>
          <a:xfrm>
            <a:off x="6903720" y="4510430"/>
            <a:ext cx="286512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多步骤任务、文件处理、持续协作</a:t>
            </a:r>
            <a:endParaRPr lang="zh-CN" sz="1440"/>
          </a:p>
        </p:txBody>
      </p:sp>
      <p:sp>
        <p:nvSpPr>
          <p:cNvPr id="20" name="可调用 Skill、专家和连接器"/>
          <p:cNvSpPr txBox="1"/>
          <p:nvPr/>
        </p:nvSpPr>
        <p:spPr>
          <a:xfrm>
            <a:off x="6903720" y="4766415"/>
            <a:ext cx="2356723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可调用 Skill、专家和连接器</a:t>
            </a:r>
            <a:endParaRPr lang="zh-CN" sz="1440"/>
          </a:p>
        </p:txBody>
      </p:sp>
      <p:sp>
        <p:nvSpPr>
          <p:cNvPr id="21" name="重点是推进工作并交付成果"/>
          <p:cNvSpPr txBox="1"/>
          <p:nvPr/>
        </p:nvSpPr>
        <p:spPr>
          <a:xfrm>
            <a:off x="6903720" y="5022399"/>
            <a:ext cx="231648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重点是推进工作并交付成果</a:t>
            </a:r>
            <a:endParaRPr lang="zh-CN" sz="1440"/>
          </a:p>
        </p:txBody>
      </p:sp>
      <p:sp>
        <p:nvSpPr>
          <p:cNvPr id="22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3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24" name="概括一份材料可以用 Chat；完成一项多步骤工作可以用 Agent"/>
          <p:cNvSpPr txBox="1"/>
          <p:nvPr/>
        </p:nvSpPr>
        <p:spPr>
          <a:xfrm>
            <a:off x="762000" y="5839511"/>
            <a:ext cx="4971574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概括一份材料可以用 Chat；完成一项多步骤工作可以用 Agent</a:t>
            </a:r>
            <a:endParaRPr lang="zh-CN" sz="1380"/>
          </a:p>
        </p:txBody>
      </p:sp>
      <p:sp>
        <p:nvSpPr>
          <p:cNvPr id="25" name="05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05 / 26</a:t>
            </a:r>
            <a:endParaRPr lang="zh-CN" sz="84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项目：承载长期工作的独立空间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任务配置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任务配置</a:t>
            </a:r>
            <a:endParaRPr lang="zh-CN" sz="780"/>
          </a:p>
        </p:txBody>
      </p:sp>
      <p:sp>
        <p:nvSpPr>
          <p:cNvPr id="6" name="04 / PROJECT"/>
          <p:cNvSpPr txBox="1"/>
          <p:nvPr/>
        </p:nvSpPr>
        <p:spPr>
          <a:xfrm>
            <a:off x="579120" y="733044"/>
            <a:ext cx="924342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04 / PROJECT</a:t>
            </a:r>
            <a:endParaRPr lang="zh-CN" sz="900"/>
          </a:p>
        </p:txBody>
      </p:sp>
      <p:sp>
        <p:nvSpPr>
          <p:cNvPr id="7" name="项目：承载长期工作的独立空间"/>
          <p:cNvSpPr txBox="1"/>
          <p:nvPr/>
        </p:nvSpPr>
        <p:spPr>
          <a:xfrm>
            <a:off x="579120" y="1014832"/>
            <a:ext cx="502920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项目：承载长期工作的独立空间</a:t>
            </a:r>
            <a:endParaRPr lang="zh-CN" sz="2760"/>
          </a:p>
        </p:txBody>
      </p:sp>
      <p:sp>
        <p:nvSpPr>
          <p:cNvPr id="8" name="按具体事情建立项目，让资料、会话、能力和记忆保持清晰边界"/>
          <p:cNvSpPr txBox="1"/>
          <p:nvPr/>
        </p:nvSpPr>
        <p:spPr>
          <a:xfrm>
            <a:off x="579120" y="1548232"/>
            <a:ext cx="46024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按具体事情建立项目，让资料、会话、能力和记忆保持清晰边界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2202360"/>
            <a:ext cx="2819400" cy="3520079"/>
          </a:xfrm>
          <a:prstGeom prst="rect">
            <a:avLst/>
          </a:prstGeom>
        </p:spPr>
      </p:pic>
      <p:sp>
        <p:nvSpPr>
          <p:cNvPr id="12" name="01"/>
          <p:cNvSpPr txBox="1"/>
          <p:nvPr/>
        </p:nvSpPr>
        <p:spPr>
          <a:xfrm>
            <a:off x="3962400" y="2267712"/>
            <a:ext cx="27557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200"/>
          </a:p>
        </p:txBody>
      </p:sp>
      <p:sp>
        <p:nvSpPr>
          <p:cNvPr id="13" name="按“事”建立"/>
          <p:cNvSpPr txBox="1"/>
          <p:nvPr/>
        </p:nvSpPr>
        <p:spPr>
          <a:xfrm>
            <a:off x="4404360" y="2249119"/>
            <a:ext cx="1197531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按“事”建立</a:t>
            </a:r>
            <a:endParaRPr lang="zh-CN" sz="1620"/>
          </a:p>
        </p:txBody>
      </p:sp>
      <p:sp>
        <p:nvSpPr>
          <p:cNvPr id="14" name="行业研究、产品研发、团队周报等长期事项。"/>
          <p:cNvSpPr txBox="1"/>
          <p:nvPr/>
        </p:nvSpPr>
        <p:spPr>
          <a:xfrm>
            <a:off x="4404360" y="2607412"/>
            <a:ext cx="332232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行业研究、产品研发、团队周报等长期事项。</a:t>
            </a:r>
            <a:endParaRPr lang="zh-CN" sz="1260"/>
          </a:p>
        </p:txBody>
      </p:sp>
      <p:sp>
        <p:nvSpPr>
          <p:cNvPr id="15" name="02"/>
          <p:cNvSpPr txBox="1"/>
          <p:nvPr/>
        </p:nvSpPr>
        <p:spPr>
          <a:xfrm>
            <a:off x="3962400" y="336499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200"/>
          </a:p>
        </p:txBody>
      </p:sp>
      <p:sp>
        <p:nvSpPr>
          <p:cNvPr id="16" name="按项目组织"/>
          <p:cNvSpPr txBox="1"/>
          <p:nvPr/>
        </p:nvSpPr>
        <p:spPr>
          <a:xfrm>
            <a:off x="4404360" y="3346399"/>
            <a:ext cx="115062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按项目组织</a:t>
            </a:r>
            <a:endParaRPr lang="zh-CN" sz="1620"/>
          </a:p>
        </p:txBody>
      </p:sp>
      <p:sp>
        <p:nvSpPr>
          <p:cNvPr id="17" name="会话、文件、Skill、连接器和记忆相互隔离。"/>
          <p:cNvSpPr txBox="1"/>
          <p:nvPr/>
        </p:nvSpPr>
        <p:spPr>
          <a:xfrm>
            <a:off x="4404360" y="3704692"/>
            <a:ext cx="3304282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会话、文件、Skill、连接器和记忆相互隔离。</a:t>
            </a:r>
            <a:endParaRPr lang="zh-CN" sz="1260"/>
          </a:p>
        </p:txBody>
      </p:sp>
      <p:sp>
        <p:nvSpPr>
          <p:cNvPr id="18" name="03"/>
          <p:cNvSpPr txBox="1"/>
          <p:nvPr/>
        </p:nvSpPr>
        <p:spPr>
          <a:xfrm>
            <a:off x="3962400" y="446227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200"/>
          </a:p>
        </p:txBody>
      </p:sp>
      <p:sp>
        <p:nvSpPr>
          <p:cNvPr id="19" name="用项目说明定义边界"/>
          <p:cNvSpPr txBox="1"/>
          <p:nvPr/>
        </p:nvSpPr>
        <p:spPr>
          <a:xfrm>
            <a:off x="4404360" y="4443679"/>
            <a:ext cx="19735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用项目说明定义边界</a:t>
            </a:r>
            <a:endParaRPr lang="zh-CN" sz="1620"/>
          </a:p>
        </p:txBody>
      </p:sp>
      <p:sp>
        <p:nvSpPr>
          <p:cNvPr id="20" name="长期目标、规则与约束成为 Agent 的基础上下文（Agent.md）。"/>
          <p:cNvSpPr txBox="1"/>
          <p:nvPr/>
        </p:nvSpPr>
        <p:spPr>
          <a:xfrm>
            <a:off x="4404360" y="4801972"/>
            <a:ext cx="4651296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长期目标、规则与约束成为 Agent 的基础上下文（Agent.md）。</a:t>
            </a:r>
            <a:endParaRPr lang="zh-CN" sz="1260"/>
          </a:p>
        </p:txBody>
      </p:sp>
      <p:sp>
        <p:nvSpPr>
          <p:cNvPr id="21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2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23" name="项目的价值：个人能接着做，团队能移交，组织能复制"/>
          <p:cNvSpPr txBox="1"/>
          <p:nvPr/>
        </p:nvSpPr>
        <p:spPr>
          <a:xfrm>
            <a:off x="762000" y="5839511"/>
            <a:ext cx="432816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项目的价值：个人能接着做，团队能移交，组织能复制</a:t>
            </a:r>
            <a:endParaRPr lang="zh-CN" sz="1380"/>
          </a:p>
        </p:txBody>
      </p:sp>
      <p:sp>
        <p:nvSpPr>
          <p:cNvPr id="24" name="06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06 / 26</a:t>
            </a:r>
            <a:endParaRPr lang="zh-CN" sz="84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对话框：明确本次任务的上下文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上下文管理"/>
          <p:cNvSpPr txBox="1"/>
          <p:nvPr/>
        </p:nvSpPr>
        <p:spPr>
          <a:xfrm>
            <a:off x="10545187" y="217475"/>
            <a:ext cx="118961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上下文管理</a:t>
            </a:r>
            <a:endParaRPr lang="zh-CN" sz="780"/>
          </a:p>
        </p:txBody>
      </p:sp>
      <p:sp>
        <p:nvSpPr>
          <p:cNvPr id="6" name="05 / TASK INPUT"/>
          <p:cNvSpPr txBox="1"/>
          <p:nvPr/>
        </p:nvSpPr>
        <p:spPr>
          <a:xfrm>
            <a:off x="579120" y="733044"/>
            <a:ext cx="1076444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05 / TASK INPUT</a:t>
            </a:r>
            <a:endParaRPr lang="zh-CN" sz="900"/>
          </a:p>
        </p:txBody>
      </p:sp>
      <p:sp>
        <p:nvSpPr>
          <p:cNvPr id="7" name="对话框：明确本次任务的上下文"/>
          <p:cNvSpPr txBox="1"/>
          <p:nvPr/>
        </p:nvSpPr>
        <p:spPr>
          <a:xfrm>
            <a:off x="579120" y="1014832"/>
            <a:ext cx="502920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对话框：明确本次任务的上下文</a:t>
            </a:r>
            <a:endParaRPr lang="zh-CN" sz="2760"/>
          </a:p>
        </p:txBody>
      </p:sp>
      <p:sp>
        <p:nvSpPr>
          <p:cNvPr id="8" name="引用资料与能力后，再描述目标、交付物和验收标准"/>
          <p:cNvSpPr txBox="1"/>
          <p:nvPr/>
        </p:nvSpPr>
        <p:spPr>
          <a:xfrm>
            <a:off x="579120" y="1548232"/>
            <a:ext cx="38023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引用资料与能力后，再描述目标、交付物和验收标准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Style"/>
          <p:cNvSpPr txBox="1"/>
          <p:nvPr/>
        </p:nvSpPr>
        <p:spPr>
          <a:xfrm>
            <a:off x="579120" y="2179320"/>
            <a:ext cx="6819900" cy="2476500"/>
          </a:xfrm>
          <a:prstGeom prst="rect">
            <a:avLst/>
          </a:prstGeom>
          <a:solidFill>
            <a:srgbClr val="F5F8FD"/>
          </a:solidFill>
          <a:ln w="7620">
            <a:solidFill>
              <a:srgbClr val="DBE5F1"/>
            </a:solidFill>
          </a:ln>
        </p:spPr>
      </p:sp>
      <p:pic>
        <p:nvPicPr>
          <p:cNvPr id="12" name="input-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92438"/>
            <a:ext cx="6515100" cy="1520724"/>
          </a:xfrm>
          <a:prstGeom prst="rect">
            <a:avLst/>
          </a:prstGeom>
        </p:spPr>
      </p:pic>
      <p:sp>
        <p:nvSpPr>
          <p:cNvPr id="13" name="上方标签承载本次引用，底部工具栏配置能力与执行"/>
          <p:cNvSpPr txBox="1"/>
          <p:nvPr/>
        </p:nvSpPr>
        <p:spPr>
          <a:xfrm>
            <a:off x="762000" y="4356964"/>
            <a:ext cx="2926080" cy="217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6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上方标签承载本次引用，底部工具栏配置能力与执行</a:t>
            </a:r>
            <a:endParaRPr lang="zh-CN" sz="960"/>
          </a:p>
        </p:txBody>
      </p:sp>
      <p:sp>
        <p:nvSpPr>
          <p:cNvPr id="14" name="@"/>
          <p:cNvSpPr txBox="1"/>
          <p:nvPr/>
        </p:nvSpPr>
        <p:spPr>
          <a:xfrm>
            <a:off x="7772400" y="2232355"/>
            <a:ext cx="366117" cy="4381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2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@</a:t>
            </a:r>
            <a:endParaRPr lang="zh-CN" sz="2220"/>
          </a:p>
        </p:txBody>
      </p:sp>
      <p:sp>
        <p:nvSpPr>
          <p:cNvPr id="15" name="文件 / 目录"/>
          <p:cNvSpPr txBox="1"/>
          <p:nvPr/>
        </p:nvSpPr>
        <p:spPr>
          <a:xfrm>
            <a:off x="8305800" y="2225040"/>
            <a:ext cx="1106091" cy="3124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文件 / 目录</a:t>
            </a:r>
            <a:endParaRPr lang="zh-CN" sz="1500"/>
          </a:p>
        </p:txBody>
      </p:sp>
      <p:sp>
        <p:nvSpPr>
          <p:cNvPr id="16" name="指定本次需要读取的资料"/>
          <p:cNvSpPr txBox="1"/>
          <p:nvPr/>
        </p:nvSpPr>
        <p:spPr>
          <a:xfrm>
            <a:off x="8305800" y="2564892"/>
            <a:ext cx="17983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指定本次需要读取的资料</a:t>
            </a:r>
            <a:endParaRPr lang="zh-CN" sz="1200"/>
          </a:p>
        </p:txBody>
      </p:sp>
      <p:sp>
        <p:nvSpPr>
          <p:cNvPr id="17" name="/"/>
          <p:cNvSpPr txBox="1"/>
          <p:nvPr/>
        </p:nvSpPr>
        <p:spPr>
          <a:xfrm>
            <a:off x="7772400" y="3047695"/>
            <a:ext cx="262890" cy="4381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2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/</a:t>
            </a:r>
            <a:endParaRPr lang="zh-CN" sz="2220"/>
          </a:p>
        </p:txBody>
      </p:sp>
      <p:sp>
        <p:nvSpPr>
          <p:cNvPr id="18" name="Skill"/>
          <p:cNvSpPr txBox="1"/>
          <p:nvPr/>
        </p:nvSpPr>
        <p:spPr>
          <a:xfrm>
            <a:off x="8305800" y="3040380"/>
            <a:ext cx="500479" cy="3124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Skill</a:t>
            </a:r>
            <a:endParaRPr lang="zh-CN" sz="1500"/>
          </a:p>
        </p:txBody>
      </p:sp>
      <p:sp>
        <p:nvSpPr>
          <p:cNvPr id="19" name="选择固化流程与检查规则"/>
          <p:cNvSpPr txBox="1"/>
          <p:nvPr/>
        </p:nvSpPr>
        <p:spPr>
          <a:xfrm>
            <a:off x="8305800" y="3380232"/>
            <a:ext cx="17983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选择固化流程与检查规则</a:t>
            </a:r>
            <a:endParaRPr lang="zh-CN" sz="1200"/>
          </a:p>
        </p:txBody>
      </p:sp>
      <p:sp>
        <p:nvSpPr>
          <p:cNvPr id="20" name="#"/>
          <p:cNvSpPr txBox="1"/>
          <p:nvPr/>
        </p:nvSpPr>
        <p:spPr>
          <a:xfrm>
            <a:off x="7772400" y="3863035"/>
            <a:ext cx="291108" cy="4381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2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#</a:t>
            </a:r>
            <a:endParaRPr lang="zh-CN" sz="2220"/>
          </a:p>
        </p:txBody>
      </p:sp>
      <p:sp>
        <p:nvSpPr>
          <p:cNvPr id="21" name="连接器"/>
          <p:cNvSpPr txBox="1"/>
          <p:nvPr/>
        </p:nvSpPr>
        <p:spPr>
          <a:xfrm>
            <a:off x="8305800" y="3855720"/>
            <a:ext cx="693420" cy="3124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连接器</a:t>
            </a:r>
            <a:endParaRPr lang="zh-CN" sz="1500"/>
          </a:p>
        </p:txBody>
      </p:sp>
      <p:sp>
        <p:nvSpPr>
          <p:cNvPr id="22" name="明确需要使用的外部系统"/>
          <p:cNvSpPr txBox="1"/>
          <p:nvPr/>
        </p:nvSpPr>
        <p:spPr>
          <a:xfrm>
            <a:off x="8305800" y="4195572"/>
            <a:ext cx="17983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明确需要使用的外部系统</a:t>
            </a:r>
            <a:endParaRPr lang="zh-CN" sz="1200"/>
          </a:p>
        </p:txBody>
      </p:sp>
      <p:sp>
        <p:nvSpPr>
          <p:cNvPr id="23" name="&amp;"/>
          <p:cNvSpPr txBox="1"/>
          <p:nvPr/>
        </p:nvSpPr>
        <p:spPr>
          <a:xfrm>
            <a:off x="7772400" y="4678375"/>
            <a:ext cx="333673" cy="4381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2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&amp;</a:t>
            </a:r>
            <a:endParaRPr lang="zh-CN" sz="2220"/>
          </a:p>
        </p:txBody>
      </p:sp>
      <p:sp>
        <p:nvSpPr>
          <p:cNvPr id="24" name="会话"/>
          <p:cNvSpPr txBox="1"/>
          <p:nvPr/>
        </p:nvSpPr>
        <p:spPr>
          <a:xfrm>
            <a:off x="8305800" y="4671060"/>
            <a:ext cx="502920" cy="3124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会话</a:t>
            </a:r>
            <a:endParaRPr lang="zh-CN" sz="1500"/>
          </a:p>
        </p:txBody>
      </p:sp>
      <p:sp>
        <p:nvSpPr>
          <p:cNvPr id="25" name="承接已有会话的目标与结论"/>
          <p:cNvSpPr txBox="1"/>
          <p:nvPr/>
        </p:nvSpPr>
        <p:spPr>
          <a:xfrm>
            <a:off x="8305800" y="5010912"/>
            <a:ext cx="19507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承接已有会话的目标与结论</a:t>
            </a:r>
            <a:endParaRPr lang="zh-CN" sz="1200"/>
          </a:p>
        </p:txBody>
      </p:sp>
      <p:sp>
        <p:nvSpPr>
          <p:cNvPr id="26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7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28" name="任务描述建议包含：要完成什么、读取哪些资料、输出什么、怎样算完成"/>
          <p:cNvSpPr txBox="1"/>
          <p:nvPr/>
        </p:nvSpPr>
        <p:spPr>
          <a:xfrm>
            <a:off x="762000" y="5839511"/>
            <a:ext cx="573024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任务描述建议包含：要完成什么、读取哪些资料、输出什么、怎样算完成</a:t>
            </a:r>
            <a:endParaRPr lang="zh-CN" sz="1380"/>
          </a:p>
        </p:txBody>
      </p:sp>
      <p:sp>
        <p:nvSpPr>
          <p:cNvPr id="29" name="07 / 26"/>
          <p:cNvSpPr txBox="1"/>
          <p:nvPr/>
        </p:nvSpPr>
        <p:spPr>
          <a:xfrm>
            <a:off x="11238071" y="6489344"/>
            <a:ext cx="496729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07 / 26</a:t>
            </a:r>
            <a:endParaRPr lang="zh-CN" sz="84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会话管理与执行观测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任务配置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任务配置</a:t>
            </a:r>
            <a:endParaRPr lang="zh-CN" sz="780"/>
          </a:p>
        </p:txBody>
      </p:sp>
      <p:sp>
        <p:nvSpPr>
          <p:cNvPr id="6" name="06 / SESSION"/>
          <p:cNvSpPr txBox="1"/>
          <p:nvPr/>
        </p:nvSpPr>
        <p:spPr>
          <a:xfrm>
            <a:off x="579120" y="733044"/>
            <a:ext cx="890588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06 / SESSION</a:t>
            </a:r>
            <a:endParaRPr lang="zh-CN" sz="900"/>
          </a:p>
        </p:txBody>
      </p:sp>
      <p:sp>
        <p:nvSpPr>
          <p:cNvPr id="7" name="会话管理与执行观测"/>
          <p:cNvSpPr txBox="1"/>
          <p:nvPr/>
        </p:nvSpPr>
        <p:spPr>
          <a:xfrm>
            <a:off x="579120" y="1014832"/>
            <a:ext cx="327660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会话管理与执行观测</a:t>
            </a:r>
            <a:endParaRPr lang="zh-CN" sz="2760"/>
          </a:p>
        </p:txBody>
      </p:sp>
      <p:sp>
        <p:nvSpPr>
          <p:cNvPr id="8" name="组织会话，查看统计，并在需要时分叉探索或回到之前的状态"/>
          <p:cNvSpPr txBox="1"/>
          <p:nvPr/>
        </p:nvSpPr>
        <p:spPr>
          <a:xfrm>
            <a:off x="579120" y="1548232"/>
            <a:ext cx="444246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组织会话，查看统计，并在需要时分叉探索或回到之前的状态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" y="2394290"/>
            <a:ext cx="2209800" cy="2938100"/>
          </a:xfrm>
          <a:prstGeom prst="rect">
            <a:avLst/>
          </a:prstGeom>
        </p:spPr>
      </p:pic>
      <p:sp>
        <p:nvSpPr>
          <p:cNvPr id="12" name="01"/>
          <p:cNvSpPr txBox="1"/>
          <p:nvPr/>
        </p:nvSpPr>
        <p:spPr>
          <a:xfrm>
            <a:off x="3200400" y="2221992"/>
            <a:ext cx="27557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200"/>
          </a:p>
        </p:txBody>
      </p:sp>
      <p:sp>
        <p:nvSpPr>
          <p:cNvPr id="13" name="会话组织"/>
          <p:cNvSpPr txBox="1"/>
          <p:nvPr/>
        </p:nvSpPr>
        <p:spPr>
          <a:xfrm>
            <a:off x="3642360" y="220339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会话组织</a:t>
            </a:r>
            <a:endParaRPr lang="zh-CN" sz="1620"/>
          </a:p>
        </p:txBody>
      </p:sp>
      <p:sp>
        <p:nvSpPr>
          <p:cNvPr id="14" name="置顶便于查找且不会自动归档。"/>
          <p:cNvSpPr txBox="1"/>
          <p:nvPr/>
        </p:nvSpPr>
        <p:spPr>
          <a:xfrm>
            <a:off x="3642360" y="2564892"/>
            <a:ext cx="22555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置顶便于查找且不会自动归档。</a:t>
            </a:r>
            <a:endParaRPr lang="zh-CN" sz="1200"/>
          </a:p>
        </p:txBody>
      </p:sp>
      <p:sp>
        <p:nvSpPr>
          <p:cNvPr id="15" name="按项目、最近时间或自动任务查看会话。"/>
          <p:cNvSpPr txBox="1"/>
          <p:nvPr/>
        </p:nvSpPr>
        <p:spPr>
          <a:xfrm>
            <a:off x="3642360" y="2778252"/>
            <a:ext cx="28651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按项目、最近时间或自动任务查看会话。</a:t>
            </a:r>
            <a:endParaRPr lang="zh-CN" sz="1200"/>
          </a:p>
        </p:txBody>
      </p:sp>
      <p:sp>
        <p:nvSpPr>
          <p:cNvPr id="16" name="02"/>
          <p:cNvSpPr txBox="1"/>
          <p:nvPr/>
        </p:nvSpPr>
        <p:spPr>
          <a:xfrm>
            <a:off x="3200400" y="334975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200"/>
          </a:p>
        </p:txBody>
      </p:sp>
      <p:sp>
        <p:nvSpPr>
          <p:cNvPr id="17" name="会话分叉与回滚"/>
          <p:cNvSpPr txBox="1"/>
          <p:nvPr/>
        </p:nvSpPr>
        <p:spPr>
          <a:xfrm>
            <a:off x="3642360" y="3331159"/>
            <a:ext cx="15621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会话分叉与回滚</a:t>
            </a:r>
            <a:endParaRPr lang="zh-CN" sz="1620"/>
          </a:p>
        </p:txBody>
      </p:sp>
      <p:sp>
        <p:nvSpPr>
          <p:cNvPr id="18" name="Fork：从某个时间点探索不同路径。"/>
          <p:cNvSpPr txBox="1"/>
          <p:nvPr/>
        </p:nvSpPr>
        <p:spPr>
          <a:xfrm>
            <a:off x="3642360" y="3692652"/>
            <a:ext cx="2569012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Fork：从某个时间点探索不同路径。</a:t>
            </a:r>
            <a:endParaRPr lang="zh-CN" sz="1200"/>
          </a:p>
        </p:txBody>
      </p:sp>
      <p:sp>
        <p:nvSpPr>
          <p:cNvPr id="19" name="回滚：退回到之前的某一轮。"/>
          <p:cNvSpPr txBox="1"/>
          <p:nvPr/>
        </p:nvSpPr>
        <p:spPr>
          <a:xfrm>
            <a:off x="3642360" y="3906012"/>
            <a:ext cx="21031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回滚：退回到之前的某一轮。</a:t>
            </a:r>
            <a:endParaRPr lang="zh-CN" sz="1200"/>
          </a:p>
        </p:txBody>
      </p:sp>
      <p:pic>
        <p:nvPicPr>
          <p:cNvPr id="20" name="image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02045" y="2286000"/>
            <a:ext cx="3904989" cy="2209800"/>
          </a:xfrm>
          <a:prstGeom prst="rect">
            <a:avLst/>
          </a:prstGeom>
        </p:spPr>
      </p:pic>
      <p:sp>
        <p:nvSpPr>
          <p:cNvPr id="21" name="执行完一轮后，可查看响应、工具与 Token 统计"/>
          <p:cNvSpPr txBox="1"/>
          <p:nvPr/>
        </p:nvSpPr>
        <p:spPr>
          <a:xfrm>
            <a:off x="7696200" y="4581144"/>
            <a:ext cx="258097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执行完一轮后，可查看响应、工具与 Token 统计</a:t>
            </a:r>
            <a:endParaRPr lang="zh-CN" sz="900"/>
          </a:p>
        </p:txBody>
      </p:sp>
      <p:sp>
        <p:nvSpPr>
          <p:cNvPr id="22" name="03"/>
          <p:cNvSpPr txBox="1"/>
          <p:nvPr/>
        </p:nvSpPr>
        <p:spPr>
          <a:xfrm>
            <a:off x="3200400" y="447751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200"/>
          </a:p>
        </p:txBody>
      </p:sp>
      <p:sp>
        <p:nvSpPr>
          <p:cNvPr id="23" name="自动归档"/>
          <p:cNvSpPr txBox="1"/>
          <p:nvPr/>
        </p:nvSpPr>
        <p:spPr>
          <a:xfrm>
            <a:off x="3642360" y="445891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自动归档</a:t>
            </a:r>
            <a:endParaRPr lang="zh-CN" sz="1620"/>
          </a:p>
        </p:txBody>
      </p:sp>
      <p:sp>
        <p:nvSpPr>
          <p:cNvPr id="24" name="在设置中选择自动归档策略："/>
          <p:cNvSpPr txBox="1"/>
          <p:nvPr/>
        </p:nvSpPr>
        <p:spPr>
          <a:xfrm>
            <a:off x="3642360" y="4820412"/>
            <a:ext cx="21031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在设置中选择自动归档策略：</a:t>
            </a:r>
            <a:endParaRPr lang="zh-CN" sz="1200"/>
          </a:p>
        </p:txBody>
      </p:sp>
      <p:sp>
        <p:nvSpPr>
          <p:cNvPr id="25" name="7 天、14 天、不归档等。"/>
          <p:cNvSpPr txBox="1"/>
          <p:nvPr/>
        </p:nvSpPr>
        <p:spPr>
          <a:xfrm>
            <a:off x="3642360" y="5033772"/>
            <a:ext cx="1830943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7 天、14 天、不归档等。</a:t>
            </a:r>
            <a:endParaRPr lang="zh-CN" sz="1200"/>
          </a:p>
        </p:txBody>
      </p:sp>
      <p:sp>
        <p:nvSpPr>
          <p:cNvPr id="26" name="超过所选天数未更新的会话会自动归档。"/>
          <p:cNvSpPr txBox="1"/>
          <p:nvPr/>
        </p:nvSpPr>
        <p:spPr>
          <a:xfrm>
            <a:off x="3642360" y="5247132"/>
            <a:ext cx="28651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超过所选天数未更新的会话会自动归档。</a:t>
            </a:r>
            <a:endParaRPr lang="zh-CN" sz="1200"/>
          </a:p>
        </p:txBody>
      </p:sp>
      <p:sp>
        <p:nvSpPr>
          <p:cNvPr id="27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8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29" name="过程不清楚时，先查看本轮统计，再让 WorkMate 分析具体执行原因"/>
          <p:cNvSpPr txBox="1"/>
          <p:nvPr/>
        </p:nvSpPr>
        <p:spPr>
          <a:xfrm>
            <a:off x="762000" y="5839511"/>
            <a:ext cx="5471041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过程不清楚时，先查看本轮统计，再让 WorkMate 分析具体执行原因</a:t>
            </a:r>
            <a:endParaRPr lang="zh-CN" sz="1380"/>
          </a:p>
        </p:txBody>
      </p:sp>
      <p:sp>
        <p:nvSpPr>
          <p:cNvPr id="30" name="08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08 / 26</a:t>
            </a:r>
            <a:endParaRPr lang="zh-CN" sz="84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选择引擎：Pi 与 Clau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引擎对比表"/>
          <p:cNvGraphicFramePr/>
          <p:nvPr/>
        </p:nvGraphicFramePr>
        <p:xfrm>
          <a:off x="579120" y="2209800"/>
          <a:ext cx="6858000" cy="3108960"/>
        </p:xfrm>
        <a:graphic>
          <a:graphicData uri="http://schemas.openxmlformats.org/drawingml/2006/main/table">
            <a:tbl>
              <a:tblPr firstRow="1" bandRow="0"/>
              <a:tblGrid>
                <a:gridCol w="1524000"/>
                <a:gridCol w="2209800"/>
                <a:gridCol w="3124200"/>
              </a:tblGrid>
              <a:tr h="441960">
                <a:tc>
                  <a:txBody>
                    <a:bodyPr/>
                    <a:lstStyle/>
                    <a:p>
                      <a:pPr algn="l"/>
                      <a:r>
                        <a:rPr lang="zh-CN" sz="1140" b="0">
                          <a:solidFill>
                            <a:srgbClr val="526983"/>
                          </a:solidFill>
                          <a:latin typeface="PingFang SC"/>
                          <a:ea typeface="PingFang SC"/>
                        </a:rPr>
                        <a:t>比较维度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1765DC"/>
                          </a:solidFill>
                          <a:latin typeface="PingFang SC"/>
                          <a:ea typeface="PingFang SC"/>
                        </a:rPr>
                        <a:t>Pi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5F8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800" b="1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Claude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5F8FD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zh-CN" sz="1140" b="0">
                          <a:solidFill>
                            <a:srgbClr val="526983"/>
                          </a:solidFill>
                          <a:latin typeface="PingFang SC"/>
                          <a:ea typeface="PingFang SC"/>
                        </a:rPr>
                        <a:t>能力侧重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极简轻量的运行时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Anthropic 官方 SDK 完整能力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zh-CN" sz="1140" b="0">
                          <a:solidFill>
                            <a:srgbClr val="526983"/>
                          </a:solidFill>
                          <a:latin typeface="PingFang SC"/>
                          <a:ea typeface="PingFang SC"/>
                        </a:rPr>
                        <a:t>使用体验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启动快，上下文负担较低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完整能力，开箱即用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zh-CN" sz="1140" b="0">
                          <a:solidFill>
                            <a:srgbClr val="526983"/>
                          </a:solidFill>
                          <a:latin typeface="PingFang SC"/>
                          <a:ea typeface="PingFang SC"/>
                        </a:rPr>
                        <a:t>适用任务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高频、日常任务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编程场景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zh-CN" sz="1140" b="0">
                          <a:solidFill>
                            <a:srgbClr val="526983"/>
                          </a:solidFill>
                          <a:latin typeface="PingFang SC"/>
                          <a:ea typeface="PingFang SC"/>
                        </a:rPr>
                        <a:t>首次返回（示例）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约 5 秒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约 20 秒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/>
                      <a:r>
                        <a:rPr lang="zh-CN" sz="1140" b="0">
                          <a:solidFill>
                            <a:srgbClr val="526983"/>
                          </a:solidFill>
                          <a:latin typeface="PingFang SC"/>
                          <a:ea typeface="PingFang SC"/>
                        </a:rPr>
                        <a:t>上下文占用（示例）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&lt;10K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sz="1200" b="0">
                          <a:solidFill>
                            <a:srgbClr val="152C49"/>
                          </a:solidFill>
                          <a:latin typeface="PingFang SC"/>
                          <a:ea typeface="PingFang SC"/>
                        </a:rPr>
                        <a:t>约 30K</a:t>
                      </a:r>
                    </a:p>
                  </a:txBody>
                  <a:tcPr marL="152400" marR="6096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7620">
                      <a:solidFill>
                        <a:srgbClr val="DBE5F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4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5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6" name="TRAINING / 任务配置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任务配置</a:t>
            </a:r>
            <a:endParaRPr lang="zh-CN" sz="780"/>
          </a:p>
        </p:txBody>
      </p:sp>
      <p:sp>
        <p:nvSpPr>
          <p:cNvPr id="7" name="07 / AGENT ENGINE"/>
          <p:cNvSpPr txBox="1"/>
          <p:nvPr/>
        </p:nvSpPr>
        <p:spPr>
          <a:xfrm>
            <a:off x="579120" y="733044"/>
            <a:ext cx="124634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07 / AGENT ENGINE</a:t>
            </a:r>
            <a:endParaRPr lang="zh-CN" sz="900"/>
          </a:p>
        </p:txBody>
      </p:sp>
      <p:sp>
        <p:nvSpPr>
          <p:cNvPr id="8" name="选择引擎：Pi 与 Claude"/>
          <p:cNvSpPr txBox="1"/>
          <p:nvPr/>
        </p:nvSpPr>
        <p:spPr>
          <a:xfrm>
            <a:off x="579120" y="1014832"/>
            <a:ext cx="3944362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选择引擎：Pi 与 Claude</a:t>
            </a:r>
            <a:endParaRPr lang="zh-CN" sz="2760"/>
          </a:p>
        </p:txBody>
      </p:sp>
      <p:sp>
        <p:nvSpPr>
          <p:cNvPr id="9" name="引擎决定 Agent 的执行方式；模型决定本次任务使用的理解与推理能力"/>
          <p:cNvSpPr txBox="1"/>
          <p:nvPr/>
        </p:nvSpPr>
        <p:spPr>
          <a:xfrm>
            <a:off x="579120" y="1548232"/>
            <a:ext cx="5143857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引擎决定 Agent 的执行方式；模型决定本次任务使用的理解与推理能力</a:t>
            </a:r>
            <a:endParaRPr lang="zh-CN" sz="1260"/>
          </a:p>
        </p:txBody>
      </p:sp>
      <p:sp>
        <p:nvSpPr>
          <p:cNvPr id="10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1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2" name="engine-men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5720" y="2450176"/>
            <a:ext cx="3947160" cy="2742507"/>
          </a:xfrm>
          <a:prstGeom prst="rect">
            <a:avLst/>
          </a:prstGeom>
        </p:spPr>
      </p:pic>
      <p:sp>
        <p:nvSpPr>
          <p:cNvPr id="13" name="示例测试口径：同环境、同输入“你好”的首轮测试，实际时延随模型与网络状态波动。"/>
          <p:cNvSpPr txBox="1"/>
          <p:nvPr/>
        </p:nvSpPr>
        <p:spPr>
          <a:xfrm>
            <a:off x="579120" y="5453024"/>
            <a:ext cx="4183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示例测试口径：同环境、同输入“你好”的首轮测试，实际时延随模型与网络状态波动。</a:t>
            </a:r>
            <a:endParaRPr lang="zh-CN" sz="840"/>
          </a:p>
        </p:txBody>
      </p:sp>
      <p:sp>
        <p:nvSpPr>
          <p:cNvPr id="14" name="Style"/>
          <p:cNvSpPr txBox="1"/>
          <p:nvPr/>
        </p:nvSpPr>
        <p:spPr>
          <a:xfrm>
            <a:off x="579120" y="585216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5" name="Style"/>
          <p:cNvSpPr txBox="1"/>
          <p:nvPr/>
        </p:nvSpPr>
        <p:spPr>
          <a:xfrm>
            <a:off x="579120" y="585216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6" name="选择建议：日常任务先尝试 Pi；需要编程场景用 Claude"/>
          <p:cNvSpPr txBox="1"/>
          <p:nvPr/>
        </p:nvSpPr>
        <p:spPr>
          <a:xfrm>
            <a:off x="762000" y="5976671"/>
            <a:ext cx="4482048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选择建议：日常任务先尝试 Pi；需要编程场景用 Claude</a:t>
            </a:r>
            <a:endParaRPr lang="zh-CN" sz="1380"/>
          </a:p>
        </p:txBody>
      </p:sp>
      <p:sp>
        <p:nvSpPr>
          <p:cNvPr id="17" name="09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09 / 26</a:t>
            </a:r>
            <a:endParaRPr lang="zh-CN" sz="84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选择模型：先判断数据边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任务配置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任务配置</a:t>
            </a:r>
            <a:endParaRPr lang="zh-CN" sz="780"/>
          </a:p>
        </p:txBody>
      </p:sp>
      <p:sp>
        <p:nvSpPr>
          <p:cNvPr id="6" name="08 / MODEL"/>
          <p:cNvSpPr txBox="1"/>
          <p:nvPr/>
        </p:nvSpPr>
        <p:spPr>
          <a:xfrm>
            <a:off x="579120" y="733044"/>
            <a:ext cx="807541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08 / MODEL</a:t>
            </a:r>
            <a:endParaRPr lang="zh-CN" sz="900"/>
          </a:p>
        </p:txBody>
      </p:sp>
      <p:sp>
        <p:nvSpPr>
          <p:cNvPr id="7" name="选择模型：先判断数据边界"/>
          <p:cNvSpPr txBox="1"/>
          <p:nvPr/>
        </p:nvSpPr>
        <p:spPr>
          <a:xfrm>
            <a:off x="579120" y="1014832"/>
            <a:ext cx="432816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选择模型：先判断数据边界</a:t>
            </a:r>
            <a:endParaRPr lang="zh-CN" sz="2760"/>
          </a:p>
        </p:txBody>
      </p:sp>
      <p:sp>
        <p:nvSpPr>
          <p:cNvPr id="8" name="再看输入类型、上下文容量与任务能力"/>
          <p:cNvSpPr txBox="1"/>
          <p:nvPr/>
        </p:nvSpPr>
        <p:spPr>
          <a:xfrm>
            <a:off x="579120" y="1548232"/>
            <a:ext cx="284226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再看输入类型、上下文容量与任务能力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01"/>
          <p:cNvSpPr txBox="1"/>
          <p:nvPr/>
        </p:nvSpPr>
        <p:spPr>
          <a:xfrm>
            <a:off x="579120" y="2137562"/>
            <a:ext cx="267891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140"/>
          </a:p>
        </p:txBody>
      </p:sp>
      <p:sp>
        <p:nvSpPr>
          <p:cNvPr id="12" name="数据敏感度"/>
          <p:cNvSpPr txBox="1"/>
          <p:nvPr/>
        </p:nvSpPr>
        <p:spPr>
          <a:xfrm>
            <a:off x="1013460" y="2107540"/>
            <a:ext cx="1112520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数据敏感度</a:t>
            </a:r>
            <a:endParaRPr lang="zh-CN" sz="1560"/>
          </a:p>
        </p:txBody>
      </p:sp>
      <p:sp>
        <p:nvSpPr>
          <p:cNvPr id="13" name="敏感、涉客信息使用 Local"/>
          <p:cNvSpPr txBox="1"/>
          <p:nvPr/>
        </p:nvSpPr>
        <p:spPr>
          <a:xfrm>
            <a:off x="579120" y="2526792"/>
            <a:ext cx="1927562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敏感、涉客信息使用 Local</a:t>
            </a:r>
            <a:endParaRPr lang="zh-CN" sz="1200"/>
          </a:p>
        </p:txBody>
      </p:sp>
      <p:sp>
        <p:nvSpPr>
          <p:cNvPr id="14" name="02"/>
          <p:cNvSpPr txBox="1"/>
          <p:nvPr/>
        </p:nvSpPr>
        <p:spPr>
          <a:xfrm>
            <a:off x="4335780" y="2137562"/>
            <a:ext cx="295692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140"/>
          </a:p>
        </p:txBody>
      </p:sp>
      <p:sp>
        <p:nvSpPr>
          <p:cNvPr id="15" name="输入类型"/>
          <p:cNvSpPr txBox="1"/>
          <p:nvPr/>
        </p:nvSpPr>
        <p:spPr>
          <a:xfrm>
            <a:off x="4770120" y="2107540"/>
            <a:ext cx="914400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输入类型</a:t>
            </a:r>
            <a:endParaRPr lang="zh-CN" sz="1560"/>
          </a:p>
        </p:txBody>
      </p:sp>
      <p:sp>
        <p:nvSpPr>
          <p:cNvPr id="16" name="图片与扫描件使用多模态模型"/>
          <p:cNvSpPr txBox="1"/>
          <p:nvPr/>
        </p:nvSpPr>
        <p:spPr>
          <a:xfrm>
            <a:off x="4335780" y="2526792"/>
            <a:ext cx="21031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图片与扫描件使用多模态模型</a:t>
            </a:r>
            <a:endParaRPr lang="zh-CN" sz="1200"/>
          </a:p>
        </p:txBody>
      </p:sp>
      <p:sp>
        <p:nvSpPr>
          <p:cNvPr id="17" name="03"/>
          <p:cNvSpPr txBox="1"/>
          <p:nvPr/>
        </p:nvSpPr>
        <p:spPr>
          <a:xfrm>
            <a:off x="8092440" y="2137562"/>
            <a:ext cx="295692" cy="2476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4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140"/>
          </a:p>
        </p:txBody>
      </p:sp>
      <p:sp>
        <p:nvSpPr>
          <p:cNvPr id="18" name="能力与速度"/>
          <p:cNvSpPr txBox="1"/>
          <p:nvPr/>
        </p:nvSpPr>
        <p:spPr>
          <a:xfrm>
            <a:off x="8526780" y="2107540"/>
            <a:ext cx="1112520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能力与速度</a:t>
            </a:r>
            <a:endParaRPr lang="zh-CN" sz="1560"/>
          </a:p>
        </p:txBody>
      </p:sp>
      <p:sp>
        <p:nvSpPr>
          <p:cNvPr id="19" name="复杂任务看上下文，常规任务看稳定性"/>
          <p:cNvSpPr txBox="1"/>
          <p:nvPr/>
        </p:nvSpPr>
        <p:spPr>
          <a:xfrm>
            <a:off x="8092440" y="2526792"/>
            <a:ext cx="27127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复杂任务看上下文，常规任务看稳定性</a:t>
            </a:r>
            <a:endParaRPr lang="zh-CN" sz="1200"/>
          </a:p>
        </p:txBody>
      </p:sp>
      <p:sp>
        <p:nvSpPr>
          <p:cNvPr id="20" name="Style"/>
          <p:cNvSpPr txBox="1"/>
          <p:nvPr/>
        </p:nvSpPr>
        <p:spPr>
          <a:xfrm>
            <a:off x="579120" y="3208020"/>
            <a:ext cx="5257800" cy="206502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1" name="Style"/>
          <p:cNvSpPr txBox="1"/>
          <p:nvPr/>
        </p:nvSpPr>
        <p:spPr>
          <a:xfrm>
            <a:off x="6080760" y="3208020"/>
            <a:ext cx="5532120" cy="2065020"/>
          </a:xfrm>
          <a:prstGeom prst="rect">
            <a:avLst/>
          </a:prstGeom>
          <a:solidFill>
            <a:srgbClr val="F5F8FD"/>
          </a:solidFill>
          <a:ln>
            <a:noFill/>
          </a:ln>
        </p:spPr>
      </p:sp>
      <p:sp>
        <p:nvSpPr>
          <p:cNvPr id="22" name="Local 模型"/>
          <p:cNvSpPr txBox="1"/>
          <p:nvPr/>
        </p:nvSpPr>
        <p:spPr>
          <a:xfrm>
            <a:off x="762000" y="3370478"/>
            <a:ext cx="1207413" cy="3543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4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Local 模型</a:t>
            </a:r>
            <a:endParaRPr lang="zh-CN" sz="1740"/>
          </a:p>
        </p:txBody>
      </p:sp>
      <p:sp>
        <p:nvSpPr>
          <p:cNvPr id="23" name="SaaS 模型"/>
          <p:cNvSpPr txBox="1"/>
          <p:nvPr/>
        </p:nvSpPr>
        <p:spPr>
          <a:xfrm>
            <a:off x="6263640" y="3370478"/>
            <a:ext cx="1178004" cy="35433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74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SaaS 模型</a:t>
            </a:r>
            <a:endParaRPr lang="zh-CN" sz="1740"/>
          </a:p>
        </p:txBody>
      </p:sp>
      <p:sp>
        <p:nvSpPr>
          <p:cNvPr id="24" name="数据不出公司，适合敏感和涉客信息"/>
          <p:cNvSpPr txBox="1"/>
          <p:nvPr/>
        </p:nvSpPr>
        <p:spPr>
          <a:xfrm>
            <a:off x="762000" y="3788512"/>
            <a:ext cx="268224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数据不出公司，适合敏感和涉客信息</a:t>
            </a:r>
            <a:endParaRPr lang="zh-CN" sz="1260"/>
          </a:p>
        </p:txBody>
      </p:sp>
      <p:sp>
        <p:nvSpPr>
          <p:cNvPr id="25" name="容量有限，可选模型较少"/>
          <p:cNvSpPr txBox="1"/>
          <p:nvPr/>
        </p:nvSpPr>
        <p:spPr>
          <a:xfrm>
            <a:off x="762000" y="4012528"/>
            <a:ext cx="188214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容量有限，可选模型较少</a:t>
            </a:r>
            <a:endParaRPr lang="zh-CN" sz="1260"/>
          </a:p>
        </p:txBody>
      </p:sp>
      <p:sp>
        <p:nvSpPr>
          <p:cNvPr id="26" name="模型更新快、响应较稳定"/>
          <p:cNvSpPr txBox="1"/>
          <p:nvPr/>
        </p:nvSpPr>
        <p:spPr>
          <a:xfrm>
            <a:off x="6263640" y="3788512"/>
            <a:ext cx="188214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模型更新快、响应较稳定</a:t>
            </a:r>
            <a:endParaRPr lang="zh-CN" sz="1260"/>
          </a:p>
        </p:txBody>
      </p:sp>
      <p:sp>
        <p:nvSpPr>
          <p:cNvPr id="27" name="仅处理不含敏感信息的内容"/>
          <p:cNvSpPr txBox="1"/>
          <p:nvPr/>
        </p:nvSpPr>
        <p:spPr>
          <a:xfrm>
            <a:off x="6263640" y="4012528"/>
            <a:ext cx="204216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仅处理不含敏感信息的内容</a:t>
            </a:r>
            <a:endParaRPr lang="zh-CN" sz="1260"/>
          </a:p>
        </p:txBody>
      </p:sp>
      <p:sp>
        <p:nvSpPr>
          <p:cNvPr id="28" name="local-deepseek-v4-flash（1M）"/>
          <p:cNvSpPr txBox="1"/>
          <p:nvPr/>
        </p:nvSpPr>
        <p:spPr>
          <a:xfrm>
            <a:off x="762000" y="4422191"/>
            <a:ext cx="2793444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local-deepseek-v4-flash（1M）</a:t>
            </a:r>
            <a:endParaRPr lang="zh-CN" sz="1380"/>
          </a:p>
        </p:txBody>
      </p:sp>
      <p:sp>
        <p:nvSpPr>
          <p:cNvPr id="29" name="local-qwen38（多模态）"/>
          <p:cNvSpPr txBox="1"/>
          <p:nvPr/>
        </p:nvSpPr>
        <p:spPr>
          <a:xfrm>
            <a:off x="762000" y="4667519"/>
            <a:ext cx="2144256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local-qwen38（多模态）</a:t>
            </a:r>
            <a:endParaRPr lang="zh-CN" sz="1380"/>
          </a:p>
        </p:txBody>
      </p:sp>
      <p:sp>
        <p:nvSpPr>
          <p:cNvPr id="30" name="saas-kimi-26（多模态）　 saas-glm-53"/>
          <p:cNvSpPr txBox="1"/>
          <p:nvPr/>
        </p:nvSpPr>
        <p:spPr>
          <a:xfrm>
            <a:off x="6263640" y="4424172"/>
            <a:ext cx="2971979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saas-kimi-26（多模态）　 saas-glm-53</a:t>
            </a:r>
            <a:endParaRPr lang="zh-CN" sz="1200"/>
          </a:p>
        </p:txBody>
      </p:sp>
      <p:sp>
        <p:nvSpPr>
          <p:cNvPr id="31" name="saas-deepseek-v4-pro（1M）"/>
          <p:cNvSpPr txBox="1"/>
          <p:nvPr/>
        </p:nvSpPr>
        <p:spPr>
          <a:xfrm>
            <a:off x="6263640" y="4637532"/>
            <a:ext cx="2329458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saas-deepseek-v4-pro（1M）</a:t>
            </a:r>
            <a:endParaRPr lang="zh-CN" sz="1200"/>
          </a:p>
        </p:txBody>
      </p:sp>
      <p:sp>
        <p:nvSpPr>
          <p:cNvPr id="32" name="saas-deepseek-v4-flash（1M）"/>
          <p:cNvSpPr txBox="1"/>
          <p:nvPr/>
        </p:nvSpPr>
        <p:spPr>
          <a:xfrm>
            <a:off x="6263640" y="4850892"/>
            <a:ext cx="2437983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saas-deepseek-v4-flash（1M）</a:t>
            </a:r>
            <a:endParaRPr lang="zh-CN" sz="1200"/>
          </a:p>
        </p:txBody>
      </p:sp>
      <p:sp>
        <p:nvSpPr>
          <p:cNvPr id="33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34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5" name="使用本人申请的 Key；建议使用 WorkMate KEY 自动同步泰为模型，凭"/>
          <p:cNvSpPr txBox="1"/>
          <p:nvPr/>
        </p:nvSpPr>
        <p:spPr>
          <a:xfrm>
            <a:off x="762000" y="5839511"/>
            <a:ext cx="7835325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使用本人申请的 Key；建议使用 WorkMate KEY 自动同步泰为模型，凭证不得共享或粘贴到对话中</a:t>
            </a:r>
            <a:endParaRPr lang="zh-CN" sz="1380"/>
          </a:p>
        </p:txBody>
      </p:sp>
      <p:sp>
        <p:nvSpPr>
          <p:cNvPr id="36" name="10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10 / 26</a:t>
            </a:r>
            <a:endParaRPr lang="zh-CN" sz="84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文件管理：会话文件与项目文件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上下文管理"/>
          <p:cNvSpPr txBox="1"/>
          <p:nvPr/>
        </p:nvSpPr>
        <p:spPr>
          <a:xfrm>
            <a:off x="10545187" y="217475"/>
            <a:ext cx="118961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上下文管理</a:t>
            </a:r>
            <a:endParaRPr lang="zh-CN" sz="780"/>
          </a:p>
        </p:txBody>
      </p:sp>
      <p:sp>
        <p:nvSpPr>
          <p:cNvPr id="6" name="09 / FILE SCOPE"/>
          <p:cNvSpPr txBox="1"/>
          <p:nvPr/>
        </p:nvSpPr>
        <p:spPr>
          <a:xfrm>
            <a:off x="579120" y="733044"/>
            <a:ext cx="106227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09 / FILE SCOPE</a:t>
            </a:r>
            <a:endParaRPr lang="zh-CN" sz="900"/>
          </a:p>
        </p:txBody>
      </p:sp>
      <p:sp>
        <p:nvSpPr>
          <p:cNvPr id="7" name="文件管理：会话文件与项目文件"/>
          <p:cNvSpPr txBox="1"/>
          <p:nvPr/>
        </p:nvSpPr>
        <p:spPr>
          <a:xfrm>
            <a:off x="579120" y="1014832"/>
            <a:ext cx="502920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文件管理：会话文件与项目文件</a:t>
            </a:r>
            <a:endParaRPr lang="zh-CN" sz="2760"/>
          </a:p>
        </p:txBody>
      </p:sp>
      <p:sp>
        <p:nvSpPr>
          <p:cNvPr id="8" name="按资料的使用范围组织文件"/>
          <p:cNvSpPr txBox="1"/>
          <p:nvPr/>
        </p:nvSpPr>
        <p:spPr>
          <a:xfrm>
            <a:off x="579120" y="1548232"/>
            <a:ext cx="204216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按资料的使用范围组织文件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Style"/>
          <p:cNvSpPr txBox="1"/>
          <p:nvPr/>
        </p:nvSpPr>
        <p:spPr>
          <a:xfrm>
            <a:off x="579120" y="2133600"/>
            <a:ext cx="5288280" cy="1524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2" name="会话文件"/>
          <p:cNvSpPr txBox="1"/>
          <p:nvPr/>
        </p:nvSpPr>
        <p:spPr>
          <a:xfrm>
            <a:off x="579120" y="2281428"/>
            <a:ext cx="1036320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会话文件</a:t>
            </a:r>
            <a:endParaRPr lang="zh-CN" sz="1800"/>
          </a:p>
        </p:txBody>
      </p:sp>
      <p:sp>
        <p:nvSpPr>
          <p:cNvPr id="13" name="仅当前会话可访问"/>
          <p:cNvSpPr txBox="1"/>
          <p:nvPr/>
        </p:nvSpPr>
        <p:spPr>
          <a:xfrm>
            <a:off x="579120" y="2684831"/>
            <a:ext cx="1524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仅当前会话可访问</a:t>
            </a:r>
            <a:endParaRPr lang="zh-CN" sz="1380"/>
          </a:p>
        </p:txBody>
      </p:sp>
      <p:sp>
        <p:nvSpPr>
          <p:cNvPr id="14" name="适合临时材料与中间结果"/>
          <p:cNvSpPr txBox="1"/>
          <p:nvPr/>
        </p:nvSpPr>
        <p:spPr>
          <a:xfrm>
            <a:off x="579120" y="2930159"/>
            <a:ext cx="204978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适合临时材料与中间结果</a:t>
            </a:r>
            <a:endParaRPr lang="zh-CN" sz="1380"/>
          </a:p>
        </p:txBody>
      </p:sp>
      <p:sp>
        <p:nvSpPr>
          <p:cNvPr id="15" name="删除会话时同步删除"/>
          <p:cNvSpPr txBox="1"/>
          <p:nvPr/>
        </p:nvSpPr>
        <p:spPr>
          <a:xfrm>
            <a:off x="579120" y="3175487"/>
            <a:ext cx="1699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删除会话时同步删除</a:t>
            </a:r>
            <a:endParaRPr lang="zh-CN" sz="1380"/>
          </a:p>
        </p:txBody>
      </p:sp>
      <p:pic>
        <p:nvPicPr>
          <p:cNvPr id="16" name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4560" y="3429000"/>
            <a:ext cx="2057400" cy="2057400"/>
          </a:xfrm>
          <a:prstGeom prst="rect">
            <a:avLst/>
          </a:prstGeom>
        </p:spPr>
      </p:pic>
      <p:sp>
        <p:nvSpPr>
          <p:cNvPr id="17" name="Style"/>
          <p:cNvSpPr txBox="1"/>
          <p:nvPr/>
        </p:nvSpPr>
        <p:spPr>
          <a:xfrm>
            <a:off x="6324600" y="2133600"/>
            <a:ext cx="5288280" cy="1524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8" name="项目文件"/>
          <p:cNvSpPr txBox="1"/>
          <p:nvPr/>
        </p:nvSpPr>
        <p:spPr>
          <a:xfrm>
            <a:off x="6324600" y="2281428"/>
            <a:ext cx="1036320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项目文件</a:t>
            </a:r>
            <a:endParaRPr lang="zh-CN" sz="1800"/>
          </a:p>
        </p:txBody>
      </p:sp>
      <p:sp>
        <p:nvSpPr>
          <p:cNvPr id="19" name="工作区内跨会话共享"/>
          <p:cNvSpPr txBox="1"/>
          <p:nvPr/>
        </p:nvSpPr>
        <p:spPr>
          <a:xfrm>
            <a:off x="6324600" y="2684831"/>
            <a:ext cx="1699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工作区内跨会话共享</a:t>
            </a:r>
            <a:endParaRPr lang="zh-CN" sz="1380"/>
          </a:p>
        </p:txBody>
      </p:sp>
      <p:sp>
        <p:nvSpPr>
          <p:cNvPr id="20" name="适合模板、规范和长期资料"/>
          <p:cNvSpPr txBox="1"/>
          <p:nvPr/>
        </p:nvSpPr>
        <p:spPr>
          <a:xfrm>
            <a:off x="6324600" y="2930159"/>
            <a:ext cx="2225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适合模板、规范和长期资料</a:t>
            </a:r>
            <a:endParaRPr lang="zh-CN" sz="1380"/>
          </a:p>
        </p:txBody>
      </p:sp>
      <p:sp>
        <p:nvSpPr>
          <p:cNvPr id="21" name="可被多个会话反复引用"/>
          <p:cNvSpPr txBox="1"/>
          <p:nvPr/>
        </p:nvSpPr>
        <p:spPr>
          <a:xfrm>
            <a:off x="6324600" y="3175487"/>
            <a:ext cx="187452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可被多个会话反复引用</a:t>
            </a:r>
            <a:endParaRPr lang="zh-CN" sz="1380"/>
          </a:p>
        </p:txBody>
      </p:sp>
      <p:pic>
        <p:nvPicPr>
          <p:cNvPr id="22" name="image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352" y="3429000"/>
            <a:ext cx="4000775" cy="2057400"/>
          </a:xfrm>
          <a:prstGeom prst="rect">
            <a:avLst/>
          </a:prstGeom>
        </p:spPr>
      </p:pic>
      <p:sp>
        <p:nvSpPr>
          <p:cNvPr id="23" name="Style"/>
          <p:cNvSpPr txBox="1"/>
          <p:nvPr/>
        </p:nvSpPr>
        <p:spPr>
          <a:xfrm>
            <a:off x="6096000" y="2133600"/>
            <a:ext cx="7620" cy="335280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24" name="Style"/>
          <p:cNvSpPr txBox="1"/>
          <p:nvPr/>
        </p:nvSpPr>
        <p:spPr>
          <a:xfrm>
            <a:off x="579120" y="5600700"/>
            <a:ext cx="11033760" cy="320040"/>
          </a:xfrm>
          <a:prstGeom prst="rect">
            <a:avLst/>
          </a:prstGeom>
          <a:solidFill>
            <a:srgbClr val="F5F8FD"/>
          </a:solidFill>
          <a:ln>
            <a:noFill/>
          </a:ln>
        </p:spPr>
      </p:sp>
      <p:sp>
        <p:nvSpPr>
          <p:cNvPr id="25" name="@ 引用文件或目录　明确本次需要读取的资料，支持文件检索。"/>
          <p:cNvSpPr txBox="1"/>
          <p:nvPr/>
        </p:nvSpPr>
        <p:spPr>
          <a:xfrm>
            <a:off x="746760" y="5647792"/>
            <a:ext cx="4634032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@ 引用文件或目录　明确本次需要读取的资料，支持文件检索。</a:t>
            </a:r>
            <a:endParaRPr lang="zh-CN" sz="1260"/>
          </a:p>
        </p:txBody>
      </p:sp>
      <p:sp>
        <p:nvSpPr>
          <p:cNvPr id="26" name="Style"/>
          <p:cNvSpPr txBox="1"/>
          <p:nvPr/>
        </p:nvSpPr>
        <p:spPr>
          <a:xfrm>
            <a:off x="579120" y="6012180"/>
            <a:ext cx="11033760" cy="28956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7" name="Style"/>
          <p:cNvSpPr txBox="1"/>
          <p:nvPr/>
        </p:nvSpPr>
        <p:spPr>
          <a:xfrm>
            <a:off x="579120" y="6012180"/>
            <a:ext cx="22860" cy="28956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28" name="删除工作区前确认影响：相关会话、自动任务、能力配置和项目文件"/>
          <p:cNvSpPr txBox="1"/>
          <p:nvPr/>
        </p:nvSpPr>
        <p:spPr>
          <a:xfrm>
            <a:off x="746760" y="6054852"/>
            <a:ext cx="46939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删除工作区前确认影响：相关会话、自动任务、能力配置和项目文件</a:t>
            </a:r>
            <a:endParaRPr lang="zh-CN" sz="1200"/>
          </a:p>
        </p:txBody>
      </p:sp>
      <p:sp>
        <p:nvSpPr>
          <p:cNvPr id="29" name="11 / 26"/>
          <p:cNvSpPr txBox="1"/>
          <p:nvPr/>
        </p:nvSpPr>
        <p:spPr>
          <a:xfrm>
            <a:off x="11274862" y="6489344"/>
            <a:ext cx="45993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11 / 26</a:t>
            </a:r>
            <a:endParaRPr lang="zh-CN" sz="84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经验复用：Skill、专家与专家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能力复用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能力复用</a:t>
            </a:r>
            <a:endParaRPr lang="zh-CN" sz="780"/>
          </a:p>
        </p:txBody>
      </p:sp>
      <p:sp>
        <p:nvSpPr>
          <p:cNvPr id="6" name="10 / REUSE"/>
          <p:cNvSpPr txBox="1"/>
          <p:nvPr/>
        </p:nvSpPr>
        <p:spPr>
          <a:xfrm>
            <a:off x="579120" y="733044"/>
            <a:ext cx="755392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10 / REUSE</a:t>
            </a:r>
            <a:endParaRPr lang="zh-CN" sz="900"/>
          </a:p>
        </p:txBody>
      </p:sp>
      <p:sp>
        <p:nvSpPr>
          <p:cNvPr id="7" name="经验复用：Skill、专家与专家团"/>
          <p:cNvSpPr txBox="1"/>
          <p:nvPr/>
        </p:nvSpPr>
        <p:spPr>
          <a:xfrm>
            <a:off x="579120" y="1014832"/>
            <a:ext cx="5024676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经验复用：Skill、专家与专家团</a:t>
            </a:r>
            <a:endParaRPr lang="zh-CN" sz="2760"/>
          </a:p>
        </p:txBody>
      </p:sp>
      <p:sp>
        <p:nvSpPr>
          <p:cNvPr id="8" name="按任务的标准化程度与协作需要，选择合适的复用形式"/>
          <p:cNvSpPr txBox="1"/>
          <p:nvPr/>
        </p:nvSpPr>
        <p:spPr>
          <a:xfrm>
            <a:off x="579120" y="1548232"/>
            <a:ext cx="396240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按任务的标准化程度与协作需要，选择合适的复用形式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Style"/>
          <p:cNvSpPr txBox="1"/>
          <p:nvPr/>
        </p:nvSpPr>
        <p:spPr>
          <a:xfrm>
            <a:off x="579120" y="2133600"/>
            <a:ext cx="3515335" cy="1524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2" name="Skill"/>
          <p:cNvSpPr txBox="1"/>
          <p:nvPr/>
        </p:nvSpPr>
        <p:spPr>
          <a:xfrm>
            <a:off x="579120" y="2304288"/>
            <a:ext cx="576203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Skill</a:t>
            </a:r>
            <a:endParaRPr lang="zh-CN" sz="1800"/>
          </a:p>
        </p:txBody>
      </p:sp>
      <p:sp>
        <p:nvSpPr>
          <p:cNvPr id="13" name="任务说明 + 操作流程 + 检查规则"/>
          <p:cNvSpPr txBox="1"/>
          <p:nvPr/>
        </p:nvSpPr>
        <p:spPr>
          <a:xfrm>
            <a:off x="579120" y="2722321"/>
            <a:ext cx="2559784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任务说明 + 操作流程 + 检查规则</a:t>
            </a:r>
            <a:endParaRPr lang="zh-CN" sz="1320"/>
          </a:p>
        </p:txBody>
      </p:sp>
      <p:sp>
        <p:nvSpPr>
          <p:cNvPr id="14" name="适合重复、规则清晰的流程"/>
          <p:cNvSpPr txBox="1"/>
          <p:nvPr/>
        </p:nvSpPr>
        <p:spPr>
          <a:xfrm>
            <a:off x="579120" y="2956993"/>
            <a:ext cx="213360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适合重复、规则清晰的流程</a:t>
            </a:r>
            <a:endParaRPr lang="zh-CN" sz="1320"/>
          </a:p>
        </p:txBody>
      </p:sp>
      <p:sp>
        <p:nvSpPr>
          <p:cNvPr id="15" name="已接入泰为 SkillHub"/>
          <p:cNvSpPr txBox="1"/>
          <p:nvPr/>
        </p:nvSpPr>
        <p:spPr>
          <a:xfrm>
            <a:off x="579120" y="3191666"/>
            <a:ext cx="1645146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已接入泰为 SkillHub</a:t>
            </a:r>
            <a:endParaRPr lang="zh-CN" sz="1320"/>
          </a:p>
        </p:txBody>
      </p:sp>
      <p:sp>
        <p:nvSpPr>
          <p:cNvPr id="16" name="Style"/>
          <p:cNvSpPr txBox="1"/>
          <p:nvPr/>
        </p:nvSpPr>
        <p:spPr>
          <a:xfrm>
            <a:off x="4338320" y="2133600"/>
            <a:ext cx="3515335" cy="1524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7" name="专家"/>
          <p:cNvSpPr txBox="1"/>
          <p:nvPr/>
        </p:nvSpPr>
        <p:spPr>
          <a:xfrm>
            <a:off x="4338280" y="2304288"/>
            <a:ext cx="579120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专家</a:t>
            </a:r>
            <a:endParaRPr lang="zh-CN" sz="1800"/>
          </a:p>
        </p:txBody>
      </p:sp>
      <p:sp>
        <p:nvSpPr>
          <p:cNvPr id="18" name="角色提示词 + 特定 Skills 以及连接器"/>
          <p:cNvSpPr txBox="1"/>
          <p:nvPr/>
        </p:nvSpPr>
        <p:spPr>
          <a:xfrm>
            <a:off x="4338280" y="2722321"/>
            <a:ext cx="2859345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角色提示词 + 特定 Skills 以及连接器</a:t>
            </a:r>
            <a:endParaRPr lang="zh-CN" sz="1320"/>
          </a:p>
        </p:txBody>
      </p:sp>
      <p:sp>
        <p:nvSpPr>
          <p:cNvPr id="19" name="适合边界清晰的专业任务"/>
          <p:cNvSpPr txBox="1"/>
          <p:nvPr/>
        </p:nvSpPr>
        <p:spPr>
          <a:xfrm>
            <a:off x="4338280" y="2956993"/>
            <a:ext cx="196596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适合边界清晰的专业任务</a:t>
            </a:r>
            <a:endParaRPr lang="zh-CN" sz="1320"/>
          </a:p>
        </p:txBody>
      </p:sp>
      <p:sp>
        <p:nvSpPr>
          <p:cNvPr id="20" name="Style"/>
          <p:cNvSpPr txBox="1"/>
          <p:nvPr/>
        </p:nvSpPr>
        <p:spPr>
          <a:xfrm>
            <a:off x="8097520" y="2133600"/>
            <a:ext cx="3515335" cy="1524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21" name="专家团"/>
          <p:cNvSpPr txBox="1"/>
          <p:nvPr/>
        </p:nvSpPr>
        <p:spPr>
          <a:xfrm>
            <a:off x="8097500" y="2304288"/>
            <a:ext cx="807720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专家团</a:t>
            </a:r>
            <a:endParaRPr lang="zh-CN" sz="1800"/>
          </a:p>
        </p:txBody>
      </p:sp>
      <p:sp>
        <p:nvSpPr>
          <p:cNvPr id="22" name="主专家 + 分工专家以及协作机制"/>
          <p:cNvSpPr txBox="1"/>
          <p:nvPr/>
        </p:nvSpPr>
        <p:spPr>
          <a:xfrm>
            <a:off x="8097500" y="2722321"/>
            <a:ext cx="2514362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主专家 + 分工专家以及协作机制</a:t>
            </a:r>
            <a:endParaRPr lang="zh-CN" sz="1320"/>
          </a:p>
        </p:txBody>
      </p:sp>
      <p:sp>
        <p:nvSpPr>
          <p:cNvPr id="23" name="适合调研、分析、执行与复核"/>
          <p:cNvSpPr txBox="1"/>
          <p:nvPr/>
        </p:nvSpPr>
        <p:spPr>
          <a:xfrm>
            <a:off x="8097500" y="2956993"/>
            <a:ext cx="230124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适合调研、分析、执行与复核</a:t>
            </a:r>
            <a:endParaRPr lang="zh-CN" sz="1320"/>
          </a:p>
        </p:txBody>
      </p:sp>
      <p:pic>
        <p:nvPicPr>
          <p:cNvPr id="24" name="image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440" y="3467100"/>
            <a:ext cx="5547360" cy="2133600"/>
          </a:xfrm>
          <a:prstGeom prst="rect">
            <a:avLst/>
          </a:prstGeom>
        </p:spPr>
      </p:pic>
      <p:sp>
        <p:nvSpPr>
          <p:cNvPr id="25" name="通过内置 expert-manager 创建自己的专家 / "/>
          <p:cNvSpPr txBox="1"/>
          <p:nvPr/>
        </p:nvSpPr>
        <p:spPr>
          <a:xfrm>
            <a:off x="8534400" y="3738372"/>
            <a:ext cx="3231713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通过内置 expert-manager 创建自己的专家 / </a:t>
            </a:r>
            <a:endParaRPr lang="zh-CN" sz="1200"/>
          </a:p>
        </p:txBody>
      </p:sp>
      <p:sp>
        <p:nvSpPr>
          <p:cNvPr id="26" name="专家团。"/>
          <p:cNvSpPr txBox="1"/>
          <p:nvPr/>
        </p:nvSpPr>
        <p:spPr>
          <a:xfrm>
            <a:off x="8534400" y="3951732"/>
            <a:ext cx="7315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专家团。</a:t>
            </a:r>
            <a:endParaRPr lang="zh-CN" sz="1200"/>
          </a:p>
        </p:txBody>
      </p:sp>
      <p:sp>
        <p:nvSpPr>
          <p:cNvPr id="27" name="召唤专家会新建会话，当前无法在已有会话中"/>
          <p:cNvSpPr txBox="1"/>
          <p:nvPr/>
        </p:nvSpPr>
        <p:spPr>
          <a:xfrm>
            <a:off x="8534400" y="4165092"/>
            <a:ext cx="31699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召唤专家会新建会话，当前无法在已有会话中</a:t>
            </a:r>
            <a:endParaRPr lang="zh-CN" sz="1200"/>
          </a:p>
        </p:txBody>
      </p:sp>
      <p:sp>
        <p:nvSpPr>
          <p:cNvPr id="28" name="直接召唤。"/>
          <p:cNvSpPr txBox="1"/>
          <p:nvPr/>
        </p:nvSpPr>
        <p:spPr>
          <a:xfrm>
            <a:off x="8534400" y="4378452"/>
            <a:ext cx="8839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直接召唤。</a:t>
            </a:r>
            <a:endParaRPr lang="zh-CN" sz="1200"/>
          </a:p>
        </p:txBody>
      </p:sp>
      <p:sp>
        <p:nvSpPr>
          <p:cNvPr id="29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30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1" name="规则清晰的步骤沉淀为 Skill；专业分工通过专家或专家团组织"/>
          <p:cNvSpPr txBox="1"/>
          <p:nvPr/>
        </p:nvSpPr>
        <p:spPr>
          <a:xfrm>
            <a:off x="762000" y="5839511"/>
            <a:ext cx="4906208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规则清晰的步骤沉淀为 Skill；专业分工通过专家或专家团组织</a:t>
            </a:r>
            <a:endParaRPr lang="zh-CN" sz="1380"/>
          </a:p>
        </p:txBody>
      </p:sp>
      <p:sp>
        <p:nvSpPr>
          <p:cNvPr id="32" name="12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12 / 26</a:t>
            </a:r>
            <a:endParaRPr lang="zh-CN" sz="84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文件预览与编辑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上下文管理"/>
          <p:cNvSpPr txBox="1"/>
          <p:nvPr/>
        </p:nvSpPr>
        <p:spPr>
          <a:xfrm>
            <a:off x="10545187" y="217475"/>
            <a:ext cx="118961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上下文管理</a:t>
            </a:r>
            <a:endParaRPr lang="zh-CN" sz="780"/>
          </a:p>
        </p:txBody>
      </p:sp>
      <p:sp>
        <p:nvSpPr>
          <p:cNvPr id="6" name="11 / ARTIFACTS"/>
          <p:cNvSpPr txBox="1"/>
          <p:nvPr/>
        </p:nvSpPr>
        <p:spPr>
          <a:xfrm>
            <a:off x="579120" y="733044"/>
            <a:ext cx="97839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11 / ARTIFACTS</a:t>
            </a:r>
            <a:endParaRPr lang="zh-CN" sz="900"/>
          </a:p>
        </p:txBody>
      </p:sp>
      <p:sp>
        <p:nvSpPr>
          <p:cNvPr id="7" name="文件预览与编辑"/>
          <p:cNvSpPr txBox="1"/>
          <p:nvPr/>
        </p:nvSpPr>
        <p:spPr>
          <a:xfrm>
            <a:off x="579120" y="1014832"/>
            <a:ext cx="257556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文件预览与编辑</a:t>
            </a:r>
            <a:endParaRPr lang="zh-CN" sz="2760"/>
          </a:p>
        </p:txBody>
      </p:sp>
      <p:sp>
        <p:nvSpPr>
          <p:cNvPr id="8" name="支持 MD、DOCX、PPTX、PDF、HTML 等格式预览，并支持 MD、HT"/>
          <p:cNvSpPr txBox="1"/>
          <p:nvPr/>
        </p:nvSpPr>
        <p:spPr>
          <a:xfrm>
            <a:off x="579120" y="1548232"/>
            <a:ext cx="5791319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支持 MD、DOCX、PPTX、PDF、HTML 等格式预览，并支持 MD、HTML 编辑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MD 的预览与编辑"/>
          <p:cNvSpPr txBox="1"/>
          <p:nvPr/>
        </p:nvSpPr>
        <p:spPr>
          <a:xfrm>
            <a:off x="579120" y="2211019"/>
            <a:ext cx="1758791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MD 的预览与编辑</a:t>
            </a:r>
            <a:endParaRPr lang="zh-CN" sz="1620"/>
          </a:p>
        </p:txBody>
      </p:sp>
      <p:sp>
        <p:nvSpPr>
          <p:cNvPr id="12" name="PPT 的预览"/>
          <p:cNvSpPr txBox="1"/>
          <p:nvPr/>
        </p:nvSpPr>
        <p:spPr>
          <a:xfrm>
            <a:off x="6324600" y="2211019"/>
            <a:ext cx="1203722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PPT 的预览</a:t>
            </a:r>
            <a:endParaRPr lang="zh-CN" sz="1620"/>
          </a:p>
        </p:txBody>
      </p:sp>
      <p:pic>
        <p:nvPicPr>
          <p:cNvPr id="13" name="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934" y="2667000"/>
            <a:ext cx="4130651" cy="2819400"/>
          </a:xfrm>
          <a:prstGeom prst="rect">
            <a:avLst/>
          </a:prstGeom>
        </p:spPr>
      </p:pic>
      <p:pic>
        <p:nvPicPr>
          <p:cNvPr id="14" name="imag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600" y="2830930"/>
            <a:ext cx="5288280" cy="2491540"/>
          </a:xfrm>
          <a:prstGeom prst="rect">
            <a:avLst/>
          </a:prstGeom>
        </p:spPr>
      </p:pic>
      <p:sp>
        <p:nvSpPr>
          <p:cNvPr id="15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6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7" name="在同一工作空间中查看资料、核对成果，并继续修改可编辑内容"/>
          <p:cNvSpPr txBox="1"/>
          <p:nvPr/>
        </p:nvSpPr>
        <p:spPr>
          <a:xfrm>
            <a:off x="762000" y="5839511"/>
            <a:ext cx="502920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在同一工作空间中查看资料、核对成果，并继续修改可编辑内容</a:t>
            </a:r>
            <a:endParaRPr lang="zh-CN" sz="1380"/>
          </a:p>
        </p:txBody>
      </p:sp>
      <p:sp>
        <p:nvSpPr>
          <p:cNvPr id="18" name="13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13 / 26</a:t>
            </a:r>
            <a:endParaRPr lang="zh-CN" sz="84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连接器：连接外部信息与业务系统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外部能力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外部能力</a:t>
            </a:r>
            <a:endParaRPr lang="zh-CN" sz="780"/>
          </a:p>
        </p:txBody>
      </p:sp>
      <p:sp>
        <p:nvSpPr>
          <p:cNvPr id="6" name="12 / CONNECTORS"/>
          <p:cNvSpPr txBox="1"/>
          <p:nvPr/>
        </p:nvSpPr>
        <p:spPr>
          <a:xfrm>
            <a:off x="579120" y="733044"/>
            <a:ext cx="118026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12 / CONNECTORS</a:t>
            </a:r>
            <a:endParaRPr lang="zh-CN" sz="900"/>
          </a:p>
        </p:txBody>
      </p:sp>
      <p:sp>
        <p:nvSpPr>
          <p:cNvPr id="7" name="连接器：连接外部信息与业务系统"/>
          <p:cNvSpPr txBox="1"/>
          <p:nvPr/>
        </p:nvSpPr>
        <p:spPr>
          <a:xfrm>
            <a:off x="579120" y="1014832"/>
            <a:ext cx="537972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连接器：连接外部信息与业务系统</a:t>
            </a:r>
            <a:endParaRPr lang="zh-CN" sz="2760"/>
          </a:p>
        </p:txBody>
      </p:sp>
      <p:sp>
        <p:nvSpPr>
          <p:cNvPr id="8" name="Agent 在授权范围内访问系统，获取业务信息并执行任务"/>
          <p:cNvSpPr txBox="1"/>
          <p:nvPr/>
        </p:nvSpPr>
        <p:spPr>
          <a:xfrm>
            <a:off x="579120" y="1548232"/>
            <a:ext cx="4130457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Agent 在授权范围内访问系统，获取业务信息并执行任务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image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429" y="2263140"/>
            <a:ext cx="5264682" cy="3238500"/>
          </a:xfrm>
          <a:prstGeom prst="rect">
            <a:avLst/>
          </a:prstGeom>
        </p:spPr>
      </p:pic>
      <p:sp>
        <p:nvSpPr>
          <p:cNvPr id="12" name="01"/>
          <p:cNvSpPr txBox="1"/>
          <p:nvPr/>
        </p:nvSpPr>
        <p:spPr>
          <a:xfrm>
            <a:off x="7574280" y="2252472"/>
            <a:ext cx="27557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200"/>
          </a:p>
        </p:txBody>
      </p:sp>
      <p:sp>
        <p:nvSpPr>
          <p:cNvPr id="13" name="研发与数据"/>
          <p:cNvSpPr txBox="1"/>
          <p:nvPr/>
        </p:nvSpPr>
        <p:spPr>
          <a:xfrm>
            <a:off x="8016240" y="2233879"/>
            <a:ext cx="115062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研发与数据</a:t>
            </a:r>
            <a:endParaRPr lang="zh-CN" sz="1620"/>
          </a:p>
        </p:txBody>
      </p:sp>
      <p:sp>
        <p:nvSpPr>
          <p:cNvPr id="14" name="DPMP、华泰 GitLab、MySQL、HT Wiki"/>
          <p:cNvSpPr txBox="1"/>
          <p:nvPr/>
        </p:nvSpPr>
        <p:spPr>
          <a:xfrm>
            <a:off x="8016240" y="2595372"/>
            <a:ext cx="2911614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DPMP、华泰 GitLab、MySQL、HT Wiki</a:t>
            </a:r>
            <a:endParaRPr lang="zh-CN" sz="1200"/>
          </a:p>
        </p:txBody>
      </p:sp>
      <p:sp>
        <p:nvSpPr>
          <p:cNvPr id="15" name="02"/>
          <p:cNvSpPr txBox="1"/>
          <p:nvPr/>
        </p:nvSpPr>
        <p:spPr>
          <a:xfrm>
            <a:off x="7574280" y="334975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200"/>
          </a:p>
        </p:txBody>
      </p:sp>
      <p:sp>
        <p:nvSpPr>
          <p:cNvPr id="16" name="办公协同"/>
          <p:cNvSpPr txBox="1"/>
          <p:nvPr/>
        </p:nvSpPr>
        <p:spPr>
          <a:xfrm>
            <a:off x="8016240" y="333115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办公协同</a:t>
            </a:r>
            <a:endParaRPr lang="zh-CN" sz="1620"/>
          </a:p>
        </p:txBody>
      </p:sp>
      <p:sp>
        <p:nvSpPr>
          <p:cNvPr id="17" name="华泰邮箱、飞书、华泰云文档、多维表格"/>
          <p:cNvSpPr txBox="1"/>
          <p:nvPr/>
        </p:nvSpPr>
        <p:spPr>
          <a:xfrm>
            <a:off x="8016240" y="3692652"/>
            <a:ext cx="28651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华泰邮箱、飞书、华泰云文档、多维表格</a:t>
            </a:r>
            <a:endParaRPr lang="zh-CN" sz="1200"/>
          </a:p>
        </p:txBody>
      </p:sp>
      <p:sp>
        <p:nvSpPr>
          <p:cNvPr id="18" name="03"/>
          <p:cNvSpPr txBox="1"/>
          <p:nvPr/>
        </p:nvSpPr>
        <p:spPr>
          <a:xfrm>
            <a:off x="7574280" y="444703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200"/>
          </a:p>
        </p:txBody>
      </p:sp>
      <p:sp>
        <p:nvSpPr>
          <p:cNvPr id="19" name="业务场景"/>
          <p:cNvSpPr txBox="1"/>
          <p:nvPr/>
        </p:nvSpPr>
        <p:spPr>
          <a:xfrm>
            <a:off x="8016240" y="442843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业务场景</a:t>
            </a:r>
            <a:endParaRPr lang="zh-CN" sz="1620"/>
          </a:p>
        </p:txBody>
      </p:sp>
      <p:sp>
        <p:nvSpPr>
          <p:cNvPr id="20" name="泰为 HiAgent、万得、企查查、A股市场等"/>
          <p:cNvSpPr txBox="1"/>
          <p:nvPr/>
        </p:nvSpPr>
        <p:spPr>
          <a:xfrm>
            <a:off x="8016240" y="4789932"/>
            <a:ext cx="296924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泰为 HiAgent、万得、企查查、A股市场等</a:t>
            </a:r>
            <a:endParaRPr lang="zh-CN" sz="1200"/>
          </a:p>
        </p:txBody>
      </p:sp>
      <p:sp>
        <p:nvSpPr>
          <p:cNvPr id="21" name="14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14 / 26</a:t>
            </a:r>
            <a:endParaRPr lang="zh-CN" sz="84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连接器的启用与接入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外部能力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外部能力</a:t>
            </a:r>
            <a:endParaRPr lang="zh-CN" sz="780"/>
          </a:p>
        </p:txBody>
      </p:sp>
      <p:sp>
        <p:nvSpPr>
          <p:cNvPr id="6" name="13 / CONNECTOR SETUP"/>
          <p:cNvSpPr txBox="1"/>
          <p:nvPr/>
        </p:nvSpPr>
        <p:spPr>
          <a:xfrm>
            <a:off x="579120" y="733044"/>
            <a:ext cx="1520726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13 / CONNECTOR SETUP</a:t>
            </a:r>
            <a:endParaRPr lang="zh-CN" sz="900"/>
          </a:p>
        </p:txBody>
      </p:sp>
      <p:sp>
        <p:nvSpPr>
          <p:cNvPr id="7" name="连接器的启用与接入"/>
          <p:cNvSpPr txBox="1"/>
          <p:nvPr/>
        </p:nvSpPr>
        <p:spPr>
          <a:xfrm>
            <a:off x="579120" y="1014832"/>
            <a:ext cx="327660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连接器的启用与接入</a:t>
            </a:r>
            <a:endParaRPr lang="zh-CN" sz="2760"/>
          </a:p>
        </p:txBody>
      </p:sp>
      <p:sp>
        <p:nvSpPr>
          <p:cNvPr id="8" name="按任务需要启用能力，明确本次要使用的系统"/>
          <p:cNvSpPr txBox="1"/>
          <p:nvPr/>
        </p:nvSpPr>
        <p:spPr>
          <a:xfrm>
            <a:off x="579120" y="1548232"/>
            <a:ext cx="332232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按任务需要启用能力，明确本次要使用的系统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01"/>
          <p:cNvSpPr txBox="1"/>
          <p:nvPr/>
        </p:nvSpPr>
        <p:spPr>
          <a:xfrm>
            <a:off x="579120" y="2252472"/>
            <a:ext cx="27557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200"/>
          </a:p>
        </p:txBody>
      </p:sp>
      <p:sp>
        <p:nvSpPr>
          <p:cNvPr id="12" name="按需开启"/>
          <p:cNvSpPr txBox="1"/>
          <p:nvPr/>
        </p:nvSpPr>
        <p:spPr>
          <a:xfrm>
            <a:off x="1021080" y="223387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按需开启</a:t>
            </a:r>
            <a:endParaRPr lang="zh-CN" sz="1620"/>
          </a:p>
        </p:txBody>
      </p:sp>
      <p:sp>
        <p:nvSpPr>
          <p:cNvPr id="13" name="连接器按需开启，尤其是 MCP 类型的连接器，"/>
          <p:cNvSpPr txBox="1"/>
          <p:nvPr/>
        </p:nvSpPr>
        <p:spPr>
          <a:xfrm>
            <a:off x="1021080" y="2593391"/>
            <a:ext cx="3788033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连接器按需开启，尤其是 MCP 类型的连接器，</a:t>
            </a:r>
            <a:endParaRPr lang="zh-CN" sz="1380"/>
          </a:p>
        </p:txBody>
      </p:sp>
      <p:sp>
        <p:nvSpPr>
          <p:cNvPr id="14" name="会持续占用上下文。"/>
          <p:cNvSpPr txBox="1"/>
          <p:nvPr/>
        </p:nvSpPr>
        <p:spPr>
          <a:xfrm>
            <a:off x="1021080" y="2838719"/>
            <a:ext cx="169926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会持续占用上下文。</a:t>
            </a:r>
            <a:endParaRPr lang="zh-CN" sz="1380"/>
          </a:p>
        </p:txBody>
      </p:sp>
      <p:sp>
        <p:nvSpPr>
          <p:cNvPr id="15" name="02"/>
          <p:cNvSpPr txBox="1"/>
          <p:nvPr/>
        </p:nvSpPr>
        <p:spPr>
          <a:xfrm>
            <a:off x="579120" y="374599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200"/>
          </a:p>
        </p:txBody>
      </p:sp>
      <p:sp>
        <p:nvSpPr>
          <p:cNvPr id="16" name="通过 # 明确指定"/>
          <p:cNvSpPr txBox="1"/>
          <p:nvPr/>
        </p:nvSpPr>
        <p:spPr>
          <a:xfrm>
            <a:off x="1021080" y="3727399"/>
            <a:ext cx="1616869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通过 # 明确指定</a:t>
            </a:r>
            <a:endParaRPr lang="zh-CN" sz="1620"/>
          </a:p>
        </p:txBody>
      </p:sp>
      <p:sp>
        <p:nvSpPr>
          <p:cNvPr id="17" name="可以在对话框中通过 # 指定连接器，"/>
          <p:cNvSpPr txBox="1"/>
          <p:nvPr/>
        </p:nvSpPr>
        <p:spPr>
          <a:xfrm>
            <a:off x="1021080" y="4086911"/>
            <a:ext cx="2972752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可以在对话框中通过 # 指定连接器，</a:t>
            </a:r>
            <a:endParaRPr lang="zh-CN" sz="1380"/>
          </a:p>
        </p:txBody>
      </p:sp>
      <p:sp>
        <p:nvSpPr>
          <p:cNvPr id="18" name="确保 Agent 使用的准确性。"/>
          <p:cNvSpPr txBox="1"/>
          <p:nvPr/>
        </p:nvSpPr>
        <p:spPr>
          <a:xfrm>
            <a:off x="1021080" y="4332239"/>
            <a:ext cx="2292191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确保 Agent 使用的准确性。</a:t>
            </a:r>
            <a:endParaRPr lang="zh-CN" sz="1380"/>
          </a:p>
        </p:txBody>
      </p:sp>
      <p:sp>
        <p:nvSpPr>
          <p:cNvPr id="19" name="Style"/>
          <p:cNvSpPr txBox="1"/>
          <p:nvPr/>
        </p:nvSpPr>
        <p:spPr>
          <a:xfrm>
            <a:off x="6294120" y="2202180"/>
            <a:ext cx="5318760" cy="3101340"/>
          </a:xfrm>
          <a:prstGeom prst="rect">
            <a:avLst/>
          </a:prstGeom>
          <a:solidFill>
            <a:srgbClr val="F5F8FD"/>
          </a:solidFill>
          <a:ln>
            <a:noFill/>
          </a:ln>
        </p:spPr>
      </p:sp>
      <p:sp>
        <p:nvSpPr>
          <p:cNvPr id="20" name="内部系统尚无连接器时"/>
          <p:cNvSpPr txBox="1"/>
          <p:nvPr/>
        </p:nvSpPr>
        <p:spPr>
          <a:xfrm>
            <a:off x="6499860" y="2410968"/>
            <a:ext cx="2407920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内部系统尚无连接器时</a:t>
            </a:r>
            <a:endParaRPr lang="zh-CN" sz="1800"/>
          </a:p>
        </p:txBody>
      </p:sp>
      <p:sp>
        <p:nvSpPr>
          <p:cNvPr id="21" name="方案 A　建设系统 CLI"/>
          <p:cNvSpPr txBox="1"/>
          <p:nvPr/>
        </p:nvSpPr>
        <p:spPr>
          <a:xfrm>
            <a:off x="6499860" y="3004871"/>
            <a:ext cx="1852791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方案 A　建设系统 CLI</a:t>
            </a:r>
            <a:endParaRPr lang="zh-CN" sz="1380"/>
          </a:p>
        </p:txBody>
      </p:sp>
      <p:sp>
        <p:nvSpPr>
          <p:cNvPr id="22" name="由业务系统自建系统 CLI，"/>
          <p:cNvSpPr txBox="1"/>
          <p:nvPr/>
        </p:nvSpPr>
        <p:spPr>
          <a:xfrm>
            <a:off x="6499860" y="3250199"/>
            <a:ext cx="2205097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由业务系统自建系统 CLI，</a:t>
            </a:r>
            <a:endParaRPr lang="zh-CN" sz="1380"/>
          </a:p>
        </p:txBody>
      </p:sp>
      <p:sp>
        <p:nvSpPr>
          <p:cNvPr id="23" name="我们提供 CLI 建设的支撑。"/>
          <p:cNvSpPr txBox="1"/>
          <p:nvPr/>
        </p:nvSpPr>
        <p:spPr>
          <a:xfrm>
            <a:off x="6499860" y="3495527"/>
            <a:ext cx="2263438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我们提供 CLI 建设的支撑。</a:t>
            </a:r>
            <a:endParaRPr lang="zh-CN" sz="1380"/>
          </a:p>
        </p:txBody>
      </p:sp>
      <p:sp>
        <p:nvSpPr>
          <p:cNvPr id="24" name="Style"/>
          <p:cNvSpPr txBox="1"/>
          <p:nvPr/>
        </p:nvSpPr>
        <p:spPr>
          <a:xfrm>
            <a:off x="6499860" y="3924300"/>
            <a:ext cx="487680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25" name="方案 B　接入已有 MCP"/>
          <p:cNvSpPr txBox="1"/>
          <p:nvPr/>
        </p:nvSpPr>
        <p:spPr>
          <a:xfrm>
            <a:off x="6499860" y="4178351"/>
            <a:ext cx="1978819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方案 B　接入已有 MCP</a:t>
            </a:r>
            <a:endParaRPr lang="zh-CN" sz="1380"/>
          </a:p>
        </p:txBody>
      </p:sp>
      <p:sp>
        <p:nvSpPr>
          <p:cNvPr id="26" name="把业务系统已有的 MCP 挂载到泰为的 MCP 市场，"/>
          <p:cNvSpPr txBox="1"/>
          <p:nvPr/>
        </p:nvSpPr>
        <p:spPr>
          <a:xfrm>
            <a:off x="6499860" y="4423679"/>
            <a:ext cx="4124206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把业务系统已有的 MCP 挂载到泰为的 MCP 市场，</a:t>
            </a:r>
            <a:endParaRPr lang="zh-CN" sz="1380"/>
          </a:p>
        </p:txBody>
      </p:sp>
      <p:sp>
        <p:nvSpPr>
          <p:cNvPr id="27" name="或者金融中台的 MCP 市场，"/>
          <p:cNvSpPr txBox="1"/>
          <p:nvPr/>
        </p:nvSpPr>
        <p:spPr>
          <a:xfrm>
            <a:off x="6499860" y="4669007"/>
            <a:ext cx="2385953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或者金融中台的 MCP 市场，</a:t>
            </a:r>
            <a:endParaRPr lang="zh-CN" sz="1380"/>
          </a:p>
        </p:txBody>
      </p:sp>
      <p:sp>
        <p:nvSpPr>
          <p:cNvPr id="28" name="WorkMate 自动对接这两个市场。"/>
          <p:cNvSpPr txBox="1"/>
          <p:nvPr/>
        </p:nvSpPr>
        <p:spPr>
          <a:xfrm>
            <a:off x="6499860" y="4914336"/>
            <a:ext cx="276731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 自动对接这两个市场。</a:t>
            </a:r>
            <a:endParaRPr lang="zh-CN" sz="1380"/>
          </a:p>
        </p:txBody>
      </p:sp>
      <p:sp>
        <p:nvSpPr>
          <p:cNvPr id="29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30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1" name="先确认目标系统和授权范围，再配置与任务相关的连接器"/>
          <p:cNvSpPr txBox="1"/>
          <p:nvPr/>
        </p:nvSpPr>
        <p:spPr>
          <a:xfrm>
            <a:off x="762000" y="5839511"/>
            <a:ext cx="4503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先确认目标系统和授权范围，再配置与任务相关的连接器</a:t>
            </a:r>
            <a:endParaRPr lang="zh-CN" sz="1380"/>
          </a:p>
        </p:txBody>
      </p:sp>
      <p:sp>
        <p:nvSpPr>
          <p:cNvPr id="32" name="15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15 / 26</a:t>
            </a:r>
            <a:endParaRPr lang="zh-CN" sz="84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外部软件已有 MCP，WorkMate 还没接入怎么办？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外部能力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外部能力</a:t>
            </a:r>
            <a:endParaRPr lang="zh-CN" sz="780"/>
          </a:p>
        </p:txBody>
      </p:sp>
      <p:sp>
        <p:nvSpPr>
          <p:cNvPr id="6" name="14 / CUSTOM MCP"/>
          <p:cNvSpPr txBox="1"/>
          <p:nvPr/>
        </p:nvSpPr>
        <p:spPr>
          <a:xfrm>
            <a:off x="579120" y="733044"/>
            <a:ext cx="1174552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14 / CUSTOM MCP</a:t>
            </a:r>
            <a:endParaRPr lang="zh-CN" sz="900"/>
          </a:p>
        </p:txBody>
      </p:sp>
      <p:sp>
        <p:nvSpPr>
          <p:cNvPr id="7" name="外部软件已有 MCP，WorkMate 还没接入怎么办？"/>
          <p:cNvSpPr txBox="1"/>
          <p:nvPr/>
        </p:nvSpPr>
        <p:spPr>
          <a:xfrm>
            <a:off x="579120" y="1014832"/>
            <a:ext cx="8127802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外部软件已有 MCP，WorkMate 还没接入怎么办？</a:t>
            </a:r>
            <a:endParaRPr lang="zh-CN" sz="2760"/>
          </a:p>
        </p:txBody>
      </p:sp>
      <p:sp>
        <p:nvSpPr>
          <p:cNvPr id="8" name="已有 MCP 的外部软件，可以自行配置，也可以反馈给 WorkMate 团队协助"/>
          <p:cNvSpPr txBox="1"/>
          <p:nvPr/>
        </p:nvSpPr>
        <p:spPr>
          <a:xfrm>
            <a:off x="579120" y="1548232"/>
            <a:ext cx="5777865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已有 MCP 的外部软件，可以自行配置，也可以反馈给 WorkMate 团队协助接入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Style"/>
          <p:cNvSpPr txBox="1"/>
          <p:nvPr/>
        </p:nvSpPr>
        <p:spPr>
          <a:xfrm>
            <a:off x="579120" y="2263140"/>
            <a:ext cx="5257800" cy="29337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2" name="Style"/>
          <p:cNvSpPr txBox="1"/>
          <p:nvPr/>
        </p:nvSpPr>
        <p:spPr>
          <a:xfrm>
            <a:off x="6080760" y="2263140"/>
            <a:ext cx="5532120" cy="2933700"/>
          </a:xfrm>
          <a:prstGeom prst="rect">
            <a:avLst/>
          </a:prstGeom>
          <a:solidFill>
            <a:srgbClr val="F5F8FD"/>
          </a:solidFill>
          <a:ln>
            <a:noFill/>
          </a:ln>
        </p:spPr>
      </p:sp>
      <p:sp>
        <p:nvSpPr>
          <p:cNvPr id="13" name="01  自行添加"/>
          <p:cNvSpPr txBox="1"/>
          <p:nvPr/>
        </p:nvSpPr>
        <p:spPr>
          <a:xfrm>
            <a:off x="807720" y="2483968"/>
            <a:ext cx="1462742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  自行添加</a:t>
            </a:r>
            <a:endParaRPr lang="zh-CN" sz="1860"/>
          </a:p>
        </p:txBody>
      </p:sp>
      <p:sp>
        <p:nvSpPr>
          <p:cNvPr id="14" name="02  反馈给我们"/>
          <p:cNvSpPr txBox="1"/>
          <p:nvPr/>
        </p:nvSpPr>
        <p:spPr>
          <a:xfrm>
            <a:off x="6309360" y="2483968"/>
            <a:ext cx="1743849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02  反馈给我们</a:t>
            </a:r>
            <a:endParaRPr lang="zh-CN" sz="1860"/>
          </a:p>
        </p:txBody>
      </p:sp>
      <p:sp>
        <p:nvSpPr>
          <p:cNvPr id="15" name="通过自定义 MCP 配置，"/>
          <p:cNvSpPr txBox="1"/>
          <p:nvPr/>
        </p:nvSpPr>
        <p:spPr>
          <a:xfrm>
            <a:off x="807720" y="3067660"/>
            <a:ext cx="2290762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通过自定义 MCP 配置，</a:t>
            </a:r>
            <a:endParaRPr lang="zh-CN" sz="1560"/>
          </a:p>
        </p:txBody>
      </p:sp>
      <p:sp>
        <p:nvSpPr>
          <p:cNvPr id="16" name="将外部软件的 MCP 添加到 WorkMate。"/>
          <p:cNvSpPr txBox="1"/>
          <p:nvPr/>
        </p:nvSpPr>
        <p:spPr>
          <a:xfrm>
            <a:off x="807720" y="3345016"/>
            <a:ext cx="3714869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将外部软件的 MCP 添加到 WorkMate。</a:t>
            </a:r>
            <a:endParaRPr lang="zh-CN" sz="1560"/>
          </a:p>
        </p:txBody>
      </p:sp>
      <p:sp>
        <p:nvSpPr>
          <p:cNvPr id="17" name="适合已有 MCP 配置说明，"/>
          <p:cNvSpPr txBox="1"/>
          <p:nvPr/>
        </p:nvSpPr>
        <p:spPr>
          <a:xfrm>
            <a:off x="807720" y="4025951"/>
            <a:ext cx="2210693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适合已有 MCP 配置说明，</a:t>
            </a:r>
            <a:endParaRPr lang="zh-CN" sz="1380"/>
          </a:p>
        </p:txBody>
      </p:sp>
      <p:sp>
        <p:nvSpPr>
          <p:cNvPr id="18" name="希望自己完成配置和使用的情况。"/>
          <p:cNvSpPr txBox="1"/>
          <p:nvPr/>
        </p:nvSpPr>
        <p:spPr>
          <a:xfrm>
            <a:off x="807720" y="4271279"/>
            <a:ext cx="2750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希望自己完成配置和使用的情况。</a:t>
            </a:r>
            <a:endParaRPr lang="zh-CN" sz="1380"/>
          </a:p>
        </p:txBody>
      </p:sp>
      <p:sp>
        <p:nvSpPr>
          <p:cNvPr id="19" name="把外部软件及其 MCP 信息反馈给"/>
          <p:cNvSpPr txBox="1"/>
          <p:nvPr/>
        </p:nvSpPr>
        <p:spPr>
          <a:xfrm>
            <a:off x="6309360" y="3067660"/>
            <a:ext cx="3083242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把外部软件及其 MCP 信息反馈给</a:t>
            </a:r>
            <a:endParaRPr lang="zh-CN" sz="1560"/>
          </a:p>
        </p:txBody>
      </p:sp>
      <p:sp>
        <p:nvSpPr>
          <p:cNvPr id="20" name="WorkMate 团队，由我们协助接入。"/>
          <p:cNvSpPr txBox="1"/>
          <p:nvPr/>
        </p:nvSpPr>
        <p:spPr>
          <a:xfrm>
            <a:off x="6309360" y="3345016"/>
            <a:ext cx="3329107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WorkMate 团队，由我们协助接入。</a:t>
            </a:r>
            <a:endParaRPr lang="zh-CN" sz="1560"/>
          </a:p>
        </p:txBody>
      </p:sp>
      <p:sp>
        <p:nvSpPr>
          <p:cNvPr id="21" name="反馈时附上软件名称、MCP 文档"/>
          <p:cNvSpPr txBox="1"/>
          <p:nvPr/>
        </p:nvSpPr>
        <p:spPr>
          <a:xfrm>
            <a:off x="6309360" y="4025951"/>
            <a:ext cx="2678132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反馈时附上软件名称、MCP 文档</a:t>
            </a:r>
            <a:endParaRPr lang="zh-CN" sz="1380"/>
          </a:p>
        </p:txBody>
      </p:sp>
      <p:sp>
        <p:nvSpPr>
          <p:cNvPr id="22" name="以及希望实现的使用场景。"/>
          <p:cNvSpPr txBox="1"/>
          <p:nvPr/>
        </p:nvSpPr>
        <p:spPr>
          <a:xfrm>
            <a:off x="6309360" y="4271279"/>
            <a:ext cx="222504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以及希望实现的使用场景。</a:t>
            </a:r>
            <a:endParaRPr lang="zh-CN" sz="1380"/>
          </a:p>
        </p:txBody>
      </p:sp>
      <p:sp>
        <p:nvSpPr>
          <p:cNvPr id="23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4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25" name="两种接入方式：自己配置自定义 MCP，或反馈给 WorkMate 团队协助接入"/>
          <p:cNvSpPr txBox="1"/>
          <p:nvPr/>
        </p:nvSpPr>
        <p:spPr>
          <a:xfrm>
            <a:off x="762000" y="5839511"/>
            <a:ext cx="5929193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两种接入方式：自己配置自定义 MCP，或反馈给 WorkMate 团队协助接入</a:t>
            </a:r>
            <a:endParaRPr lang="zh-CN" sz="1380"/>
          </a:p>
        </p:txBody>
      </p:sp>
      <p:sp>
        <p:nvSpPr>
          <p:cNvPr id="26" name="16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16 / 26</a:t>
            </a:r>
            <a:endParaRPr lang="zh-CN" sz="84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浏览器自动化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外部能力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外部能力</a:t>
            </a:r>
            <a:endParaRPr lang="zh-CN" sz="780"/>
          </a:p>
        </p:txBody>
      </p:sp>
      <p:sp>
        <p:nvSpPr>
          <p:cNvPr id="6" name="15 / BROWSER"/>
          <p:cNvSpPr txBox="1"/>
          <p:nvPr/>
        </p:nvSpPr>
        <p:spPr>
          <a:xfrm>
            <a:off x="579120" y="733044"/>
            <a:ext cx="95416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15 / BROWSER</a:t>
            </a:r>
            <a:endParaRPr lang="zh-CN" sz="900"/>
          </a:p>
        </p:txBody>
      </p:sp>
      <p:sp>
        <p:nvSpPr>
          <p:cNvPr id="7" name="浏览器自动化"/>
          <p:cNvSpPr txBox="1"/>
          <p:nvPr/>
        </p:nvSpPr>
        <p:spPr>
          <a:xfrm>
            <a:off x="579120" y="1014832"/>
            <a:ext cx="222504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浏览器自动化</a:t>
            </a:r>
            <a:endParaRPr lang="zh-CN" sz="2760"/>
          </a:p>
        </p:txBody>
      </p:sp>
      <p:sp>
        <p:nvSpPr>
          <p:cNvPr id="8" name="根据任务复杂度，选择内置浏览器或连接器里的 AgentBrowser"/>
          <p:cNvSpPr txBox="1"/>
          <p:nvPr/>
        </p:nvSpPr>
        <p:spPr>
          <a:xfrm>
            <a:off x="579120" y="1548232"/>
            <a:ext cx="4579799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根据任务复杂度，选择内置浏览器或连接器里的 AgentBrowser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image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774" y="2186940"/>
            <a:ext cx="6945091" cy="3413760"/>
          </a:xfrm>
          <a:prstGeom prst="rect">
            <a:avLst/>
          </a:prstGeom>
        </p:spPr>
      </p:pic>
      <p:sp>
        <p:nvSpPr>
          <p:cNvPr id="12" name="内置浏览器：操作看得见"/>
          <p:cNvSpPr txBox="1"/>
          <p:nvPr/>
        </p:nvSpPr>
        <p:spPr>
          <a:xfrm>
            <a:off x="7924800" y="2294839"/>
            <a:ext cx="238506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内置浏览器：操作看得见</a:t>
            </a:r>
            <a:endParaRPr lang="zh-CN" sz="1620"/>
          </a:p>
        </p:txBody>
      </p:sp>
      <p:sp>
        <p:nvSpPr>
          <p:cNvPr id="13" name="在同一界面就能看到浏览器的操作，"/>
          <p:cNvSpPr txBox="1"/>
          <p:nvPr/>
        </p:nvSpPr>
        <p:spPr>
          <a:xfrm>
            <a:off x="7924800" y="2806751"/>
            <a:ext cx="292608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在同一界面就能看到浏览器的操作，</a:t>
            </a:r>
            <a:endParaRPr lang="zh-CN" sz="1380"/>
          </a:p>
        </p:txBody>
      </p:sp>
      <p:sp>
        <p:nvSpPr>
          <p:cNvPr id="14" name="执行过程可见，更安全可信。"/>
          <p:cNvSpPr txBox="1"/>
          <p:nvPr/>
        </p:nvSpPr>
        <p:spPr>
          <a:xfrm>
            <a:off x="7924800" y="3052079"/>
            <a:ext cx="240030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执行过程可见，更安全可信。</a:t>
            </a:r>
            <a:endParaRPr lang="zh-CN" sz="1380"/>
          </a:p>
        </p:txBody>
      </p:sp>
      <p:sp>
        <p:nvSpPr>
          <p:cNvPr id="15" name="Style"/>
          <p:cNvSpPr txBox="1"/>
          <p:nvPr/>
        </p:nvSpPr>
        <p:spPr>
          <a:xfrm>
            <a:off x="7924800" y="3817620"/>
            <a:ext cx="368808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6" name="复杂表单：AgentBrowser"/>
          <p:cNvSpPr txBox="1"/>
          <p:nvPr/>
        </p:nvSpPr>
        <p:spPr>
          <a:xfrm>
            <a:off x="7924800" y="4062679"/>
            <a:ext cx="2528709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复杂表单：AgentBrowser</a:t>
            </a:r>
            <a:endParaRPr lang="zh-CN" sz="1620"/>
          </a:p>
        </p:txBody>
      </p:sp>
      <p:sp>
        <p:nvSpPr>
          <p:cNvPr id="17" name="如果需要填写复杂表单，"/>
          <p:cNvSpPr txBox="1"/>
          <p:nvPr/>
        </p:nvSpPr>
        <p:spPr>
          <a:xfrm>
            <a:off x="7924800" y="4574591"/>
            <a:ext cx="204978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如果需要填写复杂表单，</a:t>
            </a:r>
            <a:endParaRPr lang="zh-CN" sz="1380"/>
          </a:p>
        </p:txBody>
      </p:sp>
      <p:sp>
        <p:nvSpPr>
          <p:cNvPr id="18" name="连接器里的 AgentBrowser 更强大。"/>
          <p:cNvSpPr txBox="1"/>
          <p:nvPr/>
        </p:nvSpPr>
        <p:spPr>
          <a:xfrm>
            <a:off x="7924800" y="4819919"/>
            <a:ext cx="2959596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连接器里的 AgentBrowser 更强大。</a:t>
            </a:r>
            <a:endParaRPr lang="zh-CN" sz="1380"/>
          </a:p>
        </p:txBody>
      </p:sp>
      <p:sp>
        <p:nvSpPr>
          <p:cNvPr id="19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0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21" name="系统尚未开放 MCP 等能力时，浏览器自动化也是不错的选择"/>
          <p:cNvSpPr txBox="1"/>
          <p:nvPr/>
        </p:nvSpPr>
        <p:spPr>
          <a:xfrm>
            <a:off x="762000" y="5839511"/>
            <a:ext cx="4844653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系统尚未开放 MCP 等能力时，浏览器自动化也是不错的选择</a:t>
            </a:r>
            <a:endParaRPr lang="zh-CN" sz="1380"/>
          </a:p>
        </p:txBody>
      </p:sp>
      <p:sp>
        <p:nvSpPr>
          <p:cNvPr id="22" name="17 / 26"/>
          <p:cNvSpPr txBox="1"/>
          <p:nvPr/>
        </p:nvSpPr>
        <p:spPr>
          <a:xfrm>
            <a:off x="11259324" y="6489344"/>
            <a:ext cx="475476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17 / 26</a:t>
            </a:r>
            <a:endParaRPr lang="zh-CN" sz="84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联网检索：获取最新资讯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外部能力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外部能力</a:t>
            </a:r>
            <a:endParaRPr lang="zh-CN" sz="780"/>
          </a:p>
        </p:txBody>
      </p:sp>
      <p:sp>
        <p:nvSpPr>
          <p:cNvPr id="6" name="16 / WEB SEARCH"/>
          <p:cNvSpPr txBox="1"/>
          <p:nvPr/>
        </p:nvSpPr>
        <p:spPr>
          <a:xfrm>
            <a:off x="579120" y="733044"/>
            <a:ext cx="1142762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16 / WEB SEARCH</a:t>
            </a:r>
            <a:endParaRPr lang="zh-CN" sz="900"/>
          </a:p>
        </p:txBody>
      </p:sp>
      <p:sp>
        <p:nvSpPr>
          <p:cNvPr id="7" name="联网检索：获取最新资讯"/>
          <p:cNvSpPr txBox="1"/>
          <p:nvPr/>
        </p:nvSpPr>
        <p:spPr>
          <a:xfrm>
            <a:off x="579120" y="1014832"/>
            <a:ext cx="397764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联网检索：获取最新资讯</a:t>
            </a:r>
            <a:endParaRPr lang="zh-CN" sz="2760"/>
          </a:p>
        </p:txBody>
      </p:sp>
      <p:sp>
        <p:nvSpPr>
          <p:cNvPr id="8" name="启用联网检索后，可调用泰为平台的检索能力获取最新信息"/>
          <p:cNvSpPr txBox="1"/>
          <p:nvPr/>
        </p:nvSpPr>
        <p:spPr>
          <a:xfrm>
            <a:off x="579120" y="1548232"/>
            <a:ext cx="428244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启用联网检索后，可调用泰为平台的检索能力获取最新信息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web-search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533" y="2133600"/>
            <a:ext cx="5027173" cy="3009900"/>
          </a:xfrm>
          <a:prstGeom prst="rect">
            <a:avLst/>
          </a:prstGeom>
        </p:spPr>
      </p:pic>
      <p:pic>
        <p:nvPicPr>
          <p:cNvPr id="12" name="image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3101" y="5212080"/>
            <a:ext cx="1794599" cy="624840"/>
          </a:xfrm>
          <a:prstGeom prst="rect">
            <a:avLst/>
          </a:prstGeom>
        </p:spPr>
      </p:pic>
      <p:pic>
        <p:nvPicPr>
          <p:cNvPr id="13" name="web-search-examp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2280680"/>
            <a:ext cx="5394960" cy="3393920"/>
          </a:xfrm>
          <a:prstGeom prst="rect">
            <a:avLst/>
          </a:prstGeom>
        </p:spPr>
      </p:pic>
      <p:sp>
        <p:nvSpPr>
          <p:cNvPr id="14" name="Style"/>
          <p:cNvSpPr txBox="1"/>
          <p:nvPr/>
        </p:nvSpPr>
        <p:spPr>
          <a:xfrm>
            <a:off x="579120" y="5951220"/>
            <a:ext cx="11033760" cy="33528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5" name="Style"/>
          <p:cNvSpPr txBox="1"/>
          <p:nvPr/>
        </p:nvSpPr>
        <p:spPr>
          <a:xfrm>
            <a:off x="579120" y="5951220"/>
            <a:ext cx="22860" cy="33528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6" name="使用建议：如果本次搜索涉及敏感信息，不要开启联网检索。"/>
          <p:cNvSpPr txBox="1"/>
          <p:nvPr/>
        </p:nvSpPr>
        <p:spPr>
          <a:xfrm>
            <a:off x="762000" y="6007151"/>
            <a:ext cx="485394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使用建议：如果本次搜索涉及敏感信息，不要开启联网检索。</a:t>
            </a:r>
            <a:endParaRPr lang="zh-CN" sz="1380"/>
          </a:p>
        </p:txBody>
      </p:sp>
      <p:sp>
        <p:nvSpPr>
          <p:cNvPr id="17" name="18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18 / 26</a:t>
            </a:r>
            <a:endParaRPr lang="zh-CN" sz="84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远程连接：通过铃客持续协作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持续运行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持续运行</a:t>
            </a:r>
            <a:endParaRPr lang="zh-CN" sz="780"/>
          </a:p>
        </p:txBody>
      </p:sp>
      <p:sp>
        <p:nvSpPr>
          <p:cNvPr id="6" name="17 / REMOTE"/>
          <p:cNvSpPr txBox="1"/>
          <p:nvPr/>
        </p:nvSpPr>
        <p:spPr>
          <a:xfrm>
            <a:off x="579120" y="733044"/>
            <a:ext cx="853797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17 / REMOTE</a:t>
            </a:r>
            <a:endParaRPr lang="zh-CN" sz="900"/>
          </a:p>
        </p:txBody>
      </p:sp>
      <p:sp>
        <p:nvSpPr>
          <p:cNvPr id="7" name="远程连接：通过铃客持续协作"/>
          <p:cNvSpPr txBox="1"/>
          <p:nvPr/>
        </p:nvSpPr>
        <p:spPr>
          <a:xfrm>
            <a:off x="579120" y="1014832"/>
            <a:ext cx="467868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远程连接：通过铃客持续协作</a:t>
            </a:r>
            <a:endParaRPr lang="zh-CN" sz="2760"/>
          </a:p>
        </p:txBody>
      </p:sp>
      <p:sp>
        <p:nvSpPr>
          <p:cNvPr id="8" name="通过铃客向 WorkMate 发送任务，并获取执行结果"/>
          <p:cNvSpPr txBox="1"/>
          <p:nvPr/>
        </p:nvSpPr>
        <p:spPr>
          <a:xfrm>
            <a:off x="579120" y="1548232"/>
            <a:ext cx="3710702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通过铃客向 WorkMate 发送任务，并获取执行结果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连接配置"/>
          <p:cNvSpPr txBox="1"/>
          <p:nvPr/>
        </p:nvSpPr>
        <p:spPr>
          <a:xfrm>
            <a:off x="579120" y="2226259"/>
            <a:ext cx="94488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连接配置</a:t>
            </a:r>
            <a:endParaRPr lang="zh-CN" sz="1620"/>
          </a:p>
        </p:txBody>
      </p:sp>
      <p:sp>
        <p:nvSpPr>
          <p:cNvPr id="12" name="远程发送任务与接收结果"/>
          <p:cNvSpPr txBox="1"/>
          <p:nvPr/>
        </p:nvSpPr>
        <p:spPr>
          <a:xfrm>
            <a:off x="6324600" y="2226259"/>
            <a:ext cx="238506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远程发送任务与接收结果</a:t>
            </a:r>
            <a:endParaRPr lang="zh-CN" sz="1620"/>
          </a:p>
        </p:txBody>
      </p:sp>
      <p:pic>
        <p:nvPicPr>
          <p:cNvPr id="13" name="image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735" y="2651760"/>
            <a:ext cx="4624570" cy="2758440"/>
          </a:xfrm>
          <a:prstGeom prst="rect">
            <a:avLst/>
          </a:prstGeom>
        </p:spPr>
      </p:pic>
      <p:pic>
        <p:nvPicPr>
          <p:cNvPr id="14" name="image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581" y="2651760"/>
            <a:ext cx="4744319" cy="2758440"/>
          </a:xfrm>
          <a:prstGeom prst="rect">
            <a:avLst/>
          </a:prstGeom>
        </p:spPr>
      </p:pic>
      <p:sp>
        <p:nvSpPr>
          <p:cNvPr id="15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6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7" name="任务入口延伸到铃客，执行和结果仍由 WorkMate 持续承接"/>
          <p:cNvSpPr txBox="1"/>
          <p:nvPr/>
        </p:nvSpPr>
        <p:spPr>
          <a:xfrm>
            <a:off x="762000" y="5839511"/>
            <a:ext cx="4770001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任务入口延伸到铃客，执行和结果仍由 WorkMate 持续承接</a:t>
            </a:r>
            <a:endParaRPr lang="zh-CN" sz="1380"/>
          </a:p>
        </p:txBody>
      </p:sp>
      <p:sp>
        <p:nvSpPr>
          <p:cNvPr id="18" name="19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19 / 26</a:t>
            </a:r>
            <a:endParaRPr lang="zh-CN" sz="84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定时任务：让重复工作按计划执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持续运行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持续运行</a:t>
            </a:r>
            <a:endParaRPr lang="zh-CN" sz="780"/>
          </a:p>
        </p:txBody>
      </p:sp>
      <p:sp>
        <p:nvSpPr>
          <p:cNvPr id="6" name="18 / SCHEDULE"/>
          <p:cNvSpPr txBox="1"/>
          <p:nvPr/>
        </p:nvSpPr>
        <p:spPr>
          <a:xfrm>
            <a:off x="579120" y="733044"/>
            <a:ext cx="993458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18 / SCHEDULE</a:t>
            </a:r>
            <a:endParaRPr lang="zh-CN" sz="900"/>
          </a:p>
        </p:txBody>
      </p:sp>
      <p:sp>
        <p:nvSpPr>
          <p:cNvPr id="7" name="定时任务：让重复工作按计划执行"/>
          <p:cNvSpPr txBox="1"/>
          <p:nvPr/>
        </p:nvSpPr>
        <p:spPr>
          <a:xfrm>
            <a:off x="579120" y="1014832"/>
            <a:ext cx="537972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定时任务：让重复工作按计划执行</a:t>
            </a:r>
            <a:endParaRPr lang="zh-CN" sz="2760"/>
          </a:p>
        </p:txBody>
      </p:sp>
      <p:sp>
        <p:nvSpPr>
          <p:cNvPr id="8" name="适合目标明确、输入稳定，并且结果可以按规则检查的重复工作"/>
          <p:cNvSpPr txBox="1"/>
          <p:nvPr/>
        </p:nvSpPr>
        <p:spPr>
          <a:xfrm>
            <a:off x="579120" y="1548232"/>
            <a:ext cx="46024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适合目标明确、输入稳定，并且结果可以按规则检查的重复工作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01"/>
          <p:cNvSpPr txBox="1"/>
          <p:nvPr/>
        </p:nvSpPr>
        <p:spPr>
          <a:xfrm>
            <a:off x="579120" y="2374392"/>
            <a:ext cx="27557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200"/>
          </a:p>
        </p:txBody>
      </p:sp>
      <p:sp>
        <p:nvSpPr>
          <p:cNvPr id="12" name="任务名称与描述"/>
          <p:cNvSpPr txBox="1"/>
          <p:nvPr/>
        </p:nvSpPr>
        <p:spPr>
          <a:xfrm>
            <a:off x="1021080" y="2355799"/>
            <a:ext cx="15621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任务名称与描述</a:t>
            </a:r>
            <a:endParaRPr lang="zh-CN" sz="1620"/>
          </a:p>
        </p:txBody>
      </p:sp>
      <p:sp>
        <p:nvSpPr>
          <p:cNvPr id="13" name="写清任务目标与预期产物。"/>
          <p:cNvSpPr txBox="1"/>
          <p:nvPr/>
        </p:nvSpPr>
        <p:spPr>
          <a:xfrm>
            <a:off x="1021080" y="2714701"/>
            <a:ext cx="213360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写清任务目标与预期产物。</a:t>
            </a:r>
            <a:endParaRPr lang="zh-CN" sz="1320"/>
          </a:p>
        </p:txBody>
      </p:sp>
      <p:sp>
        <p:nvSpPr>
          <p:cNvPr id="14" name="02"/>
          <p:cNvSpPr txBox="1"/>
          <p:nvPr/>
        </p:nvSpPr>
        <p:spPr>
          <a:xfrm>
            <a:off x="579120" y="357073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200"/>
          </a:p>
        </p:txBody>
      </p:sp>
      <p:sp>
        <p:nvSpPr>
          <p:cNvPr id="15" name="模型与工作区"/>
          <p:cNvSpPr txBox="1"/>
          <p:nvPr/>
        </p:nvSpPr>
        <p:spPr>
          <a:xfrm>
            <a:off x="1021080" y="3552139"/>
            <a:ext cx="135636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模型与工作区</a:t>
            </a:r>
            <a:endParaRPr lang="zh-CN" sz="1620"/>
          </a:p>
        </p:txBody>
      </p:sp>
      <p:sp>
        <p:nvSpPr>
          <p:cNvPr id="16" name="指定运行所需的模型和资料范围。"/>
          <p:cNvSpPr txBox="1"/>
          <p:nvPr/>
        </p:nvSpPr>
        <p:spPr>
          <a:xfrm>
            <a:off x="1021080" y="3911041"/>
            <a:ext cx="263652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指定运行所需的模型和资料范围。</a:t>
            </a:r>
            <a:endParaRPr lang="zh-CN" sz="1320"/>
          </a:p>
        </p:txBody>
      </p:sp>
      <p:sp>
        <p:nvSpPr>
          <p:cNvPr id="17" name="03"/>
          <p:cNvSpPr txBox="1"/>
          <p:nvPr/>
        </p:nvSpPr>
        <p:spPr>
          <a:xfrm>
            <a:off x="579120" y="476707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200"/>
          </a:p>
        </p:txBody>
      </p:sp>
      <p:sp>
        <p:nvSpPr>
          <p:cNvPr id="18" name="执行频率与通知"/>
          <p:cNvSpPr txBox="1"/>
          <p:nvPr/>
        </p:nvSpPr>
        <p:spPr>
          <a:xfrm>
            <a:off x="1021080" y="4748479"/>
            <a:ext cx="15621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执行频率与通知</a:t>
            </a:r>
            <a:endParaRPr lang="zh-CN" sz="1620"/>
          </a:p>
        </p:txBody>
      </p:sp>
      <p:sp>
        <p:nvSpPr>
          <p:cNvPr id="19" name="支持单次、间隔、日、周、月，"/>
          <p:cNvSpPr txBox="1"/>
          <p:nvPr/>
        </p:nvSpPr>
        <p:spPr>
          <a:xfrm>
            <a:off x="1021080" y="5107381"/>
            <a:ext cx="246888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支持单次、间隔、日、周、月，</a:t>
            </a:r>
            <a:endParaRPr lang="zh-CN" sz="1320"/>
          </a:p>
        </p:txBody>
      </p:sp>
      <p:sp>
        <p:nvSpPr>
          <p:cNvPr id="20" name="保留执行记录。"/>
          <p:cNvSpPr txBox="1"/>
          <p:nvPr/>
        </p:nvSpPr>
        <p:spPr>
          <a:xfrm>
            <a:off x="1021080" y="5342053"/>
            <a:ext cx="129540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保留执行记录。</a:t>
            </a:r>
            <a:endParaRPr lang="zh-CN" sz="1320"/>
          </a:p>
        </p:txBody>
      </p:sp>
      <p:pic>
        <p:nvPicPr>
          <p:cNvPr id="21" name="image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979" y="1859280"/>
            <a:ext cx="4974121" cy="4053840"/>
          </a:xfrm>
          <a:prstGeom prst="rect">
            <a:avLst/>
          </a:prstGeom>
        </p:spPr>
      </p:pic>
      <p:sp>
        <p:nvSpPr>
          <p:cNvPr id="22" name="Style"/>
          <p:cNvSpPr txBox="1"/>
          <p:nvPr/>
        </p:nvSpPr>
        <p:spPr>
          <a:xfrm>
            <a:off x="579120" y="6019800"/>
            <a:ext cx="11033760" cy="28956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23" name="Style"/>
          <p:cNvSpPr txBox="1"/>
          <p:nvPr/>
        </p:nvSpPr>
        <p:spPr>
          <a:xfrm>
            <a:off x="579120" y="6019800"/>
            <a:ext cx="22860" cy="28956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24" name="对话示例：每个工作日上午 9 点检查新增项目资料并整理待办"/>
          <p:cNvSpPr txBox="1"/>
          <p:nvPr/>
        </p:nvSpPr>
        <p:spPr>
          <a:xfrm>
            <a:off x="762000" y="6059272"/>
            <a:ext cx="4485084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对话示例：每个工作日上午 9 点检查新增项目资料并整理待办</a:t>
            </a:r>
            <a:endParaRPr lang="zh-CN" sz="1260"/>
          </a:p>
        </p:txBody>
      </p:sp>
      <p:sp>
        <p:nvSpPr>
          <p:cNvPr id="25" name="20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20 / 26</a:t>
            </a:r>
            <a:endParaRPr lang="zh-CN" sz="84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TML 的生成、预览与分享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成果协作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成果协作</a:t>
            </a:r>
            <a:endParaRPr lang="zh-CN" sz="780"/>
          </a:p>
        </p:txBody>
      </p:sp>
      <p:sp>
        <p:nvSpPr>
          <p:cNvPr id="6" name="19 / HTML COLLABORATION"/>
          <p:cNvSpPr txBox="1"/>
          <p:nvPr/>
        </p:nvSpPr>
        <p:spPr>
          <a:xfrm>
            <a:off x="579120" y="733044"/>
            <a:ext cx="1715869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19 / HTML COLLABORATION</a:t>
            </a:r>
            <a:endParaRPr lang="zh-CN" sz="900"/>
          </a:p>
        </p:txBody>
      </p:sp>
      <p:sp>
        <p:nvSpPr>
          <p:cNvPr id="7" name="HTML 的生成、预览与分享"/>
          <p:cNvSpPr txBox="1"/>
          <p:nvPr/>
        </p:nvSpPr>
        <p:spPr>
          <a:xfrm>
            <a:off x="579120" y="1014832"/>
            <a:ext cx="4390906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HTML 的生成、预览与分享</a:t>
            </a:r>
            <a:endParaRPr lang="zh-CN" sz="2760"/>
          </a:p>
        </p:txBody>
      </p:sp>
      <p:sp>
        <p:nvSpPr>
          <p:cNvPr id="8" name="内置 HTML Skill 引导生成，浏览器实时预览，并支持页面分享"/>
          <p:cNvSpPr txBox="1"/>
          <p:nvPr/>
        </p:nvSpPr>
        <p:spPr>
          <a:xfrm>
            <a:off x="579120" y="1548232"/>
            <a:ext cx="4553724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内置 HTML Skill 引导生成，浏览器实时预览，并支持页面分享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image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251" y="2186940"/>
            <a:ext cx="6052959" cy="3307080"/>
          </a:xfrm>
          <a:prstGeom prst="rect">
            <a:avLst/>
          </a:prstGeom>
        </p:spPr>
      </p:pic>
      <p:pic>
        <p:nvPicPr>
          <p:cNvPr id="12" name="image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4221" y="2225040"/>
            <a:ext cx="2400637" cy="1524000"/>
          </a:xfrm>
          <a:prstGeom prst="rect">
            <a:avLst/>
          </a:prstGeom>
        </p:spPr>
      </p:pic>
      <p:pic>
        <p:nvPicPr>
          <p:cNvPr id="13" name="image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19605" y="3832860"/>
            <a:ext cx="2069869" cy="1691640"/>
          </a:xfrm>
          <a:prstGeom prst="rect">
            <a:avLst/>
          </a:prstGeom>
        </p:spPr>
      </p:pic>
      <p:sp>
        <p:nvSpPr>
          <p:cNvPr id="14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5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6" name="生成后先预览和检查，再通过文件菜单创建分享页面"/>
          <p:cNvSpPr txBox="1"/>
          <p:nvPr/>
        </p:nvSpPr>
        <p:spPr>
          <a:xfrm>
            <a:off x="762000" y="5839511"/>
            <a:ext cx="415290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生成后先预览和检查，再通过文件菜单创建分享页面</a:t>
            </a:r>
            <a:endParaRPr lang="zh-CN" sz="1380"/>
          </a:p>
        </p:txBody>
      </p:sp>
      <p:sp>
        <p:nvSpPr>
          <p:cNvPr id="17" name="21 / 26"/>
          <p:cNvSpPr txBox="1"/>
          <p:nvPr/>
        </p:nvSpPr>
        <p:spPr>
          <a:xfrm>
            <a:off x="11253668" y="6489344"/>
            <a:ext cx="481132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21 / 26</a:t>
            </a:r>
            <a:endParaRPr lang="zh-CN" sz="84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TML 可视化编辑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成果协作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成果协作</a:t>
            </a:r>
            <a:endParaRPr lang="zh-CN" sz="780"/>
          </a:p>
        </p:txBody>
      </p:sp>
      <p:sp>
        <p:nvSpPr>
          <p:cNvPr id="6" name="20 / VISUAL EDITING"/>
          <p:cNvSpPr txBox="1"/>
          <p:nvPr/>
        </p:nvSpPr>
        <p:spPr>
          <a:xfrm>
            <a:off x="579120" y="733044"/>
            <a:ext cx="129349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20 / VISUAL EDITING</a:t>
            </a:r>
            <a:endParaRPr lang="zh-CN" sz="900"/>
          </a:p>
        </p:txBody>
      </p:sp>
      <p:sp>
        <p:nvSpPr>
          <p:cNvPr id="7" name="HTML 可视化编辑"/>
          <p:cNvSpPr txBox="1"/>
          <p:nvPr/>
        </p:nvSpPr>
        <p:spPr>
          <a:xfrm>
            <a:off x="579120" y="1014832"/>
            <a:ext cx="2988826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HTML 可视化编辑</a:t>
            </a:r>
            <a:endParaRPr lang="zh-CN" sz="2760"/>
          </a:p>
        </p:txBody>
      </p:sp>
      <p:sp>
        <p:nvSpPr>
          <p:cNvPr id="8" name="通过可视化方式微调局部内容与样式"/>
          <p:cNvSpPr txBox="1"/>
          <p:nvPr/>
        </p:nvSpPr>
        <p:spPr>
          <a:xfrm>
            <a:off x="579120" y="1548232"/>
            <a:ext cx="268224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通过可视化方式微调局部内容与样式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pic>
        <p:nvPicPr>
          <p:cNvPr id="11" name="image3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3536" y="2171700"/>
            <a:ext cx="3685368" cy="3345180"/>
          </a:xfrm>
          <a:prstGeom prst="rect">
            <a:avLst/>
          </a:prstGeom>
        </p:spPr>
      </p:pic>
      <p:pic>
        <p:nvPicPr>
          <p:cNvPr id="12" name="image3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0209" y="2293620"/>
            <a:ext cx="2539122" cy="2895600"/>
          </a:xfrm>
          <a:prstGeom prst="rect">
            <a:avLst/>
          </a:prstGeom>
        </p:spPr>
      </p:pic>
      <p:sp>
        <p:nvSpPr>
          <p:cNvPr id="13" name="文字、颜色、边框、边距、宽高"/>
          <p:cNvSpPr txBox="1"/>
          <p:nvPr/>
        </p:nvSpPr>
        <p:spPr>
          <a:xfrm>
            <a:off x="8622030" y="5247132"/>
            <a:ext cx="225552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文字、颜色、边框、边距、宽高</a:t>
            </a:r>
            <a:endParaRPr lang="zh-CN" sz="1200"/>
          </a:p>
        </p:txBody>
      </p:sp>
      <p:sp>
        <p:nvSpPr>
          <p:cNvPr id="14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5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6" name="需要局部微调时，在可视化编辑器中选择元素并调整相应属性"/>
          <p:cNvSpPr txBox="1"/>
          <p:nvPr/>
        </p:nvSpPr>
        <p:spPr>
          <a:xfrm>
            <a:off x="762000" y="5839511"/>
            <a:ext cx="485394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需要局部微调时，在可视化编辑器中选择元素并调整相应属性</a:t>
            </a:r>
            <a:endParaRPr lang="zh-CN" sz="1380"/>
          </a:p>
        </p:txBody>
      </p:sp>
      <p:sp>
        <p:nvSpPr>
          <p:cNvPr id="17" name="22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22 / 26</a:t>
            </a:r>
            <a:endParaRPr lang="zh-CN" sz="84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本地数据安全：保护 .workmate 目录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安全与支持"/>
          <p:cNvSpPr txBox="1"/>
          <p:nvPr/>
        </p:nvSpPr>
        <p:spPr>
          <a:xfrm>
            <a:off x="10545187" y="217475"/>
            <a:ext cx="118961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安全与支持</a:t>
            </a:r>
            <a:endParaRPr lang="zh-CN" sz="780"/>
          </a:p>
        </p:txBody>
      </p:sp>
      <p:sp>
        <p:nvSpPr>
          <p:cNvPr id="6" name="21 / LOCAL DATA"/>
          <p:cNvSpPr txBox="1"/>
          <p:nvPr/>
        </p:nvSpPr>
        <p:spPr>
          <a:xfrm>
            <a:off x="579120" y="733044"/>
            <a:ext cx="1101745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21 / LOCAL DATA</a:t>
            </a:r>
            <a:endParaRPr lang="zh-CN" sz="900"/>
          </a:p>
        </p:txBody>
      </p:sp>
      <p:sp>
        <p:nvSpPr>
          <p:cNvPr id="7" name="本地数据安全：保护 .workmate 目录"/>
          <p:cNvSpPr txBox="1"/>
          <p:nvPr/>
        </p:nvSpPr>
        <p:spPr>
          <a:xfrm>
            <a:off x="579120" y="1014832"/>
            <a:ext cx="5951101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本地数据安全：保护 .workmate 目录</a:t>
            </a:r>
            <a:endParaRPr lang="zh-CN" sz="2760"/>
          </a:p>
        </p:txBody>
      </p:sp>
      <p:sp>
        <p:nvSpPr>
          <p:cNvPr id="8" name="当前 Windows 数据目录为 D:\.workmate，软件安装目录与数据目"/>
          <p:cNvSpPr txBox="1"/>
          <p:nvPr/>
        </p:nvSpPr>
        <p:spPr>
          <a:xfrm>
            <a:off x="579120" y="1548232"/>
            <a:ext cx="5637669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当前 Windows 数据目录为 D:\.workmate，软件安装目录与数据目录分开管理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Style"/>
          <p:cNvSpPr txBox="1"/>
          <p:nvPr/>
        </p:nvSpPr>
        <p:spPr>
          <a:xfrm>
            <a:off x="579120" y="2133600"/>
            <a:ext cx="11033760" cy="77724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12" name="当前数据目录"/>
          <p:cNvSpPr txBox="1"/>
          <p:nvPr/>
        </p:nvSpPr>
        <p:spPr>
          <a:xfrm>
            <a:off x="792480" y="2386432"/>
            <a:ext cx="108204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当前数据目录</a:t>
            </a:r>
            <a:endParaRPr lang="zh-CN" sz="1260"/>
          </a:p>
        </p:txBody>
      </p:sp>
      <p:sp>
        <p:nvSpPr>
          <p:cNvPr id="13" name="D:\.workmate"/>
          <p:cNvSpPr txBox="1"/>
          <p:nvPr/>
        </p:nvSpPr>
        <p:spPr>
          <a:xfrm>
            <a:off x="2895600" y="2305355"/>
            <a:ext cx="1992213" cy="4533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28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D:\.workmate</a:t>
            </a:r>
            <a:endParaRPr lang="zh-CN" sz="2280"/>
          </a:p>
        </p:txBody>
      </p:sp>
      <p:sp>
        <p:nvSpPr>
          <p:cNvPr id="14" name="01"/>
          <p:cNvSpPr txBox="1"/>
          <p:nvPr/>
        </p:nvSpPr>
        <p:spPr>
          <a:xfrm>
            <a:off x="579120" y="3250692"/>
            <a:ext cx="27557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200"/>
          </a:p>
        </p:txBody>
      </p:sp>
      <p:sp>
        <p:nvSpPr>
          <p:cNvPr id="15" name="不要动 .workmate 目录"/>
          <p:cNvSpPr txBox="1"/>
          <p:nvPr/>
        </p:nvSpPr>
        <p:spPr>
          <a:xfrm>
            <a:off x="1021080" y="3232099"/>
            <a:ext cx="2308979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不要动 .workmate 目录</a:t>
            </a:r>
            <a:endParaRPr lang="zh-CN" sz="1620"/>
          </a:p>
        </p:txBody>
      </p:sp>
      <p:sp>
        <p:nvSpPr>
          <p:cNvPr id="16" name="不要移动、重命名或删除该目录，"/>
          <p:cNvSpPr txBox="1"/>
          <p:nvPr/>
        </p:nvSpPr>
        <p:spPr>
          <a:xfrm>
            <a:off x="1021080" y="3591611"/>
            <a:ext cx="275082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不要移动、重命名或删除该目录，</a:t>
            </a:r>
            <a:endParaRPr lang="zh-CN" sz="1380"/>
          </a:p>
        </p:txBody>
      </p:sp>
      <p:sp>
        <p:nvSpPr>
          <p:cNvPr id="17" name="保留其中的数据文件。"/>
          <p:cNvSpPr txBox="1"/>
          <p:nvPr/>
        </p:nvSpPr>
        <p:spPr>
          <a:xfrm>
            <a:off x="1021080" y="3836939"/>
            <a:ext cx="187452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保留其中的数据文件。</a:t>
            </a:r>
            <a:endParaRPr lang="zh-CN" sz="1380"/>
          </a:p>
        </p:txBody>
      </p:sp>
      <p:sp>
        <p:nvSpPr>
          <p:cNvPr id="18" name="02"/>
          <p:cNvSpPr txBox="1"/>
          <p:nvPr/>
        </p:nvSpPr>
        <p:spPr>
          <a:xfrm>
            <a:off x="6324600" y="325069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200"/>
          </a:p>
        </p:txBody>
      </p:sp>
      <p:sp>
        <p:nvSpPr>
          <p:cNvPr id="19" name="不要把软件安装到这个目录"/>
          <p:cNvSpPr txBox="1"/>
          <p:nvPr/>
        </p:nvSpPr>
        <p:spPr>
          <a:xfrm>
            <a:off x="6766560" y="3232099"/>
            <a:ext cx="259080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不要把软件安装到这个目录</a:t>
            </a:r>
            <a:endParaRPr lang="zh-CN" sz="1620"/>
          </a:p>
        </p:txBody>
      </p:sp>
      <p:sp>
        <p:nvSpPr>
          <p:cNvPr id="20" name="安装 WorkMate 时选择其他安装目录，"/>
          <p:cNvSpPr txBox="1"/>
          <p:nvPr/>
        </p:nvSpPr>
        <p:spPr>
          <a:xfrm>
            <a:off x="6766560" y="3591611"/>
            <a:ext cx="317623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安装 WorkMate 时选择其他安装目录，</a:t>
            </a:r>
            <a:endParaRPr lang="zh-CN" sz="1380"/>
          </a:p>
        </p:txBody>
      </p:sp>
      <p:sp>
        <p:nvSpPr>
          <p:cNvPr id="21" name="让安装文件与数据文件分开。"/>
          <p:cNvSpPr txBox="1"/>
          <p:nvPr/>
        </p:nvSpPr>
        <p:spPr>
          <a:xfrm>
            <a:off x="6766560" y="3836939"/>
            <a:ext cx="240030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让安装文件与数据文件分开。</a:t>
            </a:r>
            <a:endParaRPr lang="zh-CN" sz="1380"/>
          </a:p>
        </p:txBody>
      </p:sp>
      <p:sp>
        <p:nvSpPr>
          <p:cNvPr id="22" name="03"/>
          <p:cNvSpPr txBox="1"/>
          <p:nvPr/>
        </p:nvSpPr>
        <p:spPr>
          <a:xfrm>
            <a:off x="579120" y="4492752"/>
            <a:ext cx="304800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200"/>
          </a:p>
        </p:txBody>
      </p:sp>
      <p:sp>
        <p:nvSpPr>
          <p:cNvPr id="23" name="可在设置中切换根目录"/>
          <p:cNvSpPr txBox="1"/>
          <p:nvPr/>
        </p:nvSpPr>
        <p:spPr>
          <a:xfrm>
            <a:off x="1021080" y="4474159"/>
            <a:ext cx="2179320" cy="3314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可在设置中切换根目录</a:t>
            </a:r>
            <a:endParaRPr lang="zh-CN" sz="1620"/>
          </a:p>
        </p:txBody>
      </p:sp>
      <p:sp>
        <p:nvSpPr>
          <p:cNvPr id="24" name="可在“设置 &gt; 数据目录 &gt; 管理目录”中切换。"/>
          <p:cNvSpPr txBox="1"/>
          <p:nvPr/>
        </p:nvSpPr>
        <p:spPr>
          <a:xfrm>
            <a:off x="1021080" y="4833061"/>
            <a:ext cx="3410367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可在“设置 &gt; 数据目录 &gt; 管理目录”中切换。</a:t>
            </a:r>
            <a:endParaRPr lang="zh-CN" sz="1320"/>
          </a:p>
        </p:txBody>
      </p:sp>
      <p:sp>
        <p:nvSpPr>
          <p:cNvPr id="25" name="当前无法自动迁移数据，"/>
          <p:cNvSpPr txBox="1"/>
          <p:nvPr/>
        </p:nvSpPr>
        <p:spPr>
          <a:xfrm>
            <a:off x="1021080" y="5067733"/>
            <a:ext cx="196596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当前无法自动迁移数据，</a:t>
            </a:r>
            <a:endParaRPr lang="zh-CN" sz="1320"/>
          </a:p>
        </p:txBody>
      </p:sp>
      <p:sp>
        <p:nvSpPr>
          <p:cNvPr id="26" name="切换目录不会自动搬迁原目录中的数据。"/>
          <p:cNvSpPr txBox="1"/>
          <p:nvPr/>
        </p:nvSpPr>
        <p:spPr>
          <a:xfrm>
            <a:off x="1021080" y="5302406"/>
            <a:ext cx="3139440" cy="2819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2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切换目录不会自动搬迁原目录中的数据。</a:t>
            </a:r>
            <a:endParaRPr lang="zh-CN" sz="1320"/>
          </a:p>
        </p:txBody>
      </p:sp>
      <p:pic>
        <p:nvPicPr>
          <p:cNvPr id="27" name="data-directory-sett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4612386"/>
            <a:ext cx="5288280" cy="757427"/>
          </a:xfrm>
          <a:prstGeom prst="rect">
            <a:avLst/>
          </a:prstGeom>
        </p:spPr>
      </p:pic>
      <p:sp>
        <p:nvSpPr>
          <p:cNvPr id="28" name="设置 → 数据目录 → 管理目录"/>
          <p:cNvSpPr txBox="1"/>
          <p:nvPr/>
        </p:nvSpPr>
        <p:spPr>
          <a:xfrm>
            <a:off x="8156019" y="5477104"/>
            <a:ext cx="1747361" cy="2171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6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设置 → 数据目录 → 管理目录</a:t>
            </a:r>
            <a:endParaRPr lang="zh-CN" sz="960"/>
          </a:p>
        </p:txBody>
      </p:sp>
      <p:sp>
        <p:nvSpPr>
          <p:cNvPr id="29" name="Style"/>
          <p:cNvSpPr txBox="1"/>
          <p:nvPr/>
        </p:nvSpPr>
        <p:spPr>
          <a:xfrm>
            <a:off x="579120" y="5715000"/>
            <a:ext cx="11033760" cy="495300"/>
          </a:xfrm>
          <a:prstGeom prst="rect">
            <a:avLst/>
          </a:prstGeom>
          <a:solidFill>
            <a:srgbClr val="EAF3FF"/>
          </a:solidFill>
          <a:ln>
            <a:noFill/>
          </a:ln>
        </p:spPr>
      </p:sp>
      <p:sp>
        <p:nvSpPr>
          <p:cNvPr id="30" name="Style"/>
          <p:cNvSpPr txBox="1"/>
          <p:nvPr/>
        </p:nvSpPr>
        <p:spPr>
          <a:xfrm>
            <a:off x="579120" y="5715000"/>
            <a:ext cx="22860" cy="4953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1" name="切换根目录不会自动迁移数据；原数据目录需妥善保留。"/>
          <p:cNvSpPr txBox="1"/>
          <p:nvPr/>
        </p:nvSpPr>
        <p:spPr>
          <a:xfrm>
            <a:off x="762000" y="5839511"/>
            <a:ext cx="450342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切换根目录不会自动迁移数据；原数据目录需妥善保留。</a:t>
            </a:r>
            <a:endParaRPr lang="zh-CN" sz="1380"/>
          </a:p>
        </p:txBody>
      </p:sp>
      <p:sp>
        <p:nvSpPr>
          <p:cNvPr id="32" name="23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23 / 26</a:t>
            </a:r>
            <a:endParaRPr lang="zh-CN" sz="84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安全使用边界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安全与支持"/>
          <p:cNvSpPr txBox="1"/>
          <p:nvPr/>
        </p:nvSpPr>
        <p:spPr>
          <a:xfrm>
            <a:off x="10545187" y="217475"/>
            <a:ext cx="118961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安全与支持</a:t>
            </a:r>
            <a:endParaRPr lang="zh-CN" sz="780"/>
          </a:p>
        </p:txBody>
      </p:sp>
      <p:sp>
        <p:nvSpPr>
          <p:cNvPr id="6" name="22 / SAFE USE"/>
          <p:cNvSpPr txBox="1"/>
          <p:nvPr/>
        </p:nvSpPr>
        <p:spPr>
          <a:xfrm>
            <a:off x="579120" y="733044"/>
            <a:ext cx="954048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22 / SAFE USE</a:t>
            </a:r>
            <a:endParaRPr lang="zh-CN" sz="900"/>
          </a:p>
        </p:txBody>
      </p:sp>
      <p:sp>
        <p:nvSpPr>
          <p:cNvPr id="7" name="安全使用边界"/>
          <p:cNvSpPr txBox="1"/>
          <p:nvPr/>
        </p:nvSpPr>
        <p:spPr>
          <a:xfrm>
            <a:off x="579120" y="1014832"/>
            <a:ext cx="222504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安全使用边界</a:t>
            </a:r>
            <a:endParaRPr lang="zh-CN" sz="2760"/>
          </a:p>
        </p:txBody>
      </p:sp>
      <p:sp>
        <p:nvSpPr>
          <p:cNvPr id="8" name="数据、权限和关键操作需要清晰边界，结果提交前保留人工复核"/>
          <p:cNvSpPr txBox="1"/>
          <p:nvPr/>
        </p:nvSpPr>
        <p:spPr>
          <a:xfrm>
            <a:off x="579120" y="1548232"/>
            <a:ext cx="460248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数据、权限和关键操作需要清晰边界，结果提交前保留人工复核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01"/>
          <p:cNvSpPr txBox="1"/>
          <p:nvPr/>
        </p:nvSpPr>
        <p:spPr>
          <a:xfrm>
            <a:off x="579120" y="2240737"/>
            <a:ext cx="367725" cy="3886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</a:t>
            </a:r>
            <a:endParaRPr lang="zh-CN" sz="1920"/>
          </a:p>
        </p:txBody>
      </p:sp>
      <p:sp>
        <p:nvSpPr>
          <p:cNvPr id="12" name="使用本人账号和 Key"/>
          <p:cNvSpPr txBox="1"/>
          <p:nvPr/>
        </p:nvSpPr>
        <p:spPr>
          <a:xfrm>
            <a:off x="1371600" y="2232508"/>
            <a:ext cx="2280999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使用本人账号和 Key</a:t>
            </a:r>
            <a:endParaRPr lang="zh-CN" sz="1860"/>
          </a:p>
        </p:txBody>
      </p:sp>
      <p:sp>
        <p:nvSpPr>
          <p:cNvPr id="13" name="不得共享、转交或在对话中粘贴凭证"/>
          <p:cNvSpPr txBox="1"/>
          <p:nvPr/>
        </p:nvSpPr>
        <p:spPr>
          <a:xfrm>
            <a:off x="6057900" y="2277770"/>
            <a:ext cx="304800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不得共享、转交或在对话中粘贴凭证</a:t>
            </a:r>
            <a:endParaRPr lang="zh-CN" sz="1440"/>
          </a:p>
        </p:txBody>
      </p:sp>
      <p:sp>
        <p:nvSpPr>
          <p:cNvPr id="14" name="Style"/>
          <p:cNvSpPr txBox="1"/>
          <p:nvPr/>
        </p:nvSpPr>
        <p:spPr>
          <a:xfrm>
            <a:off x="1371600" y="2849880"/>
            <a:ext cx="1024128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5" name="02"/>
          <p:cNvSpPr txBox="1"/>
          <p:nvPr/>
        </p:nvSpPr>
        <p:spPr>
          <a:xfrm>
            <a:off x="579120" y="3078937"/>
            <a:ext cx="414576" cy="3886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02</a:t>
            </a:r>
            <a:endParaRPr lang="zh-CN" sz="1920"/>
          </a:p>
        </p:txBody>
      </p:sp>
      <p:sp>
        <p:nvSpPr>
          <p:cNvPr id="16" name="敏感信息使用 Local"/>
          <p:cNvSpPr txBox="1"/>
          <p:nvPr/>
        </p:nvSpPr>
        <p:spPr>
          <a:xfrm>
            <a:off x="1371600" y="3070708"/>
            <a:ext cx="2227124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敏感信息使用 Local</a:t>
            </a:r>
            <a:endParaRPr lang="zh-CN" sz="1860"/>
          </a:p>
        </p:txBody>
      </p:sp>
      <p:sp>
        <p:nvSpPr>
          <p:cNvPr id="17" name="遵守公司 Claw 类智能体工具使用规范"/>
          <p:cNvSpPr txBox="1"/>
          <p:nvPr/>
        </p:nvSpPr>
        <p:spPr>
          <a:xfrm>
            <a:off x="6057900" y="3115970"/>
            <a:ext cx="3220462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遵守公司 Claw 类智能体工具使用规范</a:t>
            </a:r>
            <a:endParaRPr lang="zh-CN" sz="1440"/>
          </a:p>
        </p:txBody>
      </p:sp>
      <p:sp>
        <p:nvSpPr>
          <p:cNvPr id="18" name="Style"/>
          <p:cNvSpPr txBox="1"/>
          <p:nvPr/>
        </p:nvSpPr>
        <p:spPr>
          <a:xfrm>
            <a:off x="1371600" y="3688080"/>
            <a:ext cx="1024128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9" name="03"/>
          <p:cNvSpPr txBox="1"/>
          <p:nvPr/>
        </p:nvSpPr>
        <p:spPr>
          <a:xfrm>
            <a:off x="579120" y="3917137"/>
            <a:ext cx="414576" cy="3886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03</a:t>
            </a:r>
            <a:endParaRPr lang="zh-CN" sz="1920"/>
          </a:p>
        </p:txBody>
      </p:sp>
      <p:sp>
        <p:nvSpPr>
          <p:cNvPr id="20" name="关键写操作必须确认"/>
          <p:cNvSpPr txBox="1"/>
          <p:nvPr/>
        </p:nvSpPr>
        <p:spPr>
          <a:xfrm>
            <a:off x="1371600" y="3908908"/>
            <a:ext cx="2247900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关键写操作必须确认</a:t>
            </a:r>
            <a:endParaRPr lang="zh-CN" sz="1860"/>
          </a:p>
        </p:txBody>
      </p:sp>
      <p:sp>
        <p:nvSpPr>
          <p:cNvPr id="21" name="发送、修改、删除前人工复核"/>
          <p:cNvSpPr txBox="1"/>
          <p:nvPr/>
        </p:nvSpPr>
        <p:spPr>
          <a:xfrm>
            <a:off x="6057900" y="3954170"/>
            <a:ext cx="249936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发送、修改、删除前人工复核</a:t>
            </a:r>
            <a:endParaRPr lang="zh-CN" sz="1440"/>
          </a:p>
        </p:txBody>
      </p:sp>
      <p:sp>
        <p:nvSpPr>
          <p:cNvPr id="22" name="Style"/>
          <p:cNvSpPr txBox="1"/>
          <p:nvPr/>
        </p:nvSpPr>
        <p:spPr>
          <a:xfrm>
            <a:off x="1371600" y="4526280"/>
            <a:ext cx="1024128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23" name="04"/>
          <p:cNvSpPr txBox="1"/>
          <p:nvPr/>
        </p:nvSpPr>
        <p:spPr>
          <a:xfrm>
            <a:off x="579120" y="4755337"/>
            <a:ext cx="414576" cy="3886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920" b="0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04</a:t>
            </a:r>
            <a:endParaRPr lang="zh-CN" sz="1920"/>
          </a:p>
        </p:txBody>
      </p:sp>
      <p:sp>
        <p:nvSpPr>
          <p:cNvPr id="24" name="结果提交前人工检查"/>
          <p:cNvSpPr txBox="1"/>
          <p:nvPr/>
        </p:nvSpPr>
        <p:spPr>
          <a:xfrm>
            <a:off x="1371600" y="4747108"/>
            <a:ext cx="2247900" cy="3771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结果提交前人工检查</a:t>
            </a:r>
            <a:endParaRPr lang="zh-CN" sz="1860"/>
          </a:p>
        </p:txBody>
      </p:sp>
      <p:sp>
        <p:nvSpPr>
          <p:cNvPr id="25" name="核对事实、来源、格式和敏感信息"/>
          <p:cNvSpPr txBox="1"/>
          <p:nvPr/>
        </p:nvSpPr>
        <p:spPr>
          <a:xfrm>
            <a:off x="6057900" y="4792370"/>
            <a:ext cx="2865120" cy="3009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核对事实、来源、格式和敏感信息</a:t>
            </a:r>
            <a:endParaRPr lang="zh-CN" sz="1440"/>
          </a:p>
        </p:txBody>
      </p:sp>
      <p:sp>
        <p:nvSpPr>
          <p:cNvPr id="26" name="Style"/>
          <p:cNvSpPr txBox="1"/>
          <p:nvPr/>
        </p:nvSpPr>
        <p:spPr>
          <a:xfrm>
            <a:off x="1371600" y="5364480"/>
            <a:ext cx="1024128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27" name="24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24 / 26</a:t>
            </a:r>
            <a:endParaRPr lang="zh-CN" sz="84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遇到问题时的排查与反馈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安全与支持"/>
          <p:cNvSpPr txBox="1"/>
          <p:nvPr/>
        </p:nvSpPr>
        <p:spPr>
          <a:xfrm>
            <a:off x="10545187" y="217475"/>
            <a:ext cx="118961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安全与支持</a:t>
            </a:r>
            <a:endParaRPr lang="zh-CN" sz="780"/>
          </a:p>
        </p:txBody>
      </p:sp>
      <p:sp>
        <p:nvSpPr>
          <p:cNvPr id="6" name="23 / TROUBLESHOOTING"/>
          <p:cNvSpPr txBox="1"/>
          <p:nvPr/>
        </p:nvSpPr>
        <p:spPr>
          <a:xfrm>
            <a:off x="579120" y="733044"/>
            <a:ext cx="1540192" cy="2057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9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23 / TROUBLESHOOTING</a:t>
            </a:r>
            <a:endParaRPr lang="zh-CN" sz="900"/>
          </a:p>
        </p:txBody>
      </p:sp>
      <p:sp>
        <p:nvSpPr>
          <p:cNvPr id="7" name="遇到问题时的排查与反馈"/>
          <p:cNvSpPr txBox="1"/>
          <p:nvPr/>
        </p:nvSpPr>
        <p:spPr>
          <a:xfrm>
            <a:off x="579120" y="1014832"/>
            <a:ext cx="3977640" cy="5372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7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遇到问题时的排查与反馈</a:t>
            </a:r>
            <a:endParaRPr lang="zh-CN" sz="2760"/>
          </a:p>
        </p:txBody>
      </p:sp>
      <p:sp>
        <p:nvSpPr>
          <p:cNvPr id="8" name="保留问题现场，结合会话分析与日志反馈定位原因"/>
          <p:cNvSpPr txBox="1"/>
          <p:nvPr/>
        </p:nvSpPr>
        <p:spPr>
          <a:xfrm>
            <a:off x="579120" y="1548232"/>
            <a:ext cx="3642360" cy="27051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保留问题现场，结合会话分析与日志反馈定位原因</a:t>
            </a:r>
            <a:endParaRPr lang="zh-CN" sz="1260"/>
          </a:p>
        </p:txBody>
      </p:sp>
      <p:sp>
        <p:nvSpPr>
          <p:cNvPr id="9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0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11" name="Style"/>
          <p:cNvSpPr txBox="1"/>
          <p:nvPr/>
        </p:nvSpPr>
        <p:spPr>
          <a:xfrm>
            <a:off x="579120" y="2286000"/>
            <a:ext cx="3515360" cy="1524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12" name="01  保存现场"/>
          <p:cNvSpPr txBox="1"/>
          <p:nvPr/>
        </p:nvSpPr>
        <p:spPr>
          <a:xfrm>
            <a:off x="579120" y="2456688"/>
            <a:ext cx="1419463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01  保存现场</a:t>
            </a:r>
            <a:endParaRPr lang="zh-CN" sz="1800"/>
          </a:p>
        </p:txBody>
      </p:sp>
      <p:sp>
        <p:nvSpPr>
          <p:cNvPr id="13" name="记录任务目标与操作步骤"/>
          <p:cNvSpPr txBox="1"/>
          <p:nvPr/>
        </p:nvSpPr>
        <p:spPr>
          <a:xfrm>
            <a:off x="579120" y="2982011"/>
            <a:ext cx="204978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记录任务目标与操作步骤</a:t>
            </a:r>
            <a:endParaRPr lang="zh-CN" sz="1380"/>
          </a:p>
        </p:txBody>
      </p:sp>
      <p:sp>
        <p:nvSpPr>
          <p:cNvPr id="14" name="保留错误信息、页面状态"/>
          <p:cNvSpPr txBox="1"/>
          <p:nvPr/>
        </p:nvSpPr>
        <p:spPr>
          <a:xfrm>
            <a:off x="579120" y="3227339"/>
            <a:ext cx="204978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保留错误信息、页面状态</a:t>
            </a:r>
            <a:endParaRPr lang="zh-CN" sz="1380"/>
          </a:p>
        </p:txBody>
      </p:sp>
      <p:sp>
        <p:nvSpPr>
          <p:cNvPr id="15" name="以及相关会话"/>
          <p:cNvSpPr txBox="1"/>
          <p:nvPr/>
        </p:nvSpPr>
        <p:spPr>
          <a:xfrm>
            <a:off x="579120" y="3472667"/>
            <a:ext cx="117348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以及相关会话</a:t>
            </a:r>
            <a:endParaRPr lang="zh-CN" sz="1380"/>
          </a:p>
        </p:txBody>
      </p:sp>
      <p:sp>
        <p:nvSpPr>
          <p:cNvPr id="16" name="Style"/>
          <p:cNvSpPr txBox="1"/>
          <p:nvPr/>
        </p:nvSpPr>
        <p:spPr>
          <a:xfrm>
            <a:off x="4338320" y="2286000"/>
            <a:ext cx="3515360" cy="1524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17" name="02  让 WorkMate 自查"/>
          <p:cNvSpPr txBox="1"/>
          <p:nvPr/>
        </p:nvSpPr>
        <p:spPr>
          <a:xfrm>
            <a:off x="4338280" y="2456688"/>
            <a:ext cx="2503051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02  让 WorkMate 自查</a:t>
            </a:r>
            <a:endParaRPr lang="zh-CN" sz="1800"/>
          </a:p>
        </p:txBody>
      </p:sp>
      <p:sp>
        <p:nvSpPr>
          <p:cNvPr id="18" name="“刚才的会话为什么跑这么久？”"/>
          <p:cNvSpPr txBox="1"/>
          <p:nvPr/>
        </p:nvSpPr>
        <p:spPr>
          <a:xfrm>
            <a:off x="4338280" y="2982011"/>
            <a:ext cx="2588538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“刚才的会话为什么跑这么久？”</a:t>
            </a:r>
            <a:endParaRPr lang="zh-CN" sz="1380"/>
          </a:p>
        </p:txBody>
      </p:sp>
      <p:sp>
        <p:nvSpPr>
          <p:cNvPr id="19" name="“为什么没有使用某个 Skill？”"/>
          <p:cNvSpPr txBox="1"/>
          <p:nvPr/>
        </p:nvSpPr>
        <p:spPr>
          <a:xfrm>
            <a:off x="4338280" y="3227339"/>
            <a:ext cx="2451854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“为什么没有使用某个 Skill？”</a:t>
            </a:r>
            <a:endParaRPr lang="zh-CN" sz="1380"/>
          </a:p>
        </p:txBody>
      </p:sp>
      <p:sp>
        <p:nvSpPr>
          <p:cNvPr id="20" name="“为什么这样处理文档？”"/>
          <p:cNvSpPr txBox="1"/>
          <p:nvPr/>
        </p:nvSpPr>
        <p:spPr>
          <a:xfrm>
            <a:off x="4338280" y="3472667"/>
            <a:ext cx="2062758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“为什么这样处理文档？”</a:t>
            </a:r>
            <a:endParaRPr lang="zh-CN" sz="1380"/>
          </a:p>
        </p:txBody>
      </p:sp>
      <p:sp>
        <p:nvSpPr>
          <p:cNvPr id="21" name="Style"/>
          <p:cNvSpPr txBox="1"/>
          <p:nvPr/>
        </p:nvSpPr>
        <p:spPr>
          <a:xfrm>
            <a:off x="8097520" y="2286000"/>
            <a:ext cx="3515360" cy="1524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22" name="03  反馈与日志上报"/>
          <p:cNvSpPr txBox="1"/>
          <p:nvPr/>
        </p:nvSpPr>
        <p:spPr>
          <a:xfrm>
            <a:off x="8097500" y="2456688"/>
            <a:ext cx="2148721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03  反馈与日志上报</a:t>
            </a:r>
            <a:endParaRPr lang="zh-CN" sz="1800"/>
          </a:p>
        </p:txBody>
      </p:sp>
      <p:sp>
        <p:nvSpPr>
          <p:cNvPr id="23" name="通过用户群支持渠道反馈"/>
          <p:cNvSpPr txBox="1"/>
          <p:nvPr/>
        </p:nvSpPr>
        <p:spPr>
          <a:xfrm>
            <a:off x="8097500" y="2982011"/>
            <a:ext cx="204978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通过用户群支持渠道反馈</a:t>
            </a:r>
            <a:endParaRPr lang="zh-CN" sz="1380"/>
          </a:p>
        </p:txBody>
      </p:sp>
      <p:sp>
        <p:nvSpPr>
          <p:cNvPr id="24" name="复杂问题进入“设置 &gt; 日志上报”"/>
          <p:cNvSpPr txBox="1"/>
          <p:nvPr/>
        </p:nvSpPr>
        <p:spPr>
          <a:xfrm>
            <a:off x="8097500" y="3227339"/>
            <a:ext cx="2636044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复杂问题进入“设置 &gt; 日志上报”</a:t>
            </a:r>
            <a:endParaRPr lang="zh-CN" sz="1380"/>
          </a:p>
        </p:txBody>
      </p:sp>
      <p:sp>
        <p:nvSpPr>
          <p:cNvPr id="25" name="配合开发人员排查"/>
          <p:cNvSpPr txBox="1"/>
          <p:nvPr/>
        </p:nvSpPr>
        <p:spPr>
          <a:xfrm>
            <a:off x="8097500" y="3472667"/>
            <a:ext cx="1524000" cy="29337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配合开发人员排查</a:t>
            </a:r>
            <a:endParaRPr lang="zh-CN" sz="1380"/>
          </a:p>
        </p:txBody>
      </p:sp>
      <p:sp>
        <p:nvSpPr>
          <p:cNvPr id="26" name="25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25 / 26</a:t>
            </a:r>
            <a:endParaRPr lang="zh-CN" sz="84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Mate 使用培训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yle"/>
          <p:cNvSpPr txBox="1"/>
          <p:nvPr/>
        </p:nvSpPr>
        <p:spPr>
          <a:xfrm>
            <a:off x="0" y="0"/>
            <a:ext cx="38100" cy="6858000"/>
          </a:xfrm>
          <a:prstGeom prst="rect">
            <a:avLst/>
          </a:prstGeom>
          <a:solidFill>
            <a:srgbClr val="1765DC"/>
          </a:solidFill>
          <a:ln>
            <a:noFill/>
          </a:ln>
        </p:spPr>
      </p:sp>
      <p:sp>
        <p:nvSpPr>
          <p:cNvPr id="3" name="Style"/>
          <p:cNvSpPr txBox="1"/>
          <p:nvPr/>
        </p:nvSpPr>
        <p:spPr>
          <a:xfrm>
            <a:off x="579120" y="259080"/>
            <a:ext cx="91440" cy="91440"/>
          </a:xfrm>
          <a:prstGeom prst="rect">
            <a:avLst/>
          </a:prstGeom>
          <a:solidFill>
            <a:srgbClr val="FFFFFF"/>
          </a:solidFill>
          <a:ln w="7620">
            <a:solidFill>
              <a:srgbClr val="1765DC"/>
            </a:solidFill>
          </a:ln>
        </p:spPr>
      </p:sp>
      <p:sp>
        <p:nvSpPr>
          <p:cNvPr id="4" name="WORKMATE"/>
          <p:cNvSpPr txBox="1"/>
          <p:nvPr/>
        </p:nvSpPr>
        <p:spPr>
          <a:xfrm>
            <a:off x="777240" y="218084"/>
            <a:ext cx="759678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1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WORKMATE</a:t>
            </a:r>
            <a:endParaRPr lang="zh-CN" sz="840"/>
          </a:p>
        </p:txBody>
      </p:sp>
      <p:sp>
        <p:nvSpPr>
          <p:cNvPr id="5" name="TRAINING / 培训交流"/>
          <p:cNvSpPr txBox="1"/>
          <p:nvPr/>
        </p:nvSpPr>
        <p:spPr>
          <a:xfrm>
            <a:off x="10644247" y="217475"/>
            <a:ext cx="1090553" cy="18669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8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TRAINING / 培训交流</a:t>
            </a:r>
            <a:endParaRPr lang="zh-CN" sz="780"/>
          </a:p>
        </p:txBody>
      </p:sp>
      <p:sp>
        <p:nvSpPr>
          <p:cNvPr id="6" name="Style"/>
          <p:cNvSpPr txBox="1"/>
          <p:nvPr/>
        </p:nvSpPr>
        <p:spPr>
          <a:xfrm>
            <a:off x="579120" y="6416040"/>
            <a:ext cx="11033760" cy="7620"/>
          </a:xfrm>
          <a:prstGeom prst="rect">
            <a:avLst/>
          </a:prstGeom>
          <a:solidFill>
            <a:srgbClr val="DBE5F1"/>
          </a:solidFill>
          <a:ln>
            <a:noFill/>
          </a:ln>
        </p:spPr>
      </p:sp>
      <p:sp>
        <p:nvSpPr>
          <p:cNvPr id="7" name="WorkMate 使用培训　 /　 信息技术部 · 运营管理室 · AI研发效能"/>
          <p:cNvSpPr txBox="1"/>
          <p:nvPr/>
        </p:nvSpPr>
        <p:spPr>
          <a:xfrm>
            <a:off x="579120" y="6514795"/>
            <a:ext cx="3183910" cy="1714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720" b="0" dirty="0">
                <a:solidFill>
                  <a:srgbClr val="788BA3"/>
                </a:solidFill>
                <a:latin typeface="PingFang SC"/>
                <a:ea typeface="PingFang SC"/>
                <a:cs typeface="Arial"/>
              </a:rPr>
              <a:t xml:space="preserve">WorkMate 使用培训　 /　 信息技术部 · 运营管理室 · AI研发效能管理团队</a:t>
            </a:r>
            <a:endParaRPr lang="zh-CN" sz="720"/>
          </a:p>
        </p:txBody>
      </p:sp>
      <p:sp>
        <p:nvSpPr>
          <p:cNvPr id="8" name="欢迎加入 WorkMate 用户群"/>
          <p:cNvSpPr txBox="1"/>
          <p:nvPr/>
        </p:nvSpPr>
        <p:spPr>
          <a:xfrm>
            <a:off x="640080" y="1120597"/>
            <a:ext cx="5572899" cy="6553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42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欢迎加入 WorkMate 用户群</a:t>
            </a:r>
            <a:endParaRPr lang="zh-CN" sz="3420"/>
          </a:p>
        </p:txBody>
      </p:sp>
      <p:sp>
        <p:nvSpPr>
          <p:cNvPr id="9" name="交流使用经验，反馈问题，继续探索 AI 工作方式"/>
          <p:cNvSpPr txBox="1"/>
          <p:nvPr/>
        </p:nvSpPr>
        <p:spPr>
          <a:xfrm>
            <a:off x="670560" y="1878940"/>
            <a:ext cx="4393406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交流使用经验，反馈问题，继续探索 AI 工作方式</a:t>
            </a:r>
            <a:endParaRPr lang="zh-CN" sz="1560"/>
          </a:p>
        </p:txBody>
      </p:sp>
      <p:sp>
        <p:nvSpPr>
          <p:cNvPr id="10" name="飞书用户群"/>
          <p:cNvSpPr txBox="1"/>
          <p:nvPr/>
        </p:nvSpPr>
        <p:spPr>
          <a:xfrm>
            <a:off x="2933700" y="2609088"/>
            <a:ext cx="1264920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飞书用户群</a:t>
            </a:r>
            <a:endParaRPr lang="zh-CN" sz="1800"/>
          </a:p>
        </p:txBody>
      </p:sp>
      <p:sp>
        <p:nvSpPr>
          <p:cNvPr id="11" name="铃客用户群"/>
          <p:cNvSpPr txBox="1"/>
          <p:nvPr/>
        </p:nvSpPr>
        <p:spPr>
          <a:xfrm>
            <a:off x="8115300" y="2609088"/>
            <a:ext cx="1264920" cy="36576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00" b="1" dirty="0">
                <a:solidFill>
                  <a:srgbClr val="1765DC"/>
                </a:solidFill>
                <a:latin typeface="PingFang SC"/>
                <a:ea typeface="PingFang SC"/>
                <a:cs typeface="Arial"/>
              </a:rPr>
              <a:t xml:space="preserve">铃客用户群</a:t>
            </a:r>
            <a:endParaRPr lang="zh-CN" sz="1800"/>
          </a:p>
        </p:txBody>
      </p:sp>
      <p:pic>
        <p:nvPicPr>
          <p:cNvPr id="12" name="feishu-group-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3048000"/>
            <a:ext cx="2743200" cy="2743200"/>
          </a:xfrm>
          <a:prstGeom prst="rect">
            <a:avLst/>
          </a:prstGeom>
        </p:spPr>
      </p:pic>
      <p:pic>
        <p:nvPicPr>
          <p:cNvPr id="13" name="lingke-group-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3048000"/>
            <a:ext cx="2743200" cy="2743200"/>
          </a:xfrm>
          <a:prstGeom prst="rect">
            <a:avLst/>
          </a:prstGeom>
        </p:spPr>
      </p:pic>
      <p:sp>
        <p:nvSpPr>
          <p:cNvPr id="14" name="谢谢"/>
          <p:cNvSpPr txBox="1"/>
          <p:nvPr/>
        </p:nvSpPr>
        <p:spPr>
          <a:xfrm>
            <a:off x="670560" y="5970880"/>
            <a:ext cx="518160" cy="32385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60" b="1" dirty="0">
                <a:solidFill>
                  <a:srgbClr val="152C49"/>
                </a:solidFill>
                <a:latin typeface="PingFang SC"/>
                <a:ea typeface="PingFang SC"/>
                <a:cs typeface="Arial"/>
              </a:rPr>
              <a:t xml:space="preserve">谢谢</a:t>
            </a:r>
            <a:endParaRPr lang="zh-CN" sz="1560"/>
          </a:p>
        </p:txBody>
      </p:sp>
      <p:sp>
        <p:nvSpPr>
          <p:cNvPr id="15" name="仅限企业内部成员加入　·　二维码有效期：11 月 4 日前"/>
          <p:cNvSpPr txBox="1"/>
          <p:nvPr/>
        </p:nvSpPr>
        <p:spPr>
          <a:xfrm>
            <a:off x="4198501" y="5871972"/>
            <a:ext cx="3916859" cy="25908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仅限企业内部成员加入　·　二维码有效期：11 月 4 日前</a:t>
            </a:r>
            <a:endParaRPr lang="zh-CN" sz="1200"/>
          </a:p>
        </p:txBody>
      </p:sp>
      <p:sp>
        <p:nvSpPr>
          <p:cNvPr id="16" name="26 / 26"/>
          <p:cNvSpPr txBox="1"/>
          <p:nvPr/>
        </p:nvSpPr>
        <p:spPr>
          <a:xfrm>
            <a:off x="11232416" y="6489344"/>
            <a:ext cx="502384" cy="19812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840" b="0" dirty="0">
                <a:solidFill>
                  <a:srgbClr val="526983"/>
                </a:solidFill>
                <a:latin typeface="PingFang SC"/>
                <a:ea typeface="PingFang SC"/>
                <a:cs typeface="Arial"/>
              </a:rPr>
              <a:t xml:space="preserve">26 / 26</a:t>
            </a:r>
            <a:endParaRPr lang="zh-CN" sz="84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