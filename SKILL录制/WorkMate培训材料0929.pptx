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79" r:id="rId7"/>
    <p:sldId id="291" r:id="rId8"/>
    <p:sldId id="263" r:id="rId9"/>
    <p:sldId id="262" r:id="rId10"/>
    <p:sldId id="283" r:id="rId11"/>
    <p:sldId id="289" r:id="rId12"/>
    <p:sldId id="281" r:id="rId13"/>
    <p:sldId id="270" r:id="rId14"/>
    <p:sldId id="271" r:id="rId15"/>
    <p:sldId id="276" r:id="rId16"/>
    <p:sldId id="277" r:id="rId17"/>
    <p:sldId id="266" r:id="rId18"/>
    <p:sldId id="287" r:id="rId19"/>
    <p:sldId id="274" r:id="rId20"/>
    <p:sldId id="282" r:id="rId21"/>
    <p:sldId id="272" r:id="rId22"/>
    <p:sldId id="278" r:id="rId23"/>
    <p:sldId id="280" r:id="rId24"/>
    <p:sldId id="268" r:id="rId25"/>
    <p:sldId id="290" r:id="rId26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开场说明：本课程面向全体员工，帮助大家理解 WorkMate 的定位、核心能力、典型场景和安全边界。</a:t>
            </a:r>
          </a:p>
          <a:p/>
          <a:p>
            <a:r>
              <a:t>[Sources]</a:t>
            </a:r>
          </a:p>
          <a:p>
            <a:r>
              <a:t>- 用户提供的《WorkMate新员工培训_WorkMate_秦晓0818.pptx》</a:t>
            </a:r>
          </a:p>
          <a:p>
            <a:r>
              <a:t>- 产品截图取自同一源文件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课程采用学习递进：先理解产品，再判断场景，随后掌握功能，最后明确安全边界。</a:t>
            </a:r>
          </a:p>
          <a:p/>
          <a:p>
            <a:r>
              <a:t>[Sources]</a:t>
            </a:r>
          </a:p>
          <a:p>
            <a:r>
              <a:t>- 用户提供的《WorkMate新员工培训_WorkMate_秦晓0818.pptx》</a:t>
            </a:r>
          </a:p>
          <a:p>
            <a:r>
              <a:t>- 产品截图取自同一源文件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结合产品截图介绍左侧项目与会话、中间对话区和右侧文件区。</a:t>
            </a:r>
          </a:p>
          <a:p/>
          <a:p>
            <a:r>
              <a:t>[Sources]</a:t>
            </a:r>
          </a:p>
          <a:p>
            <a:r>
              <a:t>- 用户提供的《WorkMate新员工培训_WorkMate_秦晓0818.pptx》</a:t>
            </a:r>
          </a:p>
          <a:p>
            <a:r>
              <a:t>- 产品截图取自同一源文件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课程采用学习递进：先理解产品，再判断场景，随后掌握功能，最后明确安全边界。</a:t>
            </a:r>
          </a:p>
          <a:p/>
          <a:p>
            <a:r>
              <a:t>[Sources]</a:t>
            </a:r>
          </a:p>
          <a:p>
            <a:r>
              <a:t>- 用户提供的《WorkMate新员工培训_WorkMate_秦晓0818.pptx》</a:t>
            </a:r>
          </a:p>
          <a:p>
            <a:r>
              <a:t>- 产品截图取自同一源文件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课程采用学习递进：先理解产品，再判断场景，随后掌握功能，最后明确安全边界。</a:t>
            </a:r>
          </a:p>
          <a:p/>
          <a:p>
            <a:r>
              <a:t>[Sources]</a:t>
            </a:r>
          </a:p>
          <a:p>
            <a:r>
              <a:t>- 用户提供的《WorkMate新员工培训_WorkMate_秦晓0818.pptx》</a:t>
            </a:r>
          </a:p>
          <a:p>
            <a:r>
              <a:t>- 产品截图取自同一源文件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给出简单判断：一次性内容任务优先 Chat，多步骤且需要持续推进的任务优先 Agent。</a:t>
            </a:r>
          </a:p>
          <a:p/>
          <a:p>
            <a:r>
              <a:t>[Sources]</a:t>
            </a:r>
          </a:p>
          <a:p>
            <a:r>
              <a:t>- 用户提供的《WorkMate新员工培训_WorkMate_秦晓0818.pptx》</a:t>
            </a:r>
          </a:p>
          <a:p>
            <a:r>
              <a:t>- 产品截图取自同一源文件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项目不是文件夹的简单替代，而是任务边界与长期上下文的载体。</a:t>
            </a:r>
          </a:p>
          <a:p/>
          <a:p>
            <a:r>
              <a:t>[Sources]</a:t>
            </a:r>
          </a:p>
          <a:p>
            <a:r>
              <a:t>- 用户提供的《WorkMate新员工培训_WorkMate_秦晓0818.pptx》</a:t>
            </a:r>
          </a:p>
          <a:p>
            <a:r>
              <a:t>- 产品截图取自同一源文件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项目不是文件夹的简单替代，而是任务边界与长期上下文的载体。</a:t>
            </a:r>
          </a:p>
          <a:p/>
          <a:p>
            <a:r>
              <a:t>[Sources]</a:t>
            </a:r>
          </a:p>
          <a:p>
            <a:r>
              <a:t>- 用户提供的《WorkMate新员工培训_WorkMate_秦晓0818.pptx》</a:t>
            </a:r>
          </a:p>
          <a:p>
            <a:r>
              <a:t>- 产品截图取自同一源文件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项目不是文件夹的简单替代，而是任务边界与长期上下文的载体。</a:t>
            </a:r>
          </a:p>
          <a:p/>
          <a:p>
            <a:r>
              <a:t>[Sources]</a:t>
            </a:r>
          </a:p>
          <a:p>
            <a:r>
              <a:t>- 用户提供的《WorkMate新员工培训_WorkMate_秦晓0818.pptx》</a:t>
            </a:r>
          </a:p>
          <a:p>
            <a:r>
              <a:t>- 产品截图取自同一源文件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三层能力由浅入深：Skill 是流程，专家是角色，专家团是协作机制。</a:t>
            </a:r>
          </a:p>
          <a:p/>
          <a:p>
            <a:r>
              <a:t>[Sources]</a:t>
            </a:r>
          </a:p>
          <a:p>
            <a:r>
              <a:t>- 用户提供的《WorkMate新员工培训_WorkMate_秦晓0818.pptx》</a:t>
            </a:r>
          </a:p>
          <a:p>
            <a:r>
              <a:t>- 产品截图取自同一源文件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给出简单判断：一次性内容任务优先 Chat，多步骤且需要持续推进的任务优先 Agent。</a:t>
            </a:r>
          </a:p>
          <a:p/>
          <a:p>
            <a:r>
              <a:t>[Sources]</a:t>
            </a:r>
          </a:p>
          <a:p>
            <a:r>
              <a:t>- 用户提供的《WorkMate新员工培训_WorkMate_秦晓0818.pptx》</a:t>
            </a:r>
          </a:p>
          <a:p>
            <a:r>
              <a:t>- 产品截图取自同一源文件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给出简单判断：一次性内容任务优先 Chat，多步骤且需要持续推进的任务优先 Agent。</a:t>
            </a:r>
          </a:p>
          <a:p/>
          <a:p>
            <a:r>
              <a:t>[Sources]</a:t>
            </a:r>
          </a:p>
          <a:p>
            <a:r>
              <a:t>- 用户提供的《WorkMate新员工培训_WorkMate_秦晓0818.pptx》</a:t>
            </a:r>
          </a:p>
          <a:p>
            <a:r>
              <a:t>- 产品截图取自同一源文件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三层能力由浅入深：Skill 是流程，专家是角色，专家团是协作机制。</a:t>
            </a:r>
          </a:p>
          <a:p/>
          <a:p>
            <a:r>
              <a:t>[Sources]</a:t>
            </a:r>
          </a:p>
          <a:p>
            <a:r>
              <a:t>- 用户提供的《WorkMate新员工培训_WorkMate_秦晓0818.pptx》</a:t>
            </a:r>
          </a:p>
          <a:p>
            <a:r>
              <a:t>- 产品截图取自同一源文件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给出简单判断：一次性内容任务优先 Chat，多步骤且需要持续推进的任务优先 Agent。</a:t>
            </a:r>
          </a:p>
          <a:p/>
          <a:p>
            <a:r>
              <a:t>[Sources]</a:t>
            </a:r>
          </a:p>
          <a:p>
            <a:r>
              <a:t>- 用户提供的《WorkMate新员工培训_WorkMate_秦晓0818.pptx》</a:t>
            </a:r>
          </a:p>
          <a:p>
            <a:r>
              <a:t>- 产品截图取自同一源文件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连接器既可能读取，也可能执行写操作。强调工作区配置、最小权限和关键操作确认。</a:t>
            </a:r>
          </a:p>
          <a:p/>
          <a:p>
            <a:r>
              <a:t>[Sources]</a:t>
            </a:r>
          </a:p>
          <a:p>
            <a:r>
              <a:t>- 用户提供的《WorkMate新员工培训_WorkMate_秦晓0818.pptx》</a:t>
            </a:r>
          </a:p>
          <a:p>
            <a:r>
              <a:t>- 产品截图取自同一源文件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三层能力由浅入深：Skill 是流程，专家是角色，专家团是协作机制。</a:t>
            </a:r>
          </a:p>
          <a:p/>
          <a:p>
            <a:r>
              <a:t>[Sources]</a:t>
            </a:r>
          </a:p>
          <a:p>
            <a:r>
              <a:t>- 用户提供的《WorkMate新员工培训_WorkMate_秦晓0818.pptx》</a:t>
            </a:r>
          </a:p>
          <a:p>
            <a:r>
              <a:t>- 产品截图取自同一源文件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连接器既可能读取，也可能执行写操作。强调工作区配置、最小权限和关键操作确认。</a:t>
            </a:r>
          </a:p>
          <a:p/>
          <a:p>
            <a:r>
              <a:t>[Sources]</a:t>
            </a:r>
          </a:p>
          <a:p>
            <a:r>
              <a:t>- 用户提供的《WorkMate新员工培训_WorkMate_秦晓0818.pptx》</a:t>
            </a:r>
          </a:p>
          <a:p>
            <a:r>
              <a:t>- 产品截图取自同一源文件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给出简单判断：一次性内容任务优先 Chat，多步骤且需要持续推进的任务优先 Agent。</a:t>
            </a:r>
          </a:p>
          <a:p/>
          <a:p>
            <a:r>
              <a:t>[Sources]</a:t>
            </a:r>
          </a:p>
          <a:p>
            <a:r>
              <a:t>- 用户提供的《WorkMate新员工培训_WorkMate_秦晓0818.pptx》</a:t>
            </a:r>
          </a:p>
          <a:p>
            <a:r>
              <a:t>- 产品截图取自同一源文件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连接器既可能读取，也可能执行写操作。强调工作区配置、最小权限和关键操作确认。</a:t>
            </a:r>
          </a:p>
          <a:p/>
          <a:p>
            <a:r>
              <a:t>[Sources]</a:t>
            </a:r>
          </a:p>
          <a:p>
            <a:r>
              <a:t>- 用户提供的《WorkMate新员工培训_WorkMate_秦晓0818.pptx》</a:t>
            </a:r>
          </a:p>
          <a:p>
            <a:r>
              <a:t>- 产品截图取自同一源文件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给出简单判断：一次性内容任务优先 Chat，多步骤且需要持续推进的任务优先 Agent。</a:t>
            </a:r>
          </a:p>
          <a:p/>
          <a:p>
            <a:r>
              <a:t>[Sources]</a:t>
            </a:r>
          </a:p>
          <a:p>
            <a:r>
              <a:t>- 用户提供的《WorkMate新员工培训_WorkMate_秦晓0818.pptx》</a:t>
            </a:r>
          </a:p>
          <a:p>
            <a:r>
              <a:t>- 产品截图取自同一源文件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给出简单判断：一次性内容任务优先 Chat，多步骤且需要持续推进的任务优先 Agent。</a:t>
            </a:r>
          </a:p>
          <a:p/>
          <a:p>
            <a:r>
              <a:t>[Sources]</a:t>
            </a:r>
          </a:p>
          <a:p>
            <a:r>
              <a:t>- 用户提供的《WorkMate新员工培训_WorkMate_秦晓0818.pptx》</a:t>
            </a:r>
          </a:p>
          <a:p>
            <a:r>
              <a:t>- 产品截图取自同一源文件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四条原则：本人凭证、敏感数据本地处理、关键写操作确认、结果人工复核。</a:t>
            </a:r>
          </a:p>
          <a:p/>
          <a:p>
            <a:r>
              <a:t>[Sources]</a:t>
            </a:r>
          </a:p>
          <a:p>
            <a:r>
              <a:t>- 用户提供的《WorkMate新员工培训_WorkMate_秦晓0818.pptx》</a:t>
            </a:r>
          </a:p>
          <a:p>
            <a:r>
              <a:t>- 产品截图取自同一源文件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四条原则：本人凭证、敏感数据本地处理、关键写操作确认、结果人工复核。</a:t>
            </a:r>
          </a:p>
          <a:p/>
          <a:p>
            <a:r>
              <a:t>[Sources]</a:t>
            </a:r>
          </a:p>
          <a:p>
            <a:r>
              <a:t>- 用户提供的《WorkMate新员工培训_WorkMate_秦晓0818.pptx》</a:t>
            </a:r>
          </a:p>
          <a:p>
            <a:r>
              <a:t>- 产品截图取自同一源文件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8" Type="http://schemas.openxmlformats.org/officeDocument/2006/relationships/notesSlide" Target="../notesSlides/notesSlide2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8" Type="http://schemas.openxmlformats.org/officeDocument/2006/relationships/notesSlide" Target="../notesSlides/notesSlide4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30.xml"/><Relationship Id="rId15" Type="http://schemas.openxmlformats.org/officeDocument/2006/relationships/tags" Target="../tags/tag29.xml"/><Relationship Id="rId14" Type="http://schemas.openxmlformats.org/officeDocument/2006/relationships/tags" Target="../tags/tag28.xml"/><Relationship Id="rId13" Type="http://schemas.openxmlformats.org/officeDocument/2006/relationships/tags" Target="../tags/tag27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0" Type="http://schemas.openxmlformats.org/officeDocument/2006/relationships/notesSlide" Target="../notesSlides/notesSlide7.xml"/><Relationship Id="rId2" Type="http://schemas.openxmlformats.org/officeDocument/2006/relationships/tags" Target="../tags/tag31.xml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6.png"/><Relationship Id="rId17" Type="http://schemas.openxmlformats.org/officeDocument/2006/relationships/tags" Target="../tags/tag46.xml"/><Relationship Id="rId16" Type="http://schemas.openxmlformats.org/officeDocument/2006/relationships/tags" Target="../tags/tag45.xml"/><Relationship Id="rId15" Type="http://schemas.openxmlformats.org/officeDocument/2006/relationships/tags" Target="../tags/tag44.xml"/><Relationship Id="rId14" Type="http://schemas.openxmlformats.org/officeDocument/2006/relationships/tags" Target="../tags/tag43.xml"/><Relationship Id="rId13" Type="http://schemas.openxmlformats.org/officeDocument/2006/relationships/tags" Target="../tags/tag42.xml"/><Relationship Id="rId12" Type="http://schemas.openxmlformats.org/officeDocument/2006/relationships/tags" Target="../tags/tag41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54.xml"/><Relationship Id="rId8" Type="http://schemas.openxmlformats.org/officeDocument/2006/relationships/tags" Target="../tags/tag53.xml"/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5" Type="http://schemas.openxmlformats.org/officeDocument/2006/relationships/notesSlide" Target="../notesSlides/notesSlide11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tags" Target="../tags/tag56.xml"/><Relationship Id="rId10" Type="http://schemas.openxmlformats.org/officeDocument/2006/relationships/tags" Target="../tags/tag55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image" Target="../media/image17.png"/><Relationship Id="rId19" Type="http://schemas.openxmlformats.org/officeDocument/2006/relationships/notesSlide" Target="../notesSlides/notesSlide13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73.xml"/><Relationship Id="rId16" Type="http://schemas.openxmlformats.org/officeDocument/2006/relationships/tags" Target="../tags/tag72.xml"/><Relationship Id="rId15" Type="http://schemas.openxmlformats.org/officeDocument/2006/relationships/tags" Target="../tags/tag71.xml"/><Relationship Id="rId14" Type="http://schemas.openxmlformats.org/officeDocument/2006/relationships/tags" Target="../tags/tag70.xml"/><Relationship Id="rId13" Type="http://schemas.openxmlformats.org/officeDocument/2006/relationships/tags" Target="../tags/tag69.xml"/><Relationship Id="rId12" Type="http://schemas.openxmlformats.org/officeDocument/2006/relationships/tags" Target="../tags/tag68.xml"/><Relationship Id="rId11" Type="http://schemas.openxmlformats.org/officeDocument/2006/relationships/tags" Target="../tags/tag67.xml"/><Relationship Id="rId10" Type="http://schemas.openxmlformats.org/officeDocument/2006/relationships/tags" Target="../tags/tag66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D9411E"/>
          </a:solidFill>
          <a:ln w="0">
            <a:noFill/>
            <a:prstDash val="solid"/>
          </a:ln>
        </p:spPr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10804"/>
            <a:ext cx="2857500" cy="311843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819150" y="2076450"/>
            <a:ext cx="6191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171B1F"/>
                </a:solidFill>
              </a:defRPr>
            </a:pPr>
            <a:r>
              <a:rPr sz="4350" b="1">
                <a:solidFill>
                  <a:srgbClr val="171B1F"/>
                </a:solidFill>
              </a:rPr>
              <a:t>WorkMate</a:t>
            </a:r>
            <a:r>
              <a:rPr>
                <a:sym typeface="+mn-ea"/>
              </a:rPr>
              <a:t>使用</a:t>
            </a:r>
            <a:r>
              <a:rPr lang="zh-CN">
                <a:ea typeface="宋体" pitchFamily="2" charset="-122"/>
                <a:sym typeface="+mn-ea"/>
              </a:rPr>
              <a:t>培训</a:t>
            </a:r>
            <a:endParaRPr b="1"/>
          </a:p>
          <a:p>
            <a:pPr algn="l">
              <a:defRPr sz="4350" b="1">
                <a:solidFill>
                  <a:srgbClr val="171B1F"/>
                </a:solidFill>
              </a:defRPr>
            </a:pPr>
            <a:endParaRPr sz="4350" b="1">
              <a:solidFill>
                <a:srgbClr val="171B1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19150" y="2876550"/>
            <a:ext cx="619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D9411E"/>
                </a:solidFill>
              </a:defRPr>
            </a:pPr>
            <a:endParaRPr sz="3600" b="1">
              <a:solidFill>
                <a:srgbClr val="D9411E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459230" y="3068955"/>
            <a:ext cx="619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67078"/>
                </a:solidFill>
              </a:defRPr>
            </a:pPr>
            <a:r>
              <a:rPr sz="1275" b="0">
                <a:solidFill>
                  <a:schemeClr val="tx1"/>
                </a:solidFill>
              </a:rPr>
              <a:t>信息技术部 </a:t>
            </a:r>
            <a:r>
              <a:rPr lang="zh-CN" sz="1275" b="0">
                <a:solidFill>
                  <a:schemeClr val="tx1"/>
                </a:solidFill>
              </a:rPr>
              <a:t>运营管理室</a:t>
            </a:r>
            <a:r>
              <a:rPr lang="en-US" altLang="zh-CN" sz="1275" b="0">
                <a:solidFill>
                  <a:schemeClr val="tx1"/>
                </a:solidFill>
              </a:rPr>
              <a:t> </a:t>
            </a:r>
            <a:r>
              <a:rPr sz="1275" b="0">
                <a:solidFill>
                  <a:schemeClr val="tx1"/>
                </a:solidFill>
              </a:rPr>
              <a:t>AI研发效能管理团队  秦晓</a:t>
            </a:r>
            <a:endParaRPr sz="1275" b="0">
              <a:solidFill>
                <a:schemeClr val="tx1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990" y="1556250"/>
            <a:ext cx="3238500" cy="2746009"/>
          </a:xfrm>
          <a:prstGeom prst="roundRect">
            <a:avLst>
              <a:gd name="adj" fmla="val 3529"/>
            </a:avLst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10804"/>
            <a:ext cx="2857500" cy="311843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10820400" cy="19050"/>
          </a:xfrm>
          <a:prstGeom prst="rect">
            <a:avLst/>
          </a:prstGeom>
          <a:solidFill>
            <a:srgbClr val="D9411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124585"/>
            <a:ext cx="10096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B1F"/>
                </a:solidFill>
              </a:defRPr>
            </a:pPr>
            <a:r>
              <a:rPr lang="zh-CN" altLang="en-US" sz="2850" b="1">
                <a:solidFill>
                  <a:srgbClr val="171B1F"/>
                </a:solidFill>
              </a:rPr>
              <a:t>今天的分享</a:t>
            </a:r>
            <a:r>
              <a:rPr lang="zh-CN" altLang="en-US" sz="2850" b="1">
                <a:solidFill>
                  <a:srgbClr val="171B1F"/>
                </a:solidFill>
              </a:rPr>
              <a:t>内容</a:t>
            </a:r>
            <a:endParaRPr lang="zh-CN" altLang="en-US" sz="2850" b="1">
              <a:solidFill>
                <a:srgbClr val="171B1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95350" y="2362200"/>
            <a:ext cx="609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D9411E"/>
                </a:solidFill>
              </a:defRPr>
            </a:pPr>
            <a:r>
              <a:rPr sz="1500" b="1">
                <a:solidFill>
                  <a:srgbClr val="D9411E"/>
                </a:solidFill>
              </a:rPr>
              <a:t>01</a:t>
            </a:r>
            <a:endParaRPr sz="1500" b="1">
              <a:solidFill>
                <a:srgbClr val="D9411E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676400" y="234315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1B1F"/>
                </a:solidFill>
              </a:defRPr>
            </a:pPr>
            <a:r>
              <a:rPr sz="1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认识 WorkMate</a:t>
            </a:r>
            <a:endParaRPr sz="18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857750" y="2362200"/>
            <a:ext cx="581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67078"/>
                </a:solidFill>
              </a:defRPr>
            </a:pPr>
            <a:r>
              <a:rPr sz="1350" b="0">
                <a:solidFill>
                  <a:srgbClr val="667078"/>
                </a:solidFill>
              </a:rPr>
              <a:t>它是什么，以及与普通问答工具的区别</a:t>
            </a:r>
            <a:endParaRPr sz="1350" b="0">
              <a:solidFill>
                <a:srgbClr val="667078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95350" y="2857500"/>
            <a:ext cx="9772650" cy="9525"/>
          </a:xfrm>
          <a:prstGeom prst="rect">
            <a:avLst/>
          </a:prstGeom>
          <a:solidFill>
            <a:srgbClr val="D9DEE2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895350" y="3295650"/>
            <a:ext cx="609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D9411E"/>
                </a:solidFill>
              </a:defRPr>
            </a:pPr>
            <a:r>
              <a:rPr sz="1500" b="1">
                <a:solidFill>
                  <a:srgbClr val="D9411E"/>
                </a:solidFill>
              </a:rPr>
              <a:t>02</a:t>
            </a:r>
            <a:endParaRPr sz="1500" b="1">
              <a:solidFill>
                <a:srgbClr val="D9411E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1676400" y="32766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1B1F"/>
                </a:solidFill>
              </a:defRPr>
            </a:pPr>
            <a:r>
              <a:rPr lang="zh-CN" sz="1800" b="1">
                <a:solidFill>
                  <a:srgbClr val="171B1F"/>
                </a:solidFill>
              </a:rPr>
              <a:t>应用</a:t>
            </a:r>
            <a:r>
              <a:rPr sz="1800" b="1">
                <a:solidFill>
                  <a:srgbClr val="171B1F"/>
                </a:solidFill>
              </a:rPr>
              <a:t>场景</a:t>
            </a:r>
            <a:endParaRPr sz="1800" b="1">
              <a:solidFill>
                <a:srgbClr val="171B1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4857750" y="3295650"/>
            <a:ext cx="581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67078"/>
                </a:solidFill>
              </a:defRPr>
            </a:pPr>
            <a:r>
              <a:rPr sz="1350" b="0">
                <a:solidFill>
                  <a:srgbClr val="667078"/>
                </a:solidFill>
              </a:rPr>
              <a:t>什么任务值得交给 WorkMate 推进</a:t>
            </a:r>
            <a:endParaRPr sz="1350" b="0">
              <a:solidFill>
                <a:srgbClr val="667078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895350" y="3790950"/>
            <a:ext cx="9772650" cy="9525"/>
          </a:xfrm>
          <a:prstGeom prst="rect">
            <a:avLst/>
          </a:prstGeom>
          <a:solidFill>
            <a:srgbClr val="D9DEE2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895350" y="4229100"/>
            <a:ext cx="609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D9411E"/>
                </a:solidFill>
              </a:defRPr>
            </a:pPr>
            <a:r>
              <a:rPr sz="1500" b="1">
                <a:solidFill>
                  <a:srgbClr val="D9411E"/>
                </a:solidFill>
              </a:rPr>
              <a:t>03</a:t>
            </a:r>
            <a:endParaRPr sz="1500" b="1">
              <a:solidFill>
                <a:srgbClr val="D9411E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676400" y="421005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1B1F"/>
                </a:solidFill>
              </a:defRPr>
            </a:pPr>
            <a:r>
              <a:rPr sz="1800" b="1">
                <a:solidFill>
                  <a:srgbClr val="171B1F"/>
                </a:solidFill>
              </a:rPr>
              <a:t>核心能力</a:t>
            </a:r>
            <a:endParaRPr sz="1800" b="1">
              <a:solidFill>
                <a:srgbClr val="171B1F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4857750" y="4229100"/>
            <a:ext cx="581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67078"/>
                </a:solidFill>
              </a:defRPr>
            </a:pPr>
            <a:r>
              <a:rPr sz="1350" b="0">
                <a:solidFill>
                  <a:srgbClr val="667078"/>
                </a:solidFill>
              </a:rPr>
              <a:t>项目、文件、Skill、专家、连接器与自动任务</a:t>
            </a:r>
            <a:endParaRPr sz="1350" b="0">
              <a:solidFill>
                <a:srgbClr val="667078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895350" y="4724400"/>
            <a:ext cx="9772650" cy="9525"/>
          </a:xfrm>
          <a:prstGeom prst="rect">
            <a:avLst/>
          </a:prstGeom>
          <a:solidFill>
            <a:srgbClr val="D9DEE2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895350" y="5162550"/>
            <a:ext cx="609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D9411E"/>
                </a:solidFill>
              </a:defRPr>
            </a:pPr>
            <a:r>
              <a:rPr sz="1500" b="1">
                <a:solidFill>
                  <a:srgbClr val="D9411E"/>
                </a:solidFill>
              </a:rPr>
              <a:t>04</a:t>
            </a:r>
            <a:endParaRPr sz="1500" b="1">
              <a:solidFill>
                <a:srgbClr val="D9411E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1676400" y="51435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1B1F"/>
                </a:solidFill>
              </a:defRPr>
            </a:pPr>
            <a:r>
              <a:rPr lang="zh-CN" sz="1800" b="1">
                <a:solidFill>
                  <a:srgbClr val="171B1F"/>
                </a:solidFill>
              </a:rPr>
              <a:t>安全</a:t>
            </a:r>
            <a:r>
              <a:rPr sz="1800" b="1">
                <a:solidFill>
                  <a:srgbClr val="171B1F"/>
                </a:solidFill>
              </a:rPr>
              <a:t>使用边界</a:t>
            </a:r>
            <a:endParaRPr sz="1800" b="1">
              <a:solidFill>
                <a:srgbClr val="171B1F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4857750" y="5162550"/>
            <a:ext cx="581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67078"/>
                </a:solidFill>
              </a:defRPr>
            </a:pPr>
            <a:r>
              <a:rPr sz="1350" b="0">
                <a:solidFill>
                  <a:srgbClr val="667078"/>
                </a:solidFill>
              </a:rPr>
              <a:t>数据、权限、关键操作与结果复核</a:t>
            </a:r>
            <a:endParaRPr sz="1350" b="0">
              <a:solidFill>
                <a:srgbClr val="667078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95350" y="5657850"/>
            <a:ext cx="9772650" cy="9525"/>
          </a:xfrm>
          <a:prstGeom prst="rect">
            <a:avLst/>
          </a:prstGeom>
          <a:solidFill>
            <a:srgbClr val="D9DEE2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858500" y="6419850"/>
            <a:ext cx="647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67078"/>
                </a:solidFill>
              </a:defRPr>
            </a:pPr>
            <a:r>
              <a:rPr sz="900" b="0">
                <a:solidFill>
                  <a:srgbClr val="667078"/>
                </a:solidFill>
              </a:rPr>
              <a:t>02</a:t>
            </a:r>
            <a:endParaRPr sz="900" b="0">
              <a:solidFill>
                <a:srgbClr val="667078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10804"/>
            <a:ext cx="2857500" cy="311843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10820400" cy="19050"/>
          </a:xfrm>
          <a:prstGeom prst="rect">
            <a:avLst/>
          </a:prstGeom>
          <a:solidFill>
            <a:srgbClr val="D9411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028700"/>
            <a:ext cx="10096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B1F"/>
                </a:solidFill>
              </a:defRPr>
            </a:pPr>
            <a:r>
              <a:rPr lang="en-US" sz="2850" b="1">
                <a:solidFill>
                  <a:srgbClr val="171B1F"/>
                </a:solidFill>
              </a:rPr>
              <a:t>WorkMate</a:t>
            </a:r>
            <a:endParaRPr lang="zh-CN" altLang="en-US" sz="2850" b="1">
              <a:solidFill>
                <a:srgbClr val="171B1F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638300"/>
            <a:ext cx="1009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67078"/>
                </a:solidFill>
              </a:defRPr>
            </a:pPr>
            <a:r>
              <a:rPr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sym typeface="+mn-ea"/>
              </a:rPr>
              <a:t>对话、文件与项目上下文在同一工作空间中组织</a:t>
            </a:r>
            <a:r>
              <a:rPr lang="zh-CN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ea typeface="宋体" pitchFamily="2" charset="-122"/>
                <a:sym typeface="+mn-ea"/>
              </a:rPr>
              <a:t>，</a:t>
            </a:r>
            <a:r>
              <a:rPr sz="15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任务过程可查看，结果可编辑，资料可继续复用</a:t>
            </a:r>
            <a:r>
              <a:rPr lang="zh-CN" sz="15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ea typeface="宋体" pitchFamily="2" charset="-122"/>
              </a:rPr>
              <a:t>。</a:t>
            </a:r>
            <a:endParaRPr lang="zh-CN" sz="15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ea typeface="宋体" pitchFamily="2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605" y="2132965"/>
            <a:ext cx="7996555" cy="440563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10858500" y="6419850"/>
            <a:ext cx="647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67078"/>
                </a:solidFill>
              </a:defRPr>
            </a:pPr>
            <a:r>
              <a:rPr sz="900" b="0">
                <a:solidFill>
                  <a:srgbClr val="667078"/>
                </a:solidFill>
              </a:rPr>
              <a:t>04</a:t>
            </a:r>
            <a:endParaRPr sz="900" b="0">
              <a:solidFill>
                <a:srgbClr val="667078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10804"/>
            <a:ext cx="2857500" cy="311843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10820400" cy="19050"/>
          </a:xfrm>
          <a:prstGeom prst="rect">
            <a:avLst/>
          </a:prstGeom>
          <a:solidFill>
            <a:srgbClr val="D9411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124585"/>
            <a:ext cx="10096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B1F"/>
                </a:solidFill>
              </a:defRPr>
            </a:pPr>
            <a:r>
              <a:rPr lang="zh-CN" altLang="en-US" sz="2850" b="1">
                <a:solidFill>
                  <a:srgbClr val="171B1F"/>
                </a:solidFill>
              </a:rPr>
              <a:t>今天的分享</a:t>
            </a:r>
            <a:r>
              <a:rPr lang="zh-CN" altLang="en-US" sz="2850" b="1">
                <a:solidFill>
                  <a:srgbClr val="171B1F"/>
                </a:solidFill>
              </a:rPr>
              <a:t>内容</a:t>
            </a:r>
            <a:endParaRPr lang="zh-CN" altLang="en-US" sz="2850" b="1">
              <a:solidFill>
                <a:srgbClr val="171B1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95350" y="2362200"/>
            <a:ext cx="609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D9411E"/>
                </a:solidFill>
              </a:defRPr>
            </a:pPr>
            <a:r>
              <a:rPr sz="1500" b="1">
                <a:solidFill>
                  <a:srgbClr val="D9411E"/>
                </a:solidFill>
              </a:rPr>
              <a:t>01</a:t>
            </a:r>
            <a:endParaRPr sz="1500" b="1">
              <a:solidFill>
                <a:srgbClr val="D9411E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676400" y="234315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1B1F"/>
                </a:solidFill>
              </a:defRPr>
            </a:pPr>
            <a:r>
              <a:rPr sz="1800" b="0">
                <a:solidFill>
                  <a:srgbClr val="171B1F"/>
                </a:solidFill>
              </a:rPr>
              <a:t>认识 WorkMate</a:t>
            </a:r>
            <a:endParaRPr sz="1800" b="0">
              <a:solidFill>
                <a:srgbClr val="171B1F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857750" y="2362200"/>
            <a:ext cx="581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67078"/>
                </a:solidFill>
              </a:defRPr>
            </a:pPr>
            <a:r>
              <a:rPr sz="1350" b="0">
                <a:solidFill>
                  <a:srgbClr val="667078"/>
                </a:solidFill>
              </a:rPr>
              <a:t>它是什么，以及与普通问答工具的区别</a:t>
            </a:r>
            <a:endParaRPr sz="1350" b="0">
              <a:solidFill>
                <a:srgbClr val="667078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95350" y="2857500"/>
            <a:ext cx="9772650" cy="9525"/>
          </a:xfrm>
          <a:prstGeom prst="rect">
            <a:avLst/>
          </a:prstGeom>
          <a:solidFill>
            <a:srgbClr val="D9DEE2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895350" y="3295650"/>
            <a:ext cx="609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D9411E"/>
                </a:solidFill>
              </a:defRPr>
            </a:pPr>
            <a:r>
              <a:rPr sz="1500" b="1">
                <a:solidFill>
                  <a:srgbClr val="D9411E"/>
                </a:solidFill>
              </a:rPr>
              <a:t>02</a:t>
            </a:r>
            <a:endParaRPr sz="1500" b="1">
              <a:solidFill>
                <a:srgbClr val="D9411E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1676400" y="32766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1B1F"/>
                </a:solidFill>
              </a:defRPr>
            </a:pPr>
            <a:r>
              <a:rPr sz="1800" b="1">
                <a:solidFill>
                  <a:srgbClr val="171B1F"/>
                </a:solidFill>
              </a:rPr>
              <a:t>选择合适场景</a:t>
            </a:r>
            <a:endParaRPr sz="1800" b="1">
              <a:solidFill>
                <a:srgbClr val="171B1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4857750" y="3295650"/>
            <a:ext cx="581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67078"/>
                </a:solidFill>
              </a:defRPr>
            </a:pPr>
            <a:r>
              <a:rPr sz="1350" b="0">
                <a:solidFill>
                  <a:srgbClr val="667078"/>
                </a:solidFill>
              </a:rPr>
              <a:t>什么任务值得交给 WorkMate 推进</a:t>
            </a:r>
            <a:endParaRPr sz="1350" b="0">
              <a:solidFill>
                <a:srgbClr val="667078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895350" y="3790950"/>
            <a:ext cx="9772650" cy="9525"/>
          </a:xfrm>
          <a:prstGeom prst="rect">
            <a:avLst/>
          </a:prstGeom>
          <a:solidFill>
            <a:srgbClr val="D9DEE2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895350" y="4229100"/>
            <a:ext cx="609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D9411E"/>
                </a:solidFill>
              </a:defRPr>
            </a:pPr>
            <a:r>
              <a:rPr sz="1500" b="1">
                <a:solidFill>
                  <a:srgbClr val="D9411E"/>
                </a:solidFill>
              </a:rPr>
              <a:t>03</a:t>
            </a:r>
            <a:endParaRPr sz="1500" b="1">
              <a:solidFill>
                <a:srgbClr val="D9411E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676400" y="421005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1B1F"/>
                </a:solidFill>
              </a:defRPr>
            </a:pPr>
            <a:r>
              <a:rPr sz="18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掌握核心能力</a:t>
            </a:r>
            <a:endParaRPr sz="18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4857750" y="4229100"/>
            <a:ext cx="581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67078"/>
                </a:solidFill>
              </a:defRPr>
            </a:pPr>
            <a:r>
              <a:rPr sz="1350" b="0">
                <a:solidFill>
                  <a:srgbClr val="667078"/>
                </a:solidFill>
              </a:rPr>
              <a:t>项目、文件、Skill、专家、连接器与自动任务</a:t>
            </a:r>
            <a:endParaRPr sz="1350" b="0">
              <a:solidFill>
                <a:srgbClr val="667078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895350" y="4724400"/>
            <a:ext cx="9772650" cy="9525"/>
          </a:xfrm>
          <a:prstGeom prst="rect">
            <a:avLst/>
          </a:prstGeom>
          <a:solidFill>
            <a:srgbClr val="D9DEE2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895350" y="5162550"/>
            <a:ext cx="609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D9411E"/>
                </a:solidFill>
              </a:defRPr>
            </a:pPr>
            <a:r>
              <a:rPr sz="1500" b="1">
                <a:solidFill>
                  <a:srgbClr val="D9411E"/>
                </a:solidFill>
              </a:rPr>
              <a:t>04</a:t>
            </a:r>
            <a:endParaRPr sz="1500" b="1">
              <a:solidFill>
                <a:srgbClr val="D9411E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1676400" y="51435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1B1F"/>
                </a:solidFill>
              </a:defRPr>
            </a:pPr>
            <a:r>
              <a:rPr sz="1800" b="1">
                <a:solidFill>
                  <a:srgbClr val="171B1F"/>
                </a:solidFill>
              </a:rPr>
              <a:t>守住使用边界</a:t>
            </a:r>
            <a:endParaRPr sz="1800" b="1">
              <a:solidFill>
                <a:srgbClr val="171B1F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4857750" y="5162550"/>
            <a:ext cx="581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67078"/>
                </a:solidFill>
              </a:defRPr>
            </a:pPr>
            <a:r>
              <a:rPr sz="1350" b="0">
                <a:solidFill>
                  <a:srgbClr val="667078"/>
                </a:solidFill>
              </a:rPr>
              <a:t>数据、权限、关键操作与结果复核</a:t>
            </a:r>
            <a:endParaRPr sz="1350" b="0">
              <a:solidFill>
                <a:srgbClr val="667078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95350" y="5657850"/>
            <a:ext cx="9772650" cy="9525"/>
          </a:xfrm>
          <a:prstGeom prst="rect">
            <a:avLst/>
          </a:prstGeom>
          <a:solidFill>
            <a:srgbClr val="D9DEE2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858500" y="6419850"/>
            <a:ext cx="647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67078"/>
                </a:solidFill>
              </a:defRPr>
            </a:pPr>
            <a:r>
              <a:rPr sz="900" b="0">
                <a:solidFill>
                  <a:srgbClr val="667078"/>
                </a:solidFill>
              </a:rPr>
              <a:t>02</a:t>
            </a:r>
            <a:endParaRPr sz="900" b="0">
              <a:solidFill>
                <a:srgbClr val="667078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10804"/>
            <a:ext cx="2857500" cy="311843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10820400" cy="19050"/>
          </a:xfrm>
          <a:prstGeom prst="rect">
            <a:avLst/>
          </a:prstGeom>
          <a:solidFill>
            <a:srgbClr val="D9411E"/>
          </a:solidFill>
          <a:ln w="0">
            <a:noFill/>
            <a:prstDash val="solid"/>
          </a:ln>
        </p:spPr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70" y="836930"/>
            <a:ext cx="11426825" cy="58915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10804"/>
            <a:ext cx="2857500" cy="311843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10820400" cy="19050"/>
          </a:xfrm>
          <a:prstGeom prst="rect">
            <a:avLst/>
          </a:prstGeom>
          <a:solidFill>
            <a:srgbClr val="D9411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028700"/>
            <a:ext cx="10096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B1F"/>
                </a:solidFill>
              </a:defRPr>
            </a:pPr>
            <a:r>
              <a:rPr lang="zh-CN" altLang="en-US" sz="2850" b="1">
                <a:solidFill>
                  <a:srgbClr val="171B1F"/>
                </a:solidFill>
              </a:rPr>
              <a:t>模式选择：</a:t>
            </a:r>
            <a:r>
              <a:rPr lang="en-US" sz="2850" b="1">
                <a:solidFill>
                  <a:srgbClr val="171B1F"/>
                </a:solidFill>
              </a:rPr>
              <a:t>Chat</a:t>
            </a:r>
            <a:r>
              <a:rPr lang="zh-CN" altLang="en-US" sz="2850" b="1">
                <a:solidFill>
                  <a:srgbClr val="171B1F"/>
                </a:solidFill>
              </a:rPr>
              <a:t>和</a:t>
            </a:r>
            <a:r>
              <a:rPr lang="en-US" altLang="zh-CN" sz="2850" b="1">
                <a:solidFill>
                  <a:srgbClr val="171B1F"/>
                </a:solidFill>
              </a:rPr>
              <a:t>Agent</a:t>
            </a:r>
            <a:endParaRPr sz="2850" b="1">
              <a:solidFill>
                <a:srgbClr val="171B1F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638300"/>
            <a:ext cx="1009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67078"/>
                </a:solidFill>
              </a:defRPr>
            </a:pPr>
            <a:r>
              <a:rPr b="1">
                <a:solidFill>
                  <a:srgbClr val="171B1F"/>
                </a:solidFill>
                <a:sym typeface="+mn-ea"/>
              </a:rPr>
              <a:t>快速获得结论用 Chat，持续推进成果用 Agent</a:t>
            </a:r>
            <a:r>
              <a:rPr lang="zh-CN" b="1">
                <a:solidFill>
                  <a:srgbClr val="171B1F"/>
                </a:solidFill>
                <a:ea typeface="宋体" pitchFamily="2" charset="-122"/>
                <a:sym typeface="+mn-ea"/>
              </a:rPr>
              <a:t>。</a:t>
            </a:r>
            <a:r>
              <a:rPr sz="1500" b="0">
                <a:solidFill>
                  <a:srgbClr val="667078"/>
                </a:solidFill>
              </a:rPr>
              <a:t>两种模式服务不同任务，不是能力高低关系</a:t>
            </a:r>
            <a:endParaRPr sz="1500" b="0">
              <a:solidFill>
                <a:srgbClr val="667078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019800" y="2209800"/>
            <a:ext cx="4762500" cy="1485900"/>
          </a:xfrm>
          <a:prstGeom prst="roundRect">
            <a:avLst>
              <a:gd name="adj" fmla="val 5128"/>
            </a:avLst>
          </a:prstGeom>
          <a:solidFill>
            <a:srgbClr val="F4F6F7"/>
          </a:solidFill>
          <a:ln w="9525">
            <a:solidFill>
              <a:srgbClr val="D9DEE2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286500" y="243840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1B1F"/>
                </a:solidFill>
              </a:defRPr>
            </a:pPr>
            <a:r>
              <a:rPr sz="1800" b="1">
                <a:solidFill>
                  <a:srgbClr val="171B1F"/>
                </a:solidFill>
              </a:rPr>
              <a:t>Chat 模式</a:t>
            </a:r>
            <a:endParaRPr sz="1800" b="1">
              <a:solidFill>
                <a:srgbClr val="171B1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286500" y="2914650"/>
            <a:ext cx="4000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67078"/>
                </a:solidFill>
              </a:defRPr>
            </a:pPr>
            <a:r>
              <a:rPr sz="1275" b="0">
                <a:solidFill>
                  <a:srgbClr val="667078"/>
                </a:solidFill>
              </a:rPr>
              <a:t>快速问答、摘要、润色、翻译</a:t>
            </a:r>
            <a:endParaRPr sz="1275" b="0">
              <a:solidFill>
                <a:srgbClr val="667078"/>
              </a:solidFill>
            </a:endParaRPr>
          </a:p>
          <a:p>
            <a:pPr algn="l">
              <a:defRPr sz="1275" b="0">
                <a:solidFill>
                  <a:srgbClr val="667078"/>
                </a:solidFill>
              </a:defRPr>
            </a:pPr>
            <a:r>
              <a:rPr sz="1275" b="0">
                <a:solidFill>
                  <a:srgbClr val="667078"/>
                </a:solidFill>
              </a:rPr>
              <a:t>适合一次性、短流程任务</a:t>
            </a:r>
            <a:endParaRPr sz="1275" b="0">
              <a:solidFill>
                <a:srgbClr val="667078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019800" y="3943350"/>
            <a:ext cx="4762500" cy="1485900"/>
          </a:xfrm>
          <a:prstGeom prst="roundRect">
            <a:avLst>
              <a:gd name="adj" fmla="val 5128"/>
            </a:avLst>
          </a:prstGeom>
          <a:solidFill>
            <a:srgbClr val="EAF7F4"/>
          </a:solidFill>
          <a:ln w="9525">
            <a:solidFill>
              <a:srgbClr val="188F82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286500" y="417195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1B1F"/>
                </a:solidFill>
              </a:defRPr>
            </a:pPr>
            <a:r>
              <a:rPr sz="1800" b="1">
                <a:solidFill>
                  <a:srgbClr val="171B1F"/>
                </a:solidFill>
              </a:rPr>
              <a:t>Agent 模式</a:t>
            </a:r>
            <a:endParaRPr sz="1800" b="1">
              <a:solidFill>
                <a:srgbClr val="171B1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0" y="4648200"/>
            <a:ext cx="4000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67078"/>
                </a:solidFill>
              </a:defRPr>
            </a:pPr>
            <a:r>
              <a:rPr sz="1275" b="0">
                <a:solidFill>
                  <a:srgbClr val="667078"/>
                </a:solidFill>
              </a:rPr>
              <a:t>多步骤任务、文件处理、持续协作</a:t>
            </a:r>
            <a:endParaRPr sz="1275" b="0">
              <a:solidFill>
                <a:srgbClr val="667078"/>
              </a:solidFill>
            </a:endParaRPr>
          </a:p>
          <a:p>
            <a:pPr algn="l">
              <a:defRPr sz="1275" b="0">
                <a:solidFill>
                  <a:srgbClr val="667078"/>
                </a:solidFill>
              </a:defRPr>
            </a:pPr>
            <a:r>
              <a:rPr sz="1275" b="0">
                <a:solidFill>
                  <a:srgbClr val="667078"/>
                </a:solidFill>
              </a:rPr>
              <a:t>可调用 Skill、专家和连接器</a:t>
            </a:r>
            <a:endParaRPr sz="1275" b="0">
              <a:solidFill>
                <a:srgbClr val="667078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42950" y="5581650"/>
            <a:ext cx="10039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D9411E"/>
                </a:solidFill>
              </a:defRPr>
            </a:pPr>
            <a:r>
              <a:rPr sz="1500" b="1">
                <a:solidFill>
                  <a:srgbClr val="D9411E"/>
                </a:solidFill>
              </a:rPr>
              <a:t>概括一份材料</a:t>
            </a:r>
            <a:r>
              <a:rPr lang="zh-CN" sz="1500" b="1">
                <a:solidFill>
                  <a:srgbClr val="D9411E"/>
                </a:solidFill>
                <a:ea typeface="宋体" pitchFamily="2" charset="-122"/>
              </a:rPr>
              <a:t>、快速问答</a:t>
            </a:r>
            <a:r>
              <a:rPr sz="1500" b="1">
                <a:solidFill>
                  <a:srgbClr val="D9411E"/>
                </a:solidFill>
              </a:rPr>
              <a:t> → Chat   ｜   </a:t>
            </a:r>
            <a:r>
              <a:rPr lang="zh-CN" sz="1500" b="1">
                <a:solidFill>
                  <a:srgbClr val="D9411E"/>
                </a:solidFill>
              </a:rPr>
              <a:t>完成一项多步骤的任务</a:t>
            </a:r>
            <a:r>
              <a:rPr sz="1500" b="1">
                <a:solidFill>
                  <a:srgbClr val="D9411E"/>
                </a:solidFill>
              </a:rPr>
              <a:t> → Agent</a:t>
            </a:r>
            <a:endParaRPr sz="1500" b="1">
              <a:solidFill>
                <a:srgbClr val="D9411E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858500" y="6419850"/>
            <a:ext cx="647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67078"/>
                </a:solidFill>
              </a:defRPr>
            </a:pPr>
            <a:r>
              <a:rPr sz="900" b="0">
                <a:solidFill>
                  <a:srgbClr val="667078"/>
                </a:solidFill>
              </a:rPr>
              <a:t>08</a:t>
            </a:r>
            <a:endParaRPr sz="900" b="0">
              <a:solidFill>
                <a:srgbClr val="667078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70" y="2348865"/>
            <a:ext cx="5213985" cy="29857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10804"/>
            <a:ext cx="2857500" cy="311843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10820400" cy="19050"/>
          </a:xfrm>
          <a:prstGeom prst="rect">
            <a:avLst/>
          </a:prstGeom>
          <a:solidFill>
            <a:srgbClr val="D9411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028700"/>
            <a:ext cx="10096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B1F"/>
                </a:solidFill>
              </a:defRPr>
            </a:pPr>
            <a:r>
              <a:rPr lang="zh-CN" sz="2850" b="1">
                <a:solidFill>
                  <a:srgbClr val="171B1F"/>
                </a:solidFill>
                <a:ea typeface="宋体" pitchFamily="2" charset="-122"/>
              </a:rPr>
              <a:t>新建一个“</a:t>
            </a:r>
            <a:r>
              <a:rPr lang="zh-CN" sz="2850" b="1">
                <a:solidFill>
                  <a:srgbClr val="171B1F"/>
                </a:solidFill>
                <a:ea typeface="宋体" pitchFamily="2" charset="-122"/>
              </a:rPr>
              <a:t>项目”</a:t>
            </a:r>
            <a:endParaRPr lang="zh-CN" sz="2850" b="1">
              <a:solidFill>
                <a:srgbClr val="171B1F"/>
              </a:solidFill>
              <a:ea typeface="宋体" pitchFamily="2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638300"/>
            <a:ext cx="1009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67078"/>
                </a:solidFill>
              </a:defRPr>
            </a:pPr>
            <a:r>
              <a:rPr lang="zh-CN" b="1">
                <a:solidFill>
                  <a:srgbClr val="171B1F"/>
                </a:solidFill>
                <a:ea typeface="宋体" pitchFamily="2" charset="-122"/>
                <a:sym typeface="+mn-ea"/>
              </a:rPr>
              <a:t>“</a:t>
            </a:r>
            <a:r>
              <a:rPr b="1">
                <a:solidFill>
                  <a:srgbClr val="171B1F"/>
                </a:solidFill>
                <a:sym typeface="+mn-ea"/>
              </a:rPr>
              <a:t>项目</a:t>
            </a:r>
            <a:r>
              <a:rPr lang="zh-CN" b="1">
                <a:solidFill>
                  <a:srgbClr val="171B1F"/>
                </a:solidFill>
                <a:ea typeface="宋体" pitchFamily="2" charset="-122"/>
                <a:sym typeface="+mn-ea"/>
              </a:rPr>
              <a:t>”</a:t>
            </a:r>
            <a:r>
              <a:rPr b="1">
                <a:solidFill>
                  <a:srgbClr val="171B1F"/>
                </a:solidFill>
                <a:sym typeface="+mn-ea"/>
              </a:rPr>
              <a:t>是承载长期工作的独立空间</a:t>
            </a:r>
            <a:r>
              <a:rPr lang="zh-CN" b="1">
                <a:solidFill>
                  <a:srgbClr val="171B1F"/>
                </a:solidFill>
                <a:ea typeface="宋体" pitchFamily="2" charset="-122"/>
                <a:sym typeface="+mn-ea"/>
              </a:rPr>
              <a:t>，</a:t>
            </a:r>
            <a:r>
              <a:rPr sz="1500" b="1">
                <a:solidFill>
                  <a:srgbClr val="171B1F"/>
                </a:solidFill>
              </a:rPr>
              <a:t>按具体事情建立，让资料、会话、能力和记忆保持边界</a:t>
            </a:r>
            <a:r>
              <a:rPr lang="zh-CN" sz="1500" b="1">
                <a:solidFill>
                  <a:srgbClr val="171B1F"/>
                </a:solidFill>
                <a:ea typeface="宋体" pitchFamily="2" charset="-122"/>
              </a:rPr>
              <a:t>；</a:t>
            </a:r>
            <a:r>
              <a:rPr b="1">
                <a:solidFill>
                  <a:srgbClr val="171B1F"/>
                </a:solidFill>
                <a:sym typeface="+mn-ea"/>
              </a:rPr>
              <a:t>项目不是保存更多聊天记录，而是让一项工作持续推进，保存完整的上下文。</a:t>
            </a:r>
            <a:endParaRPr b="1">
              <a:solidFill>
                <a:srgbClr val="171B1F"/>
              </a:solidFill>
            </a:endParaRPr>
          </a:p>
          <a:p>
            <a:pPr algn="l">
              <a:defRPr sz="1500" b="0">
                <a:solidFill>
                  <a:srgbClr val="667078"/>
                </a:solidFill>
              </a:defRPr>
            </a:pPr>
            <a:endParaRPr lang="zh-CN" sz="15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149850" y="2463800"/>
            <a:ext cx="501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D9411E"/>
                </a:solidFill>
              </a:defRPr>
            </a:pPr>
            <a:r>
              <a:rPr sz="1050" b="1">
                <a:solidFill>
                  <a:srgbClr val="D9411E"/>
                </a:solidFill>
              </a:rPr>
              <a:t>01</a:t>
            </a:r>
            <a:endParaRPr sz="1050" b="1">
              <a:solidFill>
                <a:srgbClr val="D9411E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664200" y="2425700"/>
            <a:ext cx="440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1B1F"/>
                </a:solidFill>
              </a:defRPr>
            </a:pPr>
            <a:r>
              <a:rPr sz="1650" b="1">
                <a:solidFill>
                  <a:srgbClr val="171B1F"/>
                </a:solidFill>
              </a:rPr>
              <a:t>按“事”建立</a:t>
            </a:r>
            <a:endParaRPr sz="1650" b="1">
              <a:solidFill>
                <a:srgbClr val="171B1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664200" y="2825750"/>
            <a:ext cx="4406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78"/>
                </a:solidFill>
              </a:defRPr>
            </a:pPr>
            <a:r>
              <a:rPr sz="1200" b="0">
                <a:solidFill>
                  <a:srgbClr val="667078"/>
                </a:solidFill>
              </a:rPr>
              <a:t>行业研究、产品研发、团队周报等长期事项。</a:t>
            </a:r>
            <a:endParaRPr sz="1200" b="0">
              <a:solidFill>
                <a:srgbClr val="667078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5160010" y="3139440"/>
            <a:ext cx="4805680" cy="76200"/>
          </a:xfrm>
          <a:prstGeom prst="rect">
            <a:avLst/>
          </a:prstGeom>
          <a:solidFill>
            <a:srgbClr val="D9DEE2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5149850" y="3530600"/>
            <a:ext cx="44386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D9411E"/>
                </a:solidFill>
              </a:defRPr>
            </a:pPr>
            <a:r>
              <a:rPr sz="1050" b="1">
                <a:solidFill>
                  <a:srgbClr val="D9411E"/>
                </a:solidFill>
              </a:rPr>
              <a:t>02</a:t>
            </a:r>
            <a:endParaRPr sz="1050" b="1">
              <a:solidFill>
                <a:srgbClr val="D9411E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5664200" y="3492500"/>
            <a:ext cx="440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1B1F"/>
                </a:solidFill>
              </a:defRPr>
            </a:pPr>
            <a:r>
              <a:rPr sz="1650" b="1">
                <a:solidFill>
                  <a:srgbClr val="171B1F"/>
                </a:solidFill>
              </a:rPr>
              <a:t>能力相互隔离</a:t>
            </a:r>
            <a:endParaRPr sz="1650" b="1">
              <a:solidFill>
                <a:srgbClr val="171B1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5664200" y="3892550"/>
            <a:ext cx="4406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78"/>
                </a:solidFill>
              </a:defRPr>
            </a:pPr>
            <a:r>
              <a:rPr sz="1200" b="0">
                <a:solidFill>
                  <a:srgbClr val="667078"/>
                </a:solidFill>
              </a:rPr>
              <a:t>会话、文件、Skill、连接器和记忆按项目组织。</a:t>
            </a:r>
            <a:endParaRPr sz="1200" b="0">
              <a:solidFill>
                <a:srgbClr val="667078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5160010" y="4253865"/>
            <a:ext cx="4805680" cy="76200"/>
          </a:xfrm>
          <a:prstGeom prst="rect">
            <a:avLst/>
          </a:prstGeom>
          <a:solidFill>
            <a:srgbClr val="D9DEE2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5149850" y="4597400"/>
            <a:ext cx="43688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D9411E"/>
                </a:solidFill>
              </a:defRPr>
            </a:pPr>
            <a:r>
              <a:rPr sz="1050" b="1">
                <a:solidFill>
                  <a:srgbClr val="D9411E"/>
                </a:solidFill>
              </a:rPr>
              <a:t>03</a:t>
            </a:r>
            <a:endParaRPr sz="1050" b="1">
              <a:solidFill>
                <a:srgbClr val="D9411E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5664200" y="4559300"/>
            <a:ext cx="440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1B1F"/>
                </a:solidFill>
              </a:defRPr>
            </a:pPr>
            <a:r>
              <a:rPr sz="1650" b="1">
                <a:solidFill>
                  <a:srgbClr val="171B1F"/>
                </a:solidFill>
              </a:rPr>
              <a:t>项目说明定边界</a:t>
            </a:r>
            <a:endParaRPr sz="1650" b="1">
              <a:solidFill>
                <a:srgbClr val="171B1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5664200" y="4959350"/>
            <a:ext cx="4406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78"/>
                </a:solidFill>
              </a:defRPr>
            </a:pPr>
            <a:r>
              <a:rPr sz="1200" b="0">
                <a:solidFill>
                  <a:srgbClr val="667078"/>
                </a:solidFill>
              </a:rPr>
              <a:t>长期目标、规则与约束成为 Agent 的基础上下文</a:t>
            </a:r>
            <a:r>
              <a:rPr lang="en-US" sz="1200" b="0">
                <a:solidFill>
                  <a:srgbClr val="667078"/>
                </a:solidFill>
              </a:rPr>
              <a:t>Agent.md</a:t>
            </a:r>
            <a:r>
              <a:rPr sz="1200" b="0">
                <a:solidFill>
                  <a:srgbClr val="667078"/>
                </a:solidFill>
              </a:rPr>
              <a:t>。</a:t>
            </a:r>
            <a:endParaRPr sz="1200" b="0">
              <a:solidFill>
                <a:srgbClr val="667078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5231765" y="5280025"/>
            <a:ext cx="4805680" cy="76200"/>
          </a:xfrm>
          <a:prstGeom prst="rect">
            <a:avLst/>
          </a:prstGeom>
          <a:solidFill>
            <a:srgbClr val="D9DEE2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0858500" y="6419850"/>
            <a:ext cx="647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67078"/>
                </a:solidFill>
              </a:defRPr>
            </a:pPr>
            <a:r>
              <a:rPr sz="900" b="0">
                <a:solidFill>
                  <a:srgbClr val="667078"/>
                </a:solidFill>
              </a:rPr>
              <a:t>07</a:t>
            </a:r>
            <a:endParaRPr sz="900" b="0">
              <a:solidFill>
                <a:srgbClr val="667078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5221605" y="5626100"/>
            <a:ext cx="43688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D9411E"/>
                </a:solidFill>
              </a:defRPr>
            </a:pPr>
            <a:r>
              <a:rPr sz="1050" b="1">
                <a:solidFill>
                  <a:srgbClr val="D9411E"/>
                </a:solidFill>
              </a:rPr>
              <a:t>0</a:t>
            </a:r>
            <a:r>
              <a:rPr lang="en-US" sz="1050" b="1">
                <a:solidFill>
                  <a:srgbClr val="D9411E"/>
                </a:solidFill>
              </a:rPr>
              <a:t>4</a:t>
            </a:r>
            <a:endParaRPr lang="en-US" sz="1050" b="1">
              <a:solidFill>
                <a:srgbClr val="D9411E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5735955" y="5588000"/>
            <a:ext cx="440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1B1F"/>
                </a:solidFill>
              </a:defRPr>
            </a:pPr>
            <a:r>
              <a:rPr lang="zh-CN" sz="1650" b="1">
                <a:solidFill>
                  <a:srgbClr val="171B1F"/>
                </a:solidFill>
              </a:rPr>
              <a:t>项目</a:t>
            </a:r>
            <a:r>
              <a:rPr lang="zh-CN" sz="1650" b="1">
                <a:solidFill>
                  <a:srgbClr val="171B1F"/>
                </a:solidFill>
              </a:rPr>
              <a:t>的价值：</a:t>
            </a:r>
            <a:endParaRPr lang="zh-CN" sz="1650" b="1">
              <a:solidFill>
                <a:srgbClr val="171B1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5735955" y="5988050"/>
            <a:ext cx="4406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78"/>
                </a:solidFill>
              </a:defRPr>
            </a:pPr>
            <a:r>
              <a:rPr lang="zh-CN" sz="1200" b="0">
                <a:solidFill>
                  <a:srgbClr val="667078"/>
                </a:solidFill>
              </a:rPr>
              <a:t>个人：</a:t>
            </a:r>
            <a:r>
              <a:rPr lang="en-US" altLang="zh-CN" sz="1200" b="0">
                <a:solidFill>
                  <a:srgbClr val="667078"/>
                </a:solidFill>
              </a:rPr>
              <a:t> </a:t>
            </a:r>
            <a:r>
              <a:rPr lang="zh-CN" altLang="en-US" sz="1200" b="0">
                <a:solidFill>
                  <a:srgbClr val="667078"/>
                </a:solidFill>
              </a:rPr>
              <a:t>接着做，团队：可移交</a:t>
            </a:r>
            <a:r>
              <a:rPr lang="en-US" altLang="zh-CN" sz="1200" b="0">
                <a:solidFill>
                  <a:srgbClr val="667078"/>
                </a:solidFill>
              </a:rPr>
              <a:t> </a:t>
            </a:r>
            <a:r>
              <a:rPr lang="zh-CN" altLang="en-US" sz="1200" b="0">
                <a:solidFill>
                  <a:srgbClr val="667078"/>
                </a:solidFill>
                <a:ea typeface="宋体" pitchFamily="2" charset="-122"/>
              </a:rPr>
              <a:t>，组织：</a:t>
            </a:r>
            <a:r>
              <a:rPr lang="en-US" altLang="zh-CN" sz="1200" b="0">
                <a:solidFill>
                  <a:srgbClr val="667078"/>
                </a:solidFill>
                <a:ea typeface="宋体" pitchFamily="2" charset="-122"/>
              </a:rPr>
              <a:t> </a:t>
            </a:r>
            <a:r>
              <a:rPr lang="zh-CN" altLang="en-US" sz="1200" b="0">
                <a:solidFill>
                  <a:srgbClr val="667078"/>
                </a:solidFill>
                <a:ea typeface="宋体" pitchFamily="2" charset="-122"/>
              </a:rPr>
              <a:t>可复制</a:t>
            </a:r>
            <a:r>
              <a:rPr lang="en-US" altLang="zh-CN" sz="1200" b="0">
                <a:solidFill>
                  <a:srgbClr val="667078"/>
                </a:solidFill>
              </a:rPr>
              <a:t> </a:t>
            </a:r>
            <a:endParaRPr lang="en-US" altLang="zh-CN" sz="1200" b="0">
              <a:solidFill>
                <a:srgbClr val="667078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5303520" y="6308725"/>
            <a:ext cx="4805680" cy="76200"/>
          </a:xfrm>
          <a:prstGeom prst="rect">
            <a:avLst/>
          </a:prstGeom>
          <a:solidFill>
            <a:srgbClr val="D9DEE2"/>
          </a:solidFill>
          <a:ln w="0">
            <a:noFill/>
            <a:prstDash val="solid"/>
          </a:ln>
        </p:spPr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83615" y="2348865"/>
            <a:ext cx="3489960" cy="43580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10804"/>
            <a:ext cx="2857500" cy="311843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10820400" cy="19050"/>
          </a:xfrm>
          <a:prstGeom prst="rect">
            <a:avLst/>
          </a:prstGeom>
          <a:solidFill>
            <a:srgbClr val="D9411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028700"/>
            <a:ext cx="10096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B1F"/>
                </a:solidFill>
              </a:defRPr>
            </a:pPr>
            <a:endParaRPr lang="zh-CN" sz="2850" b="1">
              <a:solidFill>
                <a:srgbClr val="171B1F"/>
              </a:solidFill>
              <a:ea typeface="宋体" pitchFamily="2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858500" y="6419850"/>
            <a:ext cx="647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67078"/>
                </a:solidFill>
              </a:defRPr>
            </a:pPr>
            <a:r>
              <a:rPr sz="900" b="0">
                <a:solidFill>
                  <a:srgbClr val="667078"/>
                </a:solidFill>
              </a:rPr>
              <a:t>07</a:t>
            </a:r>
            <a:endParaRPr sz="900" b="0">
              <a:solidFill>
                <a:srgbClr val="667078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" y="1091565"/>
            <a:ext cx="11430635" cy="50368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1" name="图片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8050" y="5300980"/>
            <a:ext cx="526415" cy="397510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5660" y="4514215"/>
            <a:ext cx="598805" cy="46101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0804"/>
            <a:ext cx="2857500" cy="311843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10820400" cy="19050"/>
          </a:xfrm>
          <a:prstGeom prst="rect">
            <a:avLst/>
          </a:prstGeom>
          <a:solidFill>
            <a:srgbClr val="D9411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028700"/>
            <a:ext cx="10096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B1F"/>
                </a:solidFill>
              </a:defRPr>
            </a:pPr>
            <a:r>
              <a:rPr lang="zh-CN" sz="2850" b="1">
                <a:solidFill>
                  <a:srgbClr val="171B1F"/>
                </a:solidFill>
                <a:ea typeface="宋体" pitchFamily="2" charset="-122"/>
              </a:rPr>
              <a:t>会话管理和</a:t>
            </a:r>
            <a:r>
              <a:rPr lang="zh-CN" sz="2850" b="1">
                <a:solidFill>
                  <a:srgbClr val="171B1F"/>
                </a:solidFill>
                <a:ea typeface="宋体" pitchFamily="2" charset="-122"/>
              </a:rPr>
              <a:t>观测</a:t>
            </a:r>
            <a:endParaRPr lang="zh-CN" sz="2850" b="1">
              <a:solidFill>
                <a:srgbClr val="171B1F"/>
              </a:solidFill>
              <a:ea typeface="宋体" pitchFamily="2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079875" y="1772920"/>
            <a:ext cx="2661920" cy="3664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/>
              <a:t>置顶：</a:t>
            </a:r>
            <a:r>
              <a:rPr lang="en-US" altLang="zh-CN"/>
              <a:t> </a:t>
            </a:r>
            <a:r>
              <a:rPr lang="zh-CN" altLang="en-US"/>
              <a:t>置顶会话方便查找，且不会被归档</a:t>
            </a:r>
            <a:endParaRPr lang="en-US" altLang="zh-CN"/>
          </a:p>
          <a:p>
            <a:endParaRPr lang="zh-CN" altLang="en-US"/>
          </a:p>
          <a:p>
            <a:r>
              <a:rPr lang="zh-CN" altLang="en-US" b="1"/>
              <a:t>项目</a:t>
            </a:r>
            <a:r>
              <a:rPr lang="en-US" altLang="zh-CN" b="1"/>
              <a:t>: </a:t>
            </a:r>
            <a:r>
              <a:rPr lang="en-US" altLang="zh-CN"/>
              <a:t>  </a:t>
            </a:r>
            <a:r>
              <a:rPr lang="zh-CN" altLang="en-US"/>
              <a:t>以项目维度来组织和管理</a:t>
            </a:r>
            <a:r>
              <a:rPr lang="zh-CN" altLang="en-US"/>
              <a:t>会话；</a:t>
            </a:r>
            <a:endParaRPr lang="zh-CN" altLang="en-US"/>
          </a:p>
          <a:p>
            <a:endParaRPr lang="zh-CN" altLang="en-US"/>
          </a:p>
          <a:p>
            <a:r>
              <a:rPr lang="zh-CN" altLang="en-US" b="1"/>
              <a:t>最近：</a:t>
            </a:r>
            <a:r>
              <a:rPr lang="en-US" altLang="zh-CN"/>
              <a:t> </a:t>
            </a:r>
            <a:r>
              <a:rPr lang="zh-CN" altLang="en-US"/>
              <a:t>以时间维度来查看和管理会话；</a:t>
            </a:r>
            <a:endParaRPr lang="zh-CN" altLang="en-US"/>
          </a:p>
          <a:p>
            <a:endParaRPr lang="en-US" altLang="zh-CN"/>
          </a:p>
          <a:p>
            <a:r>
              <a:rPr lang="zh-CN" altLang="en-US" b="1"/>
              <a:t>自动任务：</a:t>
            </a:r>
            <a:r>
              <a:rPr lang="en-US" altLang="zh-CN"/>
              <a:t> </a:t>
            </a:r>
            <a:r>
              <a:rPr lang="zh-CN" altLang="en-US"/>
              <a:t>通过自动任务触发的会话会自动聚合到“自动任务”</a:t>
            </a:r>
            <a:r>
              <a:rPr lang="zh-CN" altLang="en-US"/>
              <a:t>中。</a:t>
            </a:r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525" y="5915660"/>
            <a:ext cx="3832860" cy="812165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935" y="1539240"/>
            <a:ext cx="3832860" cy="2169160"/>
          </a:xfrm>
          <a:prstGeom prst="rect">
            <a:avLst/>
          </a:prstGeom>
        </p:spPr>
      </p:pic>
      <p:sp>
        <p:nvSpPr>
          <p:cNvPr id="38" name="文本框 37"/>
          <p:cNvSpPr txBox="1"/>
          <p:nvPr/>
        </p:nvSpPr>
        <p:spPr>
          <a:xfrm>
            <a:off x="7618095" y="3865880"/>
            <a:ext cx="444055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会话统计：</a:t>
            </a:r>
            <a:r>
              <a:rPr lang="en-US" altLang="zh-CN" sz="1400" b="1"/>
              <a:t> </a:t>
            </a:r>
            <a:r>
              <a:rPr lang="zh-CN" altLang="en-US" sz="1400"/>
              <a:t>执行完某一轮会话后，可以具体查看执行过程的统计信息；</a:t>
            </a:r>
            <a:endParaRPr lang="en-US" altLang="zh-CN" sz="1400"/>
          </a:p>
          <a:p>
            <a:endParaRPr lang="en-US" altLang="zh-CN" sz="1400"/>
          </a:p>
          <a:p>
            <a:r>
              <a:rPr lang="en-US" altLang="zh-CN" sz="1400" b="1"/>
              <a:t>Fork</a:t>
            </a:r>
            <a:r>
              <a:rPr lang="zh-CN" altLang="en-US" sz="1400" b="1"/>
              <a:t>会话：</a:t>
            </a:r>
            <a:r>
              <a:rPr lang="en-US" altLang="zh-CN" sz="1400"/>
              <a:t> </a:t>
            </a:r>
            <a:r>
              <a:rPr lang="zh-CN" altLang="en-US" sz="1400"/>
              <a:t>在某个时间点，分叉出一个新的会话，适合不同的研究路径的探索。或者会话已经被污染，想从过程某个点</a:t>
            </a:r>
            <a:endParaRPr lang="en-US" altLang="zh-CN" sz="1400"/>
          </a:p>
          <a:p>
            <a:endParaRPr lang="en-US" altLang="zh-CN" sz="1400"/>
          </a:p>
          <a:p>
            <a:r>
              <a:rPr lang="zh-CN" altLang="en-US" sz="1400" b="1"/>
              <a:t>回滚会话：</a:t>
            </a:r>
            <a:r>
              <a:rPr lang="en-US" altLang="zh-CN" sz="1400"/>
              <a:t> </a:t>
            </a:r>
            <a:r>
              <a:rPr lang="zh-CN" altLang="en-US" sz="1400"/>
              <a:t>把会话回退到之前的某一轮。</a:t>
            </a:r>
            <a:endParaRPr lang="zh-CN" altLang="en-US" sz="14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570" y="1539240"/>
            <a:ext cx="3291205" cy="43764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10804"/>
            <a:ext cx="2857500" cy="311843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10820400" cy="19050"/>
          </a:xfrm>
          <a:prstGeom prst="rect">
            <a:avLst/>
          </a:prstGeom>
          <a:solidFill>
            <a:srgbClr val="D9411E"/>
          </a:solidFill>
          <a:ln w="0">
            <a:noFill/>
            <a:prstDash val="solid"/>
          </a:ln>
        </p:spPr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615" y="1268730"/>
            <a:ext cx="9954260" cy="5534660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479425" y="800100"/>
            <a:ext cx="10096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B1F"/>
                </a:solidFill>
              </a:defRPr>
            </a:pPr>
            <a:r>
              <a:rPr lang="zh-CN" altLang="en-US" sz="2850" b="1">
                <a:solidFill>
                  <a:srgbClr val="171B1F"/>
                </a:solidFill>
              </a:rPr>
              <a:t>选择</a:t>
            </a:r>
            <a:r>
              <a:rPr lang="zh-CN" altLang="en-US" sz="2850" b="1">
                <a:solidFill>
                  <a:srgbClr val="171B1F"/>
                </a:solidFill>
              </a:rPr>
              <a:t>引擎</a:t>
            </a:r>
            <a:endParaRPr lang="zh-CN" altLang="en-US" sz="2850" b="1">
              <a:solidFill>
                <a:srgbClr val="171B1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10804"/>
            <a:ext cx="2857500" cy="311843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10820400" cy="19050"/>
          </a:xfrm>
          <a:prstGeom prst="rect">
            <a:avLst/>
          </a:prstGeom>
          <a:solidFill>
            <a:srgbClr val="D9411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028700"/>
            <a:ext cx="10096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B1F"/>
                </a:solidFill>
              </a:defRPr>
            </a:pPr>
            <a:r>
              <a:rPr lang="zh-CN" altLang="en-US" sz="2850" b="1">
                <a:solidFill>
                  <a:srgbClr val="171B1F"/>
                </a:solidFill>
              </a:rPr>
              <a:t>选择</a:t>
            </a:r>
            <a:r>
              <a:rPr lang="zh-CN" altLang="en-US" sz="2850" b="1">
                <a:solidFill>
                  <a:srgbClr val="171B1F"/>
                </a:solidFill>
              </a:rPr>
              <a:t>模型</a:t>
            </a:r>
            <a:endParaRPr lang="zh-CN" altLang="en-US" sz="2850" b="1">
              <a:solidFill>
                <a:srgbClr val="171B1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858500" y="6419850"/>
            <a:ext cx="647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67078"/>
                </a:solidFill>
              </a:defRPr>
            </a:pPr>
            <a:r>
              <a:rPr sz="900" b="0">
                <a:solidFill>
                  <a:srgbClr val="667078"/>
                </a:solidFill>
              </a:rPr>
              <a:t>08</a:t>
            </a:r>
            <a:endParaRPr sz="900" b="0">
              <a:solidFill>
                <a:srgbClr val="667078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67715" y="1638300"/>
            <a:ext cx="790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4874CB"/>
                </a:solidFill>
              </a:defRPr>
            </a:pPr>
            <a:r>
              <a:rPr sz="1800" b="1">
                <a:solidFill>
                  <a:srgbClr val="4874CB"/>
                </a:solidFill>
              </a:rPr>
              <a:t>先判断数据边界，再看输入类型与任务能力</a:t>
            </a:r>
            <a:endParaRPr sz="1800" b="1">
              <a:solidFill>
                <a:srgbClr val="4874CB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67715" y="2247900"/>
            <a:ext cx="31051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4874CB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939165" y="24384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4874CB"/>
                </a:solidFill>
              </a:defRPr>
            </a:pPr>
            <a:r>
              <a:rPr sz="1125" b="1">
                <a:solidFill>
                  <a:srgbClr val="4874CB"/>
                </a:solidFill>
              </a:rPr>
              <a:t>01</a:t>
            </a:r>
            <a:endParaRPr sz="1125" b="1">
              <a:solidFill>
                <a:srgbClr val="4874CB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434465" y="23812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202124"/>
                </a:solidFill>
              </a:defRPr>
            </a:pPr>
            <a:r>
              <a:rPr sz="1575" b="1">
                <a:solidFill>
                  <a:srgbClr val="202124"/>
                </a:solidFill>
              </a:rPr>
              <a:t>数据敏感度</a:t>
            </a:r>
            <a:endParaRPr sz="1575" b="1">
              <a:solidFill>
                <a:srgbClr val="202124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939165" y="2838450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A7178"/>
                </a:solidFill>
              </a:defRPr>
            </a:pPr>
            <a:r>
              <a:rPr sz="1200" b="0">
                <a:solidFill>
                  <a:srgbClr val="6A7178"/>
                </a:solidFill>
              </a:rPr>
              <a:t>敏感、涉客信息</a:t>
            </a:r>
            <a:r>
              <a:rPr lang="zh-CN" sz="1200" b="0">
                <a:solidFill>
                  <a:srgbClr val="6A7178"/>
                </a:solidFill>
              </a:rPr>
              <a:t>使用</a:t>
            </a:r>
            <a:r>
              <a:rPr sz="1200" b="0">
                <a:solidFill>
                  <a:srgbClr val="6A7178"/>
                </a:solidFill>
              </a:rPr>
              <a:t> Local</a:t>
            </a:r>
            <a:endParaRPr sz="1200" b="0">
              <a:solidFill>
                <a:srgbClr val="6A7178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158615" y="2247900"/>
            <a:ext cx="31051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E822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4330065" y="24384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EE822F"/>
                </a:solidFill>
              </a:defRPr>
            </a:pPr>
            <a:r>
              <a:rPr sz="1125" b="1">
                <a:solidFill>
                  <a:srgbClr val="EE822F"/>
                </a:solidFill>
              </a:rPr>
              <a:t>02</a:t>
            </a:r>
            <a:endParaRPr sz="1125" b="1">
              <a:solidFill>
                <a:srgbClr val="EE822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4825365" y="23812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202124"/>
                </a:solidFill>
              </a:defRPr>
            </a:pPr>
            <a:r>
              <a:rPr sz="1575" b="1">
                <a:solidFill>
                  <a:srgbClr val="202124"/>
                </a:solidFill>
              </a:rPr>
              <a:t>输入类型</a:t>
            </a:r>
            <a:endParaRPr sz="1575" b="1">
              <a:solidFill>
                <a:srgbClr val="202124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330065" y="2838450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A7178"/>
                </a:solidFill>
              </a:defRPr>
            </a:pPr>
            <a:r>
              <a:rPr sz="1200" b="0">
                <a:solidFill>
                  <a:srgbClr val="6A7178"/>
                </a:solidFill>
              </a:rPr>
              <a:t>图片与扫描件使用多模态模型</a:t>
            </a:r>
            <a:endParaRPr sz="1200" b="0">
              <a:solidFill>
                <a:srgbClr val="6A7178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7549515" y="2247900"/>
            <a:ext cx="31051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30C0B4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7720965" y="24384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30C0B4"/>
                </a:solidFill>
              </a:defRPr>
            </a:pPr>
            <a:r>
              <a:rPr sz="1125" b="1">
                <a:solidFill>
                  <a:srgbClr val="30C0B4"/>
                </a:solidFill>
              </a:rPr>
              <a:t>03</a:t>
            </a:r>
            <a:endParaRPr sz="1125" b="1">
              <a:solidFill>
                <a:srgbClr val="30C0B4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8216265" y="23812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202124"/>
                </a:solidFill>
              </a:defRPr>
            </a:pPr>
            <a:r>
              <a:rPr sz="1575" b="1">
                <a:solidFill>
                  <a:srgbClr val="202124"/>
                </a:solidFill>
              </a:rPr>
              <a:t>能力与速度</a:t>
            </a:r>
            <a:endParaRPr sz="1575" b="1">
              <a:solidFill>
                <a:srgbClr val="202124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7720965" y="2838450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A7178"/>
                </a:solidFill>
              </a:defRPr>
            </a:pPr>
            <a:r>
              <a:rPr lang="zh-CN" sz="1200" b="0">
                <a:solidFill>
                  <a:srgbClr val="6A7178"/>
                </a:solidFill>
                <a:ea typeface="宋体" pitchFamily="2" charset="-122"/>
              </a:rPr>
              <a:t>长会话</a:t>
            </a:r>
            <a:r>
              <a:rPr lang="en-US" altLang="zh-CN" sz="1200" b="0">
                <a:solidFill>
                  <a:srgbClr val="6A7178"/>
                </a:solidFill>
                <a:ea typeface="宋体" pitchFamily="2" charset="-122"/>
              </a:rPr>
              <a:t>&amp;</a:t>
            </a:r>
            <a:r>
              <a:rPr lang="zh-CN" altLang="en-US" sz="1200" b="0">
                <a:solidFill>
                  <a:srgbClr val="6A7178"/>
                </a:solidFill>
                <a:ea typeface="宋体" pitchFamily="2" charset="-122"/>
              </a:rPr>
              <a:t>复杂任务</a:t>
            </a:r>
            <a:r>
              <a:rPr sz="1200" b="0">
                <a:solidFill>
                  <a:srgbClr val="6A7178"/>
                </a:solidFill>
              </a:rPr>
              <a:t>看上下文</a:t>
            </a:r>
            <a:endParaRPr sz="1200" b="0">
              <a:solidFill>
                <a:srgbClr val="6A7178"/>
              </a:solidFill>
            </a:endParaRPr>
          </a:p>
          <a:p>
            <a:pPr algn="l">
              <a:defRPr sz="1200" b="0">
                <a:solidFill>
                  <a:srgbClr val="6A7178"/>
                </a:solidFill>
              </a:defRPr>
            </a:pPr>
            <a:r>
              <a:rPr sz="1200" b="0">
                <a:solidFill>
                  <a:srgbClr val="6A7178"/>
                </a:solidFill>
              </a:rPr>
              <a:t>常规任务看稳定性</a:t>
            </a:r>
            <a:endParaRPr sz="1200" b="0">
              <a:solidFill>
                <a:srgbClr val="6A7178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767715" y="3657600"/>
            <a:ext cx="4857750" cy="2366645"/>
          </a:xfrm>
          <a:prstGeom prst="roundRect">
            <a:avLst>
              <a:gd name="adj" fmla="val 6667"/>
            </a:avLst>
          </a:prstGeom>
          <a:noFill/>
          <a:ln w="9525">
            <a:solidFill>
              <a:srgbClr val="4874CB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1034415" y="39243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4874CB"/>
                </a:solidFill>
              </a:defRPr>
            </a:pPr>
            <a:r>
              <a:rPr sz="1800" b="1">
                <a:solidFill>
                  <a:srgbClr val="4874CB"/>
                </a:solidFill>
              </a:rPr>
              <a:t>Local 模型</a:t>
            </a:r>
            <a:endParaRPr sz="1800" b="1">
              <a:solidFill>
                <a:srgbClr val="4874CB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034415" y="4381500"/>
            <a:ext cx="4000500" cy="15614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202124"/>
                </a:solidFill>
              </a:defRPr>
            </a:pPr>
            <a:r>
              <a:rPr sz="1275" b="0">
                <a:solidFill>
                  <a:srgbClr val="202124"/>
                </a:solidFill>
              </a:rPr>
              <a:t>数据不出公司</a:t>
            </a:r>
            <a:r>
              <a:rPr lang="zh-CN" sz="1275" b="0">
                <a:solidFill>
                  <a:srgbClr val="202124"/>
                </a:solidFill>
                <a:ea typeface="宋体" pitchFamily="2" charset="-122"/>
              </a:rPr>
              <a:t>，</a:t>
            </a:r>
            <a:r>
              <a:rPr>
                <a:sym typeface="+mn-ea"/>
              </a:rPr>
              <a:t>适合敏感和涉客信息</a:t>
            </a:r>
            <a:endParaRPr sz="1275" b="0">
              <a:solidFill>
                <a:srgbClr val="202124"/>
              </a:solidFill>
            </a:endParaRPr>
          </a:p>
          <a:p>
            <a:pPr algn="l">
              <a:defRPr sz="1275" b="0">
                <a:solidFill>
                  <a:srgbClr val="202124"/>
                </a:solidFill>
              </a:defRPr>
            </a:pPr>
            <a:r>
              <a:rPr lang="zh-CN" sz="1275" b="0">
                <a:solidFill>
                  <a:srgbClr val="202124"/>
                </a:solidFill>
              </a:rPr>
              <a:t>容量有限，可选模型较少</a:t>
            </a:r>
            <a:endParaRPr lang="zh-CN" sz="1275" b="0">
              <a:solidFill>
                <a:srgbClr val="202124"/>
              </a:solidFill>
            </a:endParaRPr>
          </a:p>
          <a:p>
            <a:pPr algn="l">
              <a:defRPr sz="1275" b="0">
                <a:solidFill>
                  <a:srgbClr val="202124"/>
                </a:solidFill>
              </a:defRPr>
            </a:pPr>
            <a:endParaRPr lang="en-US" sz="1275" b="0">
              <a:solidFill>
                <a:srgbClr val="202124"/>
              </a:solidFill>
            </a:endParaRPr>
          </a:p>
          <a:p>
            <a:pPr algn="l">
              <a:defRPr sz="1275" b="0">
                <a:solidFill>
                  <a:srgbClr val="202124"/>
                </a:solidFill>
              </a:defRPr>
            </a:pPr>
            <a:r>
              <a:rPr lang="zh-CN" altLang="en-US" sz="1275" b="0">
                <a:solidFill>
                  <a:srgbClr val="202124"/>
                </a:solidFill>
                <a:ea typeface="宋体" pitchFamily="2" charset="-122"/>
              </a:rPr>
              <a:t>推荐模型：</a:t>
            </a:r>
            <a:endParaRPr lang="en-US" sz="1275" b="0">
              <a:solidFill>
                <a:srgbClr val="202124"/>
              </a:solidFill>
            </a:endParaRPr>
          </a:p>
          <a:p>
            <a:pPr marL="285750" indent="-285750" algn="l">
              <a:buFont typeface="Arial" panose="020B0604020202090204" pitchFamily="34" charset="0"/>
              <a:buChar char="•"/>
              <a:defRPr sz="1275" b="0">
                <a:solidFill>
                  <a:srgbClr val="202124"/>
                </a:solidFill>
              </a:defRPr>
            </a:pPr>
            <a:r>
              <a:rPr lang="en-US" sz="1275" b="0">
                <a:solidFill>
                  <a:srgbClr val="202124"/>
                </a:solidFill>
              </a:rPr>
              <a:t>local-deepseek-v4-flash</a:t>
            </a:r>
            <a:r>
              <a:rPr lang="zh-CN" altLang="en-US" sz="1275" b="0">
                <a:solidFill>
                  <a:srgbClr val="202124"/>
                </a:solidFill>
                <a:ea typeface="宋体" pitchFamily="2" charset="-122"/>
              </a:rPr>
              <a:t>（</a:t>
            </a:r>
            <a:r>
              <a:rPr lang="en-US" altLang="zh-CN" sz="1275" b="0">
                <a:solidFill>
                  <a:srgbClr val="202124"/>
                </a:solidFill>
                <a:ea typeface="宋体" pitchFamily="2" charset="-122"/>
              </a:rPr>
              <a:t>1M</a:t>
            </a:r>
            <a:r>
              <a:rPr lang="zh-CN" altLang="en-US" sz="1275" b="0">
                <a:solidFill>
                  <a:srgbClr val="202124"/>
                </a:solidFill>
                <a:ea typeface="宋体" pitchFamily="2" charset="-122"/>
              </a:rPr>
              <a:t>）</a:t>
            </a:r>
            <a:endParaRPr lang="en-US" sz="1275" b="0">
              <a:solidFill>
                <a:srgbClr val="202124"/>
              </a:solidFill>
            </a:endParaRPr>
          </a:p>
          <a:p>
            <a:pPr marL="285750" indent="-285750" algn="l">
              <a:buFont typeface="Arial" panose="020B0604020202090204" pitchFamily="34" charset="0"/>
              <a:buChar char="•"/>
              <a:defRPr sz="1275" b="0">
                <a:solidFill>
                  <a:srgbClr val="202124"/>
                </a:solidFill>
              </a:defRPr>
            </a:pPr>
            <a:r>
              <a:rPr lang="en-US" altLang="zh-CN" sz="1275" b="0">
                <a:solidFill>
                  <a:srgbClr val="202124"/>
                </a:solidFill>
              </a:rPr>
              <a:t>local-qwen38</a:t>
            </a:r>
            <a:r>
              <a:rPr lang="zh-CN" altLang="en-US" sz="1275" b="0">
                <a:solidFill>
                  <a:srgbClr val="202124"/>
                </a:solidFill>
                <a:ea typeface="宋体" pitchFamily="2" charset="-122"/>
              </a:rPr>
              <a:t>（</a:t>
            </a:r>
            <a:r>
              <a:rPr lang="zh-CN" altLang="en-US" sz="1275" b="0">
                <a:solidFill>
                  <a:srgbClr val="202124"/>
                </a:solidFill>
                <a:ea typeface="宋体" pitchFamily="2" charset="-122"/>
              </a:rPr>
              <a:t>多模态）</a:t>
            </a:r>
            <a:endParaRPr lang="en-US" altLang="zh-CN" sz="1275" b="0">
              <a:solidFill>
                <a:srgbClr val="202124"/>
              </a:solidFill>
              <a:ea typeface="宋体" pitchFamily="2" charset="-122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5835015" y="3657600"/>
            <a:ext cx="5086350" cy="2366645"/>
          </a:xfrm>
          <a:prstGeom prst="roundRect">
            <a:avLst>
              <a:gd name="adj" fmla="val 6667"/>
            </a:avLst>
          </a:prstGeom>
          <a:noFill/>
          <a:ln w="9525">
            <a:solidFill>
              <a:srgbClr val="EE822F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101715" y="39243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E822F"/>
                </a:solidFill>
              </a:defRPr>
            </a:pPr>
            <a:r>
              <a:rPr sz="1800" b="1">
                <a:solidFill>
                  <a:srgbClr val="EE822F"/>
                </a:solidFill>
              </a:rPr>
              <a:t>SaaS 模型</a:t>
            </a:r>
            <a:endParaRPr sz="1800" b="1">
              <a:solidFill>
                <a:srgbClr val="EE822F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096000" y="4315460"/>
            <a:ext cx="4191000" cy="16427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202124"/>
                </a:solidFill>
              </a:defRPr>
            </a:pPr>
            <a:r>
              <a:rPr sz="1275" b="0">
                <a:solidFill>
                  <a:srgbClr val="202124"/>
                </a:solidFill>
              </a:rPr>
              <a:t>模型更新快、响应较稳定</a:t>
            </a:r>
            <a:endParaRPr sz="1275" b="0">
              <a:solidFill>
                <a:srgbClr val="202124"/>
              </a:solidFill>
            </a:endParaRPr>
          </a:p>
          <a:p>
            <a:pPr algn="l">
              <a:defRPr sz="1275" b="0">
                <a:solidFill>
                  <a:srgbClr val="202124"/>
                </a:solidFill>
              </a:defRPr>
            </a:pPr>
            <a:r>
              <a:rPr sz="1275" b="0">
                <a:solidFill>
                  <a:srgbClr val="202124"/>
                </a:solidFill>
              </a:rPr>
              <a:t>仅处理不含敏感信息的内容</a:t>
            </a:r>
            <a:endParaRPr sz="1275" b="0">
              <a:solidFill>
                <a:srgbClr val="202124"/>
              </a:solidFill>
            </a:endParaRPr>
          </a:p>
          <a:p>
            <a:pPr algn="l">
              <a:defRPr sz="1275" b="0">
                <a:solidFill>
                  <a:srgbClr val="202124"/>
                </a:solidFill>
              </a:defRPr>
            </a:pPr>
            <a:endParaRPr sz="1275" b="0">
              <a:solidFill>
                <a:srgbClr val="202124"/>
              </a:solidFill>
            </a:endParaRPr>
          </a:p>
          <a:p>
            <a:pPr algn="l">
              <a:defRPr sz="1275" b="0">
                <a:solidFill>
                  <a:srgbClr val="202124"/>
                </a:solidFill>
              </a:defRPr>
            </a:pPr>
            <a:r>
              <a:rPr lang="zh-CN" sz="1275" b="0">
                <a:solidFill>
                  <a:srgbClr val="202124"/>
                </a:solidFill>
                <a:ea typeface="宋体" pitchFamily="2" charset="-122"/>
              </a:rPr>
              <a:t>推荐模型：</a:t>
            </a:r>
            <a:endParaRPr sz="1275" b="0">
              <a:solidFill>
                <a:srgbClr val="202124"/>
              </a:solidFill>
            </a:endParaRPr>
          </a:p>
          <a:p>
            <a:pPr marL="285750" indent="-285750" algn="l">
              <a:buFont typeface="Arial" panose="020B0604020202090204" pitchFamily="34" charset="0"/>
              <a:buChar char="•"/>
              <a:defRPr sz="1275" b="0">
                <a:solidFill>
                  <a:srgbClr val="202124"/>
                </a:solidFill>
              </a:defRPr>
            </a:pPr>
            <a:r>
              <a:rPr lang="en-US" altLang="zh-CN" sz="1275" b="0">
                <a:solidFill>
                  <a:srgbClr val="202124"/>
                </a:solidFill>
              </a:rPr>
              <a:t>saas-kimi-26</a:t>
            </a:r>
            <a:r>
              <a:rPr lang="zh-CN" altLang="en-US" sz="1275" b="0">
                <a:solidFill>
                  <a:srgbClr val="202124"/>
                </a:solidFill>
                <a:ea typeface="宋体" pitchFamily="2" charset="-122"/>
              </a:rPr>
              <a:t>（</a:t>
            </a:r>
            <a:r>
              <a:rPr lang="zh-CN" altLang="en-US" sz="1275" b="0">
                <a:solidFill>
                  <a:srgbClr val="202124"/>
                </a:solidFill>
                <a:ea typeface="宋体" pitchFamily="2" charset="-122"/>
              </a:rPr>
              <a:t>多模态）</a:t>
            </a:r>
            <a:endParaRPr lang="en-US" altLang="zh-CN" sz="1275" b="0">
              <a:solidFill>
                <a:srgbClr val="202124"/>
              </a:solidFill>
            </a:endParaRPr>
          </a:p>
          <a:p>
            <a:pPr marL="285750" indent="-285750" algn="l">
              <a:buFont typeface="Arial" panose="020B0604020202090204" pitchFamily="34" charset="0"/>
              <a:buChar char="•"/>
              <a:defRPr sz="1275" b="0">
                <a:solidFill>
                  <a:srgbClr val="202124"/>
                </a:solidFill>
              </a:defRPr>
            </a:pPr>
            <a:r>
              <a:rPr lang="en-US" altLang="zh-CN" sz="1275" b="0">
                <a:solidFill>
                  <a:srgbClr val="202124"/>
                </a:solidFill>
              </a:rPr>
              <a:t>saas-glm-53</a:t>
            </a:r>
            <a:endParaRPr lang="en-US" altLang="zh-CN" sz="1275" b="0">
              <a:solidFill>
                <a:srgbClr val="202124"/>
              </a:solidFill>
            </a:endParaRPr>
          </a:p>
          <a:p>
            <a:pPr marL="285750" indent="-285750" algn="l">
              <a:buFont typeface="Arial" panose="020B0604020202090204" pitchFamily="34" charset="0"/>
              <a:buChar char="•"/>
              <a:defRPr sz="1275" b="0">
                <a:solidFill>
                  <a:srgbClr val="202124"/>
                </a:solidFill>
              </a:defRPr>
            </a:pPr>
            <a:r>
              <a:rPr lang="en-US" altLang="zh-CN" sz="1275" b="0">
                <a:solidFill>
                  <a:srgbClr val="202124"/>
                </a:solidFill>
              </a:rPr>
              <a:t>saas-deepseek-v4-pro </a:t>
            </a:r>
            <a:r>
              <a:rPr lang="zh-CN" altLang="en-US" sz="1275" b="0">
                <a:solidFill>
                  <a:srgbClr val="202124"/>
                </a:solidFill>
                <a:ea typeface="宋体" pitchFamily="2" charset="-122"/>
              </a:rPr>
              <a:t>（</a:t>
            </a:r>
            <a:r>
              <a:rPr lang="en-US" altLang="zh-CN" sz="1275" b="0">
                <a:solidFill>
                  <a:srgbClr val="202124"/>
                </a:solidFill>
              </a:rPr>
              <a:t>1M</a:t>
            </a:r>
            <a:r>
              <a:rPr lang="zh-CN" altLang="en-US" sz="1275" b="0">
                <a:solidFill>
                  <a:srgbClr val="202124"/>
                </a:solidFill>
                <a:ea typeface="宋体" pitchFamily="2" charset="-122"/>
              </a:rPr>
              <a:t>）</a:t>
            </a:r>
            <a:endParaRPr lang="en-US" altLang="zh-CN" sz="1275" b="0">
              <a:solidFill>
                <a:srgbClr val="202124"/>
              </a:solidFill>
            </a:endParaRPr>
          </a:p>
          <a:p>
            <a:pPr marL="285750" indent="-285750" algn="l">
              <a:buFont typeface="Arial" panose="020B0604020202090204" pitchFamily="34" charset="0"/>
              <a:buChar char="•"/>
              <a:defRPr sz="1275" b="0">
                <a:solidFill>
                  <a:srgbClr val="202124"/>
                </a:solidFill>
              </a:defRPr>
            </a:pPr>
            <a:r>
              <a:rPr lang="en-US" altLang="zh-CN" sz="1275" b="0">
                <a:solidFill>
                  <a:srgbClr val="202124"/>
                </a:solidFill>
              </a:rPr>
              <a:t>saas-deepseek-v4-flash</a:t>
            </a:r>
            <a:r>
              <a:rPr lang="zh-CN" altLang="en-US" sz="1275" b="0">
                <a:solidFill>
                  <a:srgbClr val="202124"/>
                </a:solidFill>
                <a:ea typeface="宋体" pitchFamily="2" charset="-122"/>
              </a:rPr>
              <a:t>（</a:t>
            </a:r>
            <a:r>
              <a:rPr lang="en-US" altLang="zh-CN">
                <a:sym typeface="+mn-ea"/>
              </a:rPr>
              <a:t>1M</a:t>
            </a:r>
            <a:r>
              <a:rPr lang="zh-CN" altLang="en-US">
                <a:ea typeface="宋体" pitchFamily="2" charset="-122"/>
                <a:sym typeface="+mn-ea"/>
              </a:rPr>
              <a:t>）</a:t>
            </a:r>
            <a:endParaRPr lang="zh-CN" altLang="en-US" sz="1275" b="0">
              <a:solidFill>
                <a:srgbClr val="202124"/>
              </a:solidFill>
              <a:ea typeface="宋体" pitchFamily="2" charset="-122"/>
              <a:sym typeface="+mn-ea"/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767715" y="6229350"/>
            <a:ext cx="10153650" cy="438150"/>
          </a:xfrm>
          <a:prstGeom prst="roundRect">
            <a:avLst>
              <a:gd name="adj" fmla="val 26087"/>
            </a:avLst>
          </a:prstGeom>
          <a:solidFill>
            <a:srgbClr val="FDEEF0"/>
          </a:solidFill>
          <a:ln w="9525">
            <a:solidFill>
              <a:srgbClr val="E54C5E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958215" y="6343650"/>
            <a:ext cx="9772650" cy="2863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E54C5E"/>
                </a:solidFill>
              </a:defRPr>
            </a:pPr>
            <a:r>
              <a:rPr sz="1275" b="1">
                <a:solidFill>
                  <a:srgbClr val="E54C5E"/>
                </a:solidFill>
              </a:rPr>
              <a:t>使用本人申请的 Key，不得共享、转交或粘贴到对话中</a:t>
            </a:r>
            <a:r>
              <a:rPr lang="en-US" sz="1275" b="1">
                <a:solidFill>
                  <a:srgbClr val="E54C5E"/>
                </a:solidFill>
              </a:rPr>
              <a:t>  |  </a:t>
            </a:r>
            <a:r>
              <a:rPr lang="zh-CN" altLang="en-US" sz="1275" b="1">
                <a:solidFill>
                  <a:srgbClr val="E54C5E"/>
                </a:solidFill>
              </a:rPr>
              <a:t>建议直接使用</a:t>
            </a:r>
            <a:r>
              <a:rPr lang="en-US" altLang="zh-CN" sz="1275" b="1">
                <a:solidFill>
                  <a:srgbClr val="E54C5E"/>
                </a:solidFill>
              </a:rPr>
              <a:t>WorkMate</a:t>
            </a:r>
            <a:r>
              <a:rPr lang="zh-CN" altLang="en-US" sz="1275" b="1">
                <a:solidFill>
                  <a:srgbClr val="E54C5E"/>
                </a:solidFill>
              </a:rPr>
              <a:t>的</a:t>
            </a:r>
            <a:r>
              <a:rPr lang="en-US" altLang="zh-CN" sz="1275" b="1">
                <a:solidFill>
                  <a:srgbClr val="E54C5E"/>
                </a:solidFill>
              </a:rPr>
              <a:t>KEY</a:t>
            </a:r>
            <a:r>
              <a:rPr lang="zh-CN" altLang="en-US" sz="1275" b="1">
                <a:solidFill>
                  <a:srgbClr val="E54C5E"/>
                </a:solidFill>
                <a:ea typeface="宋体" pitchFamily="2" charset="-122"/>
              </a:rPr>
              <a:t>，自动同步泰为的</a:t>
            </a:r>
            <a:r>
              <a:rPr lang="zh-CN" altLang="en-US" sz="1275" b="1">
                <a:solidFill>
                  <a:srgbClr val="E54C5E"/>
                </a:solidFill>
                <a:ea typeface="宋体" pitchFamily="2" charset="-122"/>
              </a:rPr>
              <a:t>模型</a:t>
            </a:r>
            <a:endParaRPr lang="zh-CN" altLang="en-US" sz="1275" b="1">
              <a:solidFill>
                <a:srgbClr val="E54C5E"/>
              </a:solidFill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10804"/>
            <a:ext cx="2857500" cy="311843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10820400" cy="19050"/>
          </a:xfrm>
          <a:prstGeom prst="rect">
            <a:avLst/>
          </a:prstGeom>
          <a:solidFill>
            <a:srgbClr val="D9411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95325" y="945515"/>
            <a:ext cx="10096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B1F"/>
                </a:solidFill>
              </a:defRPr>
            </a:pPr>
            <a:r>
              <a:rPr lang="zh-CN" altLang="en-US" sz="2850" b="1">
                <a:solidFill>
                  <a:srgbClr val="171B1F"/>
                </a:solidFill>
              </a:rPr>
              <a:t>上下文</a:t>
            </a:r>
            <a:r>
              <a:rPr lang="zh-CN" altLang="en-US" sz="2850" b="1">
                <a:solidFill>
                  <a:srgbClr val="171B1F"/>
                </a:solidFill>
              </a:rPr>
              <a:t>管理：文件管理</a:t>
            </a:r>
            <a:endParaRPr lang="zh-CN" altLang="en-US" sz="2850" b="1">
              <a:solidFill>
                <a:srgbClr val="171B1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858500" y="6419850"/>
            <a:ext cx="647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67078"/>
                </a:solidFill>
              </a:defRPr>
            </a:pPr>
            <a:r>
              <a:rPr sz="900" b="0">
                <a:solidFill>
                  <a:srgbClr val="667078"/>
                </a:solidFill>
              </a:rPr>
              <a:t>08</a:t>
            </a:r>
            <a:endParaRPr sz="900" b="0">
              <a:solidFill>
                <a:srgbClr val="667078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655820" y="1666875"/>
            <a:ext cx="600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4874CB"/>
                </a:solidFill>
              </a:defRPr>
            </a:pPr>
            <a:r>
              <a:rPr sz="1800" b="1">
                <a:solidFill>
                  <a:srgbClr val="4874CB"/>
                </a:solidFill>
              </a:rPr>
              <a:t>文件按使用范围分为会话文件和项目文件</a:t>
            </a:r>
            <a:endParaRPr sz="1800" b="1">
              <a:solidFill>
                <a:srgbClr val="4874CB"/>
              </a:solidFill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4655820" y="2238375"/>
            <a:ext cx="2857500" cy="1428750"/>
          </a:xfrm>
          <a:prstGeom prst="roundRect">
            <a:avLst>
              <a:gd name="adj" fmla="val 8000"/>
            </a:avLst>
          </a:prstGeom>
          <a:solidFill>
            <a:srgbClr val="FFF3EA"/>
          </a:solidFill>
          <a:ln w="9525">
            <a:solidFill>
              <a:srgbClr val="EE822F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4884420" y="2447925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EE822F"/>
                </a:solidFill>
              </a:defRPr>
            </a:pPr>
            <a:r>
              <a:rPr sz="1650" b="1">
                <a:solidFill>
                  <a:srgbClr val="EE822F"/>
                </a:solidFill>
              </a:rPr>
              <a:t>会话文件</a:t>
            </a:r>
            <a:endParaRPr sz="1650" b="1">
              <a:solidFill>
                <a:srgbClr val="EE822F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4884420" y="2867025"/>
            <a:ext cx="2286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仅当前会话可访问</a:t>
            </a:r>
            <a:endParaRPr sz="1200" b="0">
              <a:solidFill>
                <a:srgbClr val="202124"/>
              </a:solidFill>
            </a:endParaRPr>
          </a:p>
          <a:p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适合临时材料与中间结果</a:t>
            </a:r>
            <a:endParaRPr sz="1200" b="0">
              <a:solidFill>
                <a:srgbClr val="202124"/>
              </a:solidFill>
            </a:endParaRPr>
          </a:p>
          <a:p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删除会话时同步删除</a:t>
            </a:r>
            <a:endParaRPr sz="1200" b="0">
              <a:solidFill>
                <a:srgbClr val="202124"/>
              </a:solidFill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7703820" y="2238375"/>
            <a:ext cx="2857500" cy="1428750"/>
          </a:xfrm>
          <a:prstGeom prst="roundRect">
            <a:avLst>
              <a:gd name="adj" fmla="val 8000"/>
            </a:avLst>
          </a:prstGeom>
          <a:solidFill>
            <a:srgbClr val="EAF9F7"/>
          </a:solidFill>
          <a:ln w="9525">
            <a:solidFill>
              <a:srgbClr val="30C0B4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932420" y="2447925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30C0B4"/>
                </a:solidFill>
              </a:defRPr>
            </a:pPr>
            <a:r>
              <a:rPr sz="1650" b="1">
                <a:solidFill>
                  <a:srgbClr val="30C0B4"/>
                </a:solidFill>
              </a:rPr>
              <a:t>项目文件</a:t>
            </a:r>
            <a:endParaRPr sz="1650" b="1">
              <a:solidFill>
                <a:srgbClr val="30C0B4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7932420" y="2867025"/>
            <a:ext cx="2286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工作区内跨会话共享</a:t>
            </a:r>
            <a:endParaRPr sz="1200" b="0">
              <a:solidFill>
                <a:srgbClr val="202124"/>
              </a:solidFill>
            </a:endParaRPr>
          </a:p>
          <a:p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适合模板、规范和长期资料</a:t>
            </a:r>
            <a:endParaRPr sz="1200" b="0">
              <a:solidFill>
                <a:srgbClr val="202124"/>
              </a:solidFill>
            </a:endParaRPr>
          </a:p>
          <a:p>
            <a:pPr algn="l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可被多个会话反复引用</a:t>
            </a:r>
            <a:endParaRPr sz="1200" b="0">
              <a:solidFill>
                <a:srgbClr val="202124"/>
              </a:solidFill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4655820" y="3933825"/>
            <a:ext cx="5905500" cy="781050"/>
          </a:xfrm>
          <a:prstGeom prst="roundRect">
            <a:avLst>
              <a:gd name="adj" fmla="val 14634"/>
            </a:avLst>
          </a:prstGeom>
          <a:noFill/>
          <a:ln w="9525">
            <a:solidFill>
              <a:srgbClr val="4874CB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4884420" y="4124325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4874CB"/>
                </a:solidFill>
              </a:defRPr>
            </a:pPr>
            <a:r>
              <a:rPr sz="1575" b="1">
                <a:solidFill>
                  <a:srgbClr val="4874CB"/>
                </a:solidFill>
              </a:rPr>
              <a:t>@ 引用文件或目录</a:t>
            </a:r>
            <a:endParaRPr sz="1575" b="1">
              <a:solidFill>
                <a:srgbClr val="4874CB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4884420" y="4448175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A7178"/>
                </a:solidFill>
              </a:defRPr>
            </a:pPr>
            <a:r>
              <a:rPr sz="1200" b="0">
                <a:solidFill>
                  <a:srgbClr val="6A7178"/>
                </a:solidFill>
              </a:rPr>
              <a:t>明确告诉 Agent 本次需要读取哪些资料</a:t>
            </a:r>
            <a:r>
              <a:rPr lang="zh-CN" sz="1200" b="0">
                <a:solidFill>
                  <a:srgbClr val="6A7178"/>
                </a:solidFill>
                <a:ea typeface="宋体" pitchFamily="2" charset="-122"/>
              </a:rPr>
              <a:t>，支持文件</a:t>
            </a:r>
            <a:r>
              <a:rPr lang="zh-CN" sz="1200" b="0">
                <a:solidFill>
                  <a:srgbClr val="6A7178"/>
                </a:solidFill>
                <a:ea typeface="宋体" pitchFamily="2" charset="-122"/>
              </a:rPr>
              <a:t>检索。</a:t>
            </a:r>
            <a:endParaRPr lang="zh-CN" sz="1200" b="0">
              <a:solidFill>
                <a:srgbClr val="6A7178"/>
              </a:solidFill>
              <a:ea typeface="宋体" pitchFamily="2" charset="-122"/>
            </a:endParaRP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4655820" y="4962525"/>
            <a:ext cx="5905500" cy="742950"/>
          </a:xfrm>
          <a:prstGeom prst="roundRect">
            <a:avLst>
              <a:gd name="adj" fmla="val 15385"/>
            </a:avLst>
          </a:prstGeom>
          <a:solidFill>
            <a:srgbClr val="FDEEF0"/>
          </a:solidFill>
          <a:ln w="9525">
            <a:solidFill>
              <a:srgbClr val="E54C5E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4884420" y="5153025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E54C5E"/>
                </a:solidFill>
              </a:defRPr>
            </a:pPr>
            <a:r>
              <a:rPr sz="1350" b="1">
                <a:solidFill>
                  <a:srgbClr val="E54C5E"/>
                </a:solidFill>
              </a:rPr>
              <a:t>删除前确认影响范围</a:t>
            </a:r>
            <a:endParaRPr sz="1350" b="1">
              <a:solidFill>
                <a:srgbClr val="E54C5E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4884420" y="5438775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02124"/>
                </a:solidFill>
              </a:defRPr>
            </a:pPr>
            <a:r>
              <a:rPr sz="1125" b="0">
                <a:solidFill>
                  <a:srgbClr val="202124"/>
                </a:solidFill>
              </a:rPr>
              <a:t>删除工作区会影响相关会话、自动任务、能力配置和项目文件。</a:t>
            </a:r>
            <a:endParaRPr sz="1125" b="0">
              <a:solidFill>
                <a:srgbClr val="202124"/>
              </a:solidFill>
            </a:endParaRP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3612515"/>
            <a:ext cx="2995295" cy="1540510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3">
            <a:lum contrast="-6000"/>
          </a:blip>
          <a:stretch>
            <a:fillRect/>
          </a:stretch>
        </p:blipFill>
        <p:spPr>
          <a:xfrm>
            <a:off x="623570" y="5242560"/>
            <a:ext cx="3004820" cy="1602740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760" y="1602740"/>
            <a:ext cx="1943100" cy="1943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10804"/>
            <a:ext cx="2857500" cy="311843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10820400" cy="19050"/>
          </a:xfrm>
          <a:prstGeom prst="rect">
            <a:avLst/>
          </a:prstGeom>
          <a:solidFill>
            <a:srgbClr val="D9411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762000" y="796290"/>
            <a:ext cx="10096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B1F"/>
                </a:solidFill>
              </a:defRPr>
            </a:pPr>
            <a:r>
              <a:rPr lang="zh-CN" sz="2850" b="1">
                <a:solidFill>
                  <a:srgbClr val="171B1F"/>
                </a:solidFill>
              </a:rPr>
              <a:t>经验复用：技能</a:t>
            </a:r>
            <a:r>
              <a:rPr lang="en-US" altLang="zh-CN" sz="2850" b="1">
                <a:solidFill>
                  <a:srgbClr val="171B1F"/>
                </a:solidFill>
              </a:rPr>
              <a:t>/</a:t>
            </a:r>
            <a:r>
              <a:rPr lang="zh-CN" sz="2850" b="1">
                <a:solidFill>
                  <a:srgbClr val="171B1F"/>
                </a:solidFill>
              </a:rPr>
              <a:t>专家</a:t>
            </a:r>
            <a:r>
              <a:rPr lang="en-US" altLang="zh-CN" sz="2850" b="1">
                <a:solidFill>
                  <a:srgbClr val="171B1F"/>
                </a:solidFill>
              </a:rPr>
              <a:t>/</a:t>
            </a:r>
            <a:r>
              <a:rPr lang="zh-CN" altLang="en-US" sz="2850" b="1">
                <a:solidFill>
                  <a:srgbClr val="171B1F"/>
                </a:solidFill>
              </a:rPr>
              <a:t>专家团</a:t>
            </a:r>
            <a:endParaRPr lang="zh-CN" altLang="en-US" sz="2850" b="1">
              <a:solidFill>
                <a:srgbClr val="171B1F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0858500" y="6896100"/>
            <a:ext cx="647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67078"/>
                </a:solidFill>
              </a:defRPr>
            </a:pPr>
            <a:r>
              <a:rPr sz="900" b="0">
                <a:solidFill>
                  <a:srgbClr val="667078"/>
                </a:solidFill>
              </a:rPr>
              <a:t>10</a:t>
            </a:r>
            <a:endParaRPr sz="900" b="0">
              <a:solidFill>
                <a:srgbClr val="667078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l="5420" r="5420"/>
          <a:stretch>
            <a:fillRect/>
          </a:stretch>
        </p:blipFill>
        <p:spPr>
          <a:xfrm>
            <a:off x="551180" y="3268980"/>
            <a:ext cx="7880985" cy="3399790"/>
          </a:xfrm>
          <a:prstGeom prst="roundRect">
            <a:avLst>
              <a:gd name="adj" fmla="val 5455"/>
            </a:avLst>
          </a:prstGeom>
        </p:spPr>
      </p:pic>
      <p:sp>
        <p:nvSpPr>
          <p:cNvPr id="19" name="矩形 18"/>
          <p:cNvSpPr>
            <a:spLocks noGrp="1"/>
          </p:cNvSpPr>
          <p:nvPr/>
        </p:nvSpPr>
        <p:spPr>
          <a:xfrm>
            <a:off x="8832215" y="4326890"/>
            <a:ext cx="2590800" cy="1511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4874CB"/>
                </a:solidFill>
              </a:defRPr>
            </a:pPr>
            <a:r>
              <a:rPr lang="zh-CN" altLang="en-US" sz="1275" b="1">
                <a:solidFill>
                  <a:srgbClr val="4874CB"/>
                </a:solidFill>
              </a:rPr>
              <a:t>使用建议：</a:t>
            </a:r>
            <a:r>
              <a:rPr lang="en-US" altLang="zh-CN" sz="1275" b="1">
                <a:solidFill>
                  <a:srgbClr val="4874CB"/>
                </a:solidFill>
              </a:rPr>
              <a:t> </a:t>
            </a:r>
            <a:endParaRPr lang="en-US" altLang="zh-CN" sz="1275" b="1">
              <a:solidFill>
                <a:srgbClr val="4874CB"/>
              </a:solidFill>
            </a:endParaRPr>
          </a:p>
          <a:p>
            <a:pPr algn="l">
              <a:defRPr sz="1275" b="1">
                <a:solidFill>
                  <a:srgbClr val="4874CB"/>
                </a:solidFill>
              </a:defRPr>
            </a:pPr>
            <a:endParaRPr lang="en-US" altLang="zh-CN" sz="1275" b="1">
              <a:solidFill>
                <a:srgbClr val="4874CB"/>
              </a:solidFill>
            </a:endParaRPr>
          </a:p>
          <a:p>
            <a:pPr algn="l">
              <a:defRPr sz="1275" b="1">
                <a:solidFill>
                  <a:srgbClr val="4874CB"/>
                </a:solidFill>
              </a:defRPr>
            </a:pPr>
            <a:r>
              <a:rPr lang="en-US" altLang="zh-CN" sz="1275" b="1">
                <a:solidFill>
                  <a:srgbClr val="4874CB"/>
                </a:solidFill>
              </a:rPr>
              <a:t>1. </a:t>
            </a:r>
            <a:r>
              <a:rPr lang="zh-CN" sz="1275" b="1">
                <a:solidFill>
                  <a:srgbClr val="4874CB"/>
                </a:solidFill>
              </a:rPr>
              <a:t>通过内置的</a:t>
            </a:r>
            <a:r>
              <a:rPr lang="en-US" altLang="zh-CN" sz="1275" b="1">
                <a:solidFill>
                  <a:srgbClr val="4874CB"/>
                </a:solidFill>
              </a:rPr>
              <a:t>expert-manager</a:t>
            </a:r>
            <a:r>
              <a:rPr lang="zh-CN" altLang="en-US" sz="1275" b="1">
                <a:solidFill>
                  <a:srgbClr val="4874CB"/>
                </a:solidFill>
              </a:rPr>
              <a:t>技能，你也可以创建自己的专家</a:t>
            </a:r>
            <a:r>
              <a:rPr lang="en-US" altLang="zh-CN" sz="1275" b="1">
                <a:solidFill>
                  <a:srgbClr val="4874CB"/>
                </a:solidFill>
              </a:rPr>
              <a:t>/</a:t>
            </a:r>
            <a:r>
              <a:rPr lang="zh-CN" altLang="en-US" sz="1275" b="1">
                <a:solidFill>
                  <a:srgbClr val="4874CB"/>
                </a:solidFill>
              </a:rPr>
              <a:t>专家团</a:t>
            </a:r>
            <a:r>
              <a:rPr lang="en-US" altLang="zh-CN" sz="1275" b="1">
                <a:solidFill>
                  <a:srgbClr val="4874CB"/>
                </a:solidFill>
              </a:rPr>
              <a:t>.</a:t>
            </a:r>
            <a:endParaRPr lang="en-US" altLang="zh-CN" sz="1275" b="1">
              <a:solidFill>
                <a:srgbClr val="4874CB"/>
              </a:solidFill>
            </a:endParaRPr>
          </a:p>
          <a:p>
            <a:pPr algn="l">
              <a:defRPr sz="1275" b="1">
                <a:solidFill>
                  <a:srgbClr val="4874CB"/>
                </a:solidFill>
              </a:defRPr>
            </a:pPr>
            <a:endParaRPr lang="en-US" altLang="zh-CN" sz="1275" b="1">
              <a:solidFill>
                <a:srgbClr val="4874CB"/>
              </a:solidFill>
            </a:endParaRPr>
          </a:p>
          <a:p>
            <a:pPr algn="l">
              <a:defRPr sz="1275" b="1">
                <a:solidFill>
                  <a:srgbClr val="4874CB"/>
                </a:solidFill>
              </a:defRPr>
            </a:pPr>
            <a:r>
              <a:rPr lang="en-US" altLang="zh-CN" sz="1275" b="1">
                <a:solidFill>
                  <a:srgbClr val="4874CB"/>
                </a:solidFill>
              </a:rPr>
              <a:t>2. </a:t>
            </a:r>
            <a:r>
              <a:rPr lang="zh-CN" altLang="en-US" sz="1275" b="1">
                <a:solidFill>
                  <a:srgbClr val="4874CB"/>
                </a:solidFill>
              </a:rPr>
              <a:t>召唤专家会新建会话，当前无法在已有的会话中直接召唤</a:t>
            </a:r>
            <a:r>
              <a:rPr lang="zh-CN" altLang="en-US" sz="1275" b="1">
                <a:solidFill>
                  <a:srgbClr val="4874CB"/>
                </a:solidFill>
              </a:rPr>
              <a:t>专家。</a:t>
            </a:r>
            <a:endParaRPr lang="en-US" altLang="zh-CN" sz="1275" b="1">
              <a:solidFill>
                <a:srgbClr val="4874CB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23570" y="1559560"/>
            <a:ext cx="3161030" cy="1663065"/>
          </a:xfrm>
          <a:prstGeom prst="roundRect">
            <a:avLst>
              <a:gd name="adj" fmla="val 3125"/>
            </a:avLst>
          </a:prstGeom>
          <a:solidFill>
            <a:srgbClr val="F4F6F7"/>
          </a:solidFill>
          <a:ln w="9525">
            <a:solidFill>
              <a:srgbClr val="D9DEE2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90270" y="1628775"/>
            <a:ext cx="229806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D9411E"/>
                </a:solidFill>
              </a:defRPr>
            </a:pPr>
            <a:r>
              <a:rPr sz="2100" b="1">
                <a:solidFill>
                  <a:srgbClr val="D9411E"/>
                </a:solidFill>
              </a:rPr>
              <a:t>Skill</a:t>
            </a:r>
            <a:endParaRPr sz="2100" b="1">
              <a:solidFill>
                <a:srgbClr val="D9411E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90270" y="2238375"/>
            <a:ext cx="2734945" cy="4756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B1F"/>
                </a:solidFill>
              </a:defRPr>
            </a:pPr>
            <a:r>
              <a:rPr sz="1350" b="1">
                <a:solidFill>
                  <a:srgbClr val="171B1F"/>
                </a:solidFill>
              </a:rPr>
              <a:t>任务说明 + 操作流程 + 检查规则</a:t>
            </a:r>
            <a:endParaRPr sz="1350" b="1">
              <a:solidFill>
                <a:srgbClr val="171B1F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923925" y="2618105"/>
            <a:ext cx="2557780" cy="86360"/>
          </a:xfrm>
          <a:prstGeom prst="rect">
            <a:avLst/>
          </a:prstGeom>
          <a:solidFill>
            <a:srgbClr val="D9DEE2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911225" y="2789555"/>
            <a:ext cx="2689860" cy="344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78"/>
                </a:solidFill>
              </a:defRPr>
            </a:pPr>
            <a:r>
              <a:rPr sz="1200" b="0">
                <a:solidFill>
                  <a:srgbClr val="667078"/>
                </a:solidFill>
              </a:rPr>
              <a:t>适合重复、规则清晰的流程</a:t>
            </a:r>
            <a:r>
              <a:rPr lang="zh-CN" sz="1200" b="0">
                <a:solidFill>
                  <a:srgbClr val="667078"/>
                </a:solidFill>
                <a:ea typeface="宋体" pitchFamily="2" charset="-122"/>
              </a:rPr>
              <a:t>，已经接入泰为</a:t>
            </a:r>
            <a:r>
              <a:rPr lang="en-US" altLang="zh-CN" sz="1200" b="0">
                <a:solidFill>
                  <a:srgbClr val="667078"/>
                </a:solidFill>
                <a:ea typeface="宋体" pitchFamily="2" charset="-122"/>
              </a:rPr>
              <a:t>Skill</a:t>
            </a:r>
            <a:r>
              <a:rPr lang="en-US" altLang="zh-CN" sz="1200" b="0">
                <a:solidFill>
                  <a:srgbClr val="667078"/>
                </a:solidFill>
                <a:ea typeface="宋体" pitchFamily="2" charset="-122"/>
              </a:rPr>
              <a:t>Hub.</a:t>
            </a:r>
            <a:endParaRPr lang="en-US" altLang="zh-CN" sz="1200" b="0">
              <a:solidFill>
                <a:srgbClr val="667078"/>
              </a:solidFill>
              <a:ea typeface="宋体" pitchFamily="2" charset="-122"/>
            </a:endParaRPr>
          </a:p>
        </p:txBody>
      </p:sp>
      <p:sp>
        <p:nvSpPr>
          <p:cNvPr id="36" name="圆角矩形 35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4338320" y="1559560"/>
            <a:ext cx="2735580" cy="1663065"/>
          </a:xfrm>
          <a:prstGeom prst="roundRect">
            <a:avLst>
              <a:gd name="adj" fmla="val 3125"/>
            </a:avLst>
          </a:prstGeom>
          <a:solidFill>
            <a:srgbClr val="F4F6F7"/>
          </a:solidFill>
          <a:ln w="9525">
            <a:solidFill>
              <a:srgbClr val="D9DEE2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605020" y="1628775"/>
            <a:ext cx="229806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D9411E"/>
                </a:solidFill>
              </a:defRPr>
            </a:pPr>
            <a:r>
              <a:rPr sz="2100" b="1">
                <a:solidFill>
                  <a:srgbClr val="D9411E"/>
                </a:solidFill>
              </a:rPr>
              <a:t>专家</a:t>
            </a:r>
            <a:endParaRPr sz="2100" b="1">
              <a:solidFill>
                <a:srgbClr val="D9411E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4605020" y="2238375"/>
            <a:ext cx="2298065" cy="4756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B1F"/>
                </a:solidFill>
              </a:defRPr>
            </a:pPr>
            <a:r>
              <a:rPr sz="1350" b="1">
                <a:solidFill>
                  <a:srgbClr val="171B1F"/>
                </a:solidFill>
              </a:rPr>
              <a:t>角色提示词 + 特定 Skills + 连接器</a:t>
            </a:r>
            <a:endParaRPr sz="1350" b="1">
              <a:solidFill>
                <a:srgbClr val="171B1F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4638675" y="2762885"/>
            <a:ext cx="2298065" cy="76200"/>
          </a:xfrm>
          <a:prstGeom prst="rect">
            <a:avLst/>
          </a:prstGeom>
          <a:solidFill>
            <a:srgbClr val="D9DEE2"/>
          </a:solidFill>
          <a:ln w="0">
            <a:noFill/>
            <a:prstDash val="solid"/>
          </a:ln>
        </p:spPr>
      </p:sp>
      <p:sp>
        <p:nvSpPr>
          <p:cNvPr id="42" name="矩形 41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4612005" y="2924810"/>
            <a:ext cx="2298065" cy="344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78"/>
                </a:solidFill>
              </a:defRPr>
            </a:pPr>
            <a:r>
              <a:rPr sz="1200" b="0">
                <a:solidFill>
                  <a:srgbClr val="667078"/>
                </a:solidFill>
              </a:rPr>
              <a:t>适合边界清晰的专业任务</a:t>
            </a:r>
            <a:endParaRPr sz="1200" b="0">
              <a:solidFill>
                <a:srgbClr val="667078"/>
              </a:solidFill>
            </a:endParaRPr>
          </a:p>
        </p:txBody>
      </p:sp>
      <p:sp>
        <p:nvSpPr>
          <p:cNvPr id="43" name="圆角矩形 42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8053070" y="1559560"/>
            <a:ext cx="2735580" cy="1657350"/>
          </a:xfrm>
          <a:prstGeom prst="roundRect">
            <a:avLst>
              <a:gd name="adj" fmla="val 3125"/>
            </a:avLst>
          </a:prstGeom>
          <a:solidFill>
            <a:srgbClr val="EAF7F4"/>
          </a:solidFill>
          <a:ln w="9525">
            <a:solidFill>
              <a:srgbClr val="188F82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8319770" y="1628775"/>
            <a:ext cx="229806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88F82"/>
                </a:solidFill>
              </a:defRPr>
            </a:pPr>
            <a:r>
              <a:rPr sz="2100" b="1">
                <a:solidFill>
                  <a:srgbClr val="188F82"/>
                </a:solidFill>
              </a:rPr>
              <a:t>专家团</a:t>
            </a:r>
            <a:endParaRPr sz="2100" b="1">
              <a:solidFill>
                <a:srgbClr val="188F82"/>
              </a:solidFill>
            </a:endParaRPr>
          </a:p>
        </p:txBody>
      </p:sp>
      <p:sp>
        <p:nvSpPr>
          <p:cNvPr id="45" name="矩形 44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8319770" y="2238375"/>
            <a:ext cx="2298065" cy="4756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B1F"/>
                </a:solidFill>
              </a:defRPr>
            </a:pPr>
            <a:r>
              <a:rPr sz="1350" b="1">
                <a:solidFill>
                  <a:srgbClr val="171B1F"/>
                </a:solidFill>
              </a:rPr>
              <a:t>主专家 + 分工专家 + 协作机制</a:t>
            </a:r>
            <a:endParaRPr sz="1350" b="1">
              <a:solidFill>
                <a:srgbClr val="171B1F"/>
              </a:solidFill>
            </a:endParaRPr>
          </a:p>
        </p:txBody>
      </p:sp>
      <p:sp>
        <p:nvSpPr>
          <p:cNvPr id="46" name="矩形 45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8353425" y="2762885"/>
            <a:ext cx="2298065" cy="76200"/>
          </a:xfrm>
          <a:prstGeom prst="rect">
            <a:avLst/>
          </a:prstGeom>
          <a:solidFill>
            <a:srgbClr val="D9DEE2"/>
          </a:solidFill>
          <a:ln w="0">
            <a:noFill/>
            <a:prstDash val="solid"/>
          </a:ln>
        </p:spPr>
      </p:sp>
      <p:sp>
        <p:nvSpPr>
          <p:cNvPr id="47" name="矩形 46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8326755" y="2924810"/>
            <a:ext cx="2298065" cy="344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78"/>
                </a:solidFill>
              </a:defRPr>
            </a:pPr>
            <a:r>
              <a:rPr sz="1200" b="0">
                <a:solidFill>
                  <a:srgbClr val="667078"/>
                </a:solidFill>
              </a:rPr>
              <a:t>适合调研、分析、执行与复核</a:t>
            </a:r>
            <a:endParaRPr sz="1200" b="0">
              <a:solidFill>
                <a:srgbClr val="667078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10804"/>
            <a:ext cx="2857500" cy="311843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10820400" cy="19050"/>
          </a:xfrm>
          <a:prstGeom prst="rect">
            <a:avLst/>
          </a:prstGeom>
          <a:solidFill>
            <a:srgbClr val="D9411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028700"/>
            <a:ext cx="10096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B1F"/>
                </a:solidFill>
              </a:defRPr>
            </a:pPr>
            <a:r>
              <a:rPr lang="zh-CN" altLang="en-US" sz="2850" b="1">
                <a:solidFill>
                  <a:srgbClr val="171B1F"/>
                </a:solidFill>
              </a:rPr>
              <a:t>上下文</a:t>
            </a:r>
            <a:r>
              <a:rPr lang="zh-CN" altLang="en-US" sz="2850" b="1">
                <a:solidFill>
                  <a:srgbClr val="171B1F"/>
                </a:solidFill>
              </a:rPr>
              <a:t>管理：文件预览</a:t>
            </a:r>
            <a:r>
              <a:rPr lang="zh-CN" altLang="en-US" sz="2850" b="1">
                <a:solidFill>
                  <a:srgbClr val="171B1F"/>
                </a:solidFill>
              </a:rPr>
              <a:t>和编辑</a:t>
            </a:r>
            <a:endParaRPr lang="zh-CN" altLang="en-US" sz="2850" b="1">
              <a:solidFill>
                <a:srgbClr val="171B1F"/>
              </a:solidFill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862965" y="1701165"/>
            <a:ext cx="107289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WorkMate</a:t>
            </a:r>
            <a:r>
              <a:rPr lang="zh-CN" altLang="en-US"/>
              <a:t>支持预览文件，包括</a:t>
            </a:r>
            <a:r>
              <a:rPr lang="en-US" altLang="zh-CN"/>
              <a:t>md</a:t>
            </a:r>
            <a:r>
              <a:rPr lang="zh-CN" altLang="en-US"/>
              <a:t>格式、</a:t>
            </a:r>
            <a:r>
              <a:rPr lang="en-US" altLang="zh-CN"/>
              <a:t>docx</a:t>
            </a:r>
            <a:r>
              <a:rPr lang="zh-CN" altLang="en-US"/>
              <a:t>格式、</a:t>
            </a:r>
            <a:r>
              <a:rPr lang="en-US" altLang="zh-CN"/>
              <a:t>pptx</a:t>
            </a:r>
            <a:r>
              <a:rPr lang="zh-CN" altLang="en-US"/>
              <a:t>格式、</a:t>
            </a:r>
            <a:r>
              <a:rPr lang="en-US" altLang="zh-CN"/>
              <a:t>pdf</a:t>
            </a:r>
            <a:r>
              <a:rPr lang="zh-CN" altLang="en-US"/>
              <a:t>格式、</a:t>
            </a:r>
            <a:r>
              <a:rPr lang="en-US" altLang="zh-CN"/>
              <a:t>html</a:t>
            </a:r>
            <a:r>
              <a:rPr lang="zh-CN" altLang="en-US"/>
              <a:t>格式等等，并支持</a:t>
            </a:r>
            <a:r>
              <a:rPr lang="en-US" altLang="zh-CN"/>
              <a:t>md</a:t>
            </a:r>
            <a:r>
              <a:rPr lang="zh-CN" altLang="en-US"/>
              <a:t>格式、</a:t>
            </a:r>
            <a:r>
              <a:rPr lang="en-US" altLang="zh-CN"/>
              <a:t>html</a:t>
            </a:r>
            <a:r>
              <a:rPr lang="zh-CN" altLang="en-US"/>
              <a:t>格式的</a:t>
            </a:r>
            <a:r>
              <a:rPr lang="zh-CN" altLang="en-US"/>
              <a:t>编辑。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715" y="2781300"/>
            <a:ext cx="5166360" cy="35267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760220" y="6400165"/>
            <a:ext cx="2031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MD</a:t>
            </a:r>
            <a:r>
              <a:rPr lang="zh-CN" altLang="en-US"/>
              <a:t>的预览和</a:t>
            </a:r>
            <a:r>
              <a:rPr lang="zh-CN" altLang="en-US"/>
              <a:t>编辑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145" y="3141345"/>
            <a:ext cx="5455285" cy="256984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824470" y="5877560"/>
            <a:ext cx="2453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PPT</a:t>
            </a:r>
            <a:r>
              <a:rPr lang="zh-CN" altLang="en-US"/>
              <a:t>的</a:t>
            </a:r>
            <a:r>
              <a:rPr lang="zh-CN" altLang="en-US"/>
              <a:t>预览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10804"/>
            <a:ext cx="2857500" cy="311843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10820400" cy="19050"/>
          </a:xfrm>
          <a:prstGeom prst="rect">
            <a:avLst/>
          </a:prstGeom>
          <a:solidFill>
            <a:srgbClr val="D9411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028700"/>
            <a:ext cx="10096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B1F"/>
                </a:solidFill>
              </a:defRPr>
            </a:pPr>
            <a:r>
              <a:rPr lang="zh-CN" altLang="en-US" sz="2850" b="1">
                <a:solidFill>
                  <a:srgbClr val="171B1F"/>
                </a:solidFill>
              </a:rPr>
              <a:t>连接外部信息与业务系统：</a:t>
            </a:r>
            <a:r>
              <a:rPr lang="en-US" altLang="zh-CN" sz="2850" b="1">
                <a:solidFill>
                  <a:srgbClr val="171B1F"/>
                </a:solidFill>
              </a:rPr>
              <a:t> </a:t>
            </a:r>
            <a:r>
              <a:rPr sz="2850" b="1">
                <a:solidFill>
                  <a:srgbClr val="171B1F"/>
                </a:solidFill>
              </a:rPr>
              <a:t>连接器</a:t>
            </a:r>
            <a:endParaRPr sz="2850" b="1">
              <a:solidFill>
                <a:srgbClr val="171B1F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638300"/>
            <a:ext cx="10096500" cy="5543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67078"/>
                </a:solidFill>
              </a:defRPr>
            </a:pPr>
            <a:r>
              <a:rPr b="1">
                <a:solidFill>
                  <a:srgbClr val="171B1F"/>
                </a:solidFill>
                <a:sym typeface="+mn-ea"/>
              </a:rPr>
              <a:t>连接器让 Agent 在授权范围内使用业务系统</a:t>
            </a:r>
            <a:r>
              <a:rPr lang="zh-CN" b="1">
                <a:solidFill>
                  <a:srgbClr val="171B1F"/>
                </a:solidFill>
                <a:ea typeface="宋体" pitchFamily="2" charset="-122"/>
                <a:sym typeface="+mn-ea"/>
              </a:rPr>
              <a:t>，当前</a:t>
            </a:r>
            <a:r>
              <a:rPr lang="en-US" altLang="zh-CN" b="1">
                <a:solidFill>
                  <a:srgbClr val="171B1F"/>
                </a:solidFill>
                <a:ea typeface="宋体" pitchFamily="2" charset="-122"/>
                <a:sym typeface="+mn-ea"/>
              </a:rPr>
              <a:t>WorkMate</a:t>
            </a:r>
            <a:r>
              <a:rPr lang="zh-CN" b="1">
                <a:solidFill>
                  <a:srgbClr val="171B1F"/>
                </a:solidFill>
                <a:ea typeface="宋体" pitchFamily="2" charset="-122"/>
                <a:sym typeface="+mn-ea"/>
              </a:rPr>
              <a:t>已经支持</a:t>
            </a:r>
            <a:r>
              <a:rPr lang="en-US" altLang="zh-CN" b="1">
                <a:solidFill>
                  <a:srgbClr val="171B1F"/>
                </a:solidFill>
                <a:ea typeface="宋体" pitchFamily="2" charset="-122"/>
                <a:sym typeface="+mn-ea"/>
              </a:rPr>
              <a:t>27</a:t>
            </a:r>
            <a:r>
              <a:rPr lang="zh-CN" altLang="en-US" b="1">
                <a:solidFill>
                  <a:srgbClr val="171B1F"/>
                </a:solidFill>
                <a:ea typeface="宋体" pitchFamily="2" charset="-122"/>
                <a:sym typeface="+mn-ea"/>
              </a:rPr>
              <a:t>个连接器，并已经接入泰为平台和金融中台的</a:t>
            </a:r>
            <a:r>
              <a:rPr lang="en-US" altLang="zh-CN" b="1">
                <a:solidFill>
                  <a:srgbClr val="171B1F"/>
                </a:solidFill>
                <a:ea typeface="宋体" pitchFamily="2" charset="-122"/>
                <a:sym typeface="+mn-ea"/>
              </a:rPr>
              <a:t>MCP</a:t>
            </a:r>
            <a:r>
              <a:rPr lang="zh-CN" altLang="en-US" b="1">
                <a:solidFill>
                  <a:srgbClr val="171B1F"/>
                </a:solidFill>
                <a:ea typeface="宋体" pitchFamily="2" charset="-122"/>
                <a:sym typeface="+mn-ea"/>
              </a:rPr>
              <a:t>市场。</a:t>
            </a:r>
            <a:endParaRPr lang="zh-CN" altLang="en-US" b="1">
              <a:solidFill>
                <a:srgbClr val="171B1F"/>
              </a:solidFill>
              <a:ea typeface="宋体" pitchFamily="2" charset="-122"/>
              <a:sym typeface="+mn-ea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10" y="2277110"/>
            <a:ext cx="6990080" cy="4300220"/>
          </a:xfrm>
          <a:prstGeom prst="rect">
            <a:avLst/>
          </a:prstGeo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7680325" y="2366645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4D78D8"/>
                </a:solidFill>
              </a:defRPr>
            </a:pPr>
            <a:r>
              <a:rPr sz="1575" b="1">
                <a:solidFill>
                  <a:srgbClr val="4D78D8"/>
                </a:solidFill>
              </a:rPr>
              <a:t>研发与数据</a:t>
            </a:r>
            <a:endParaRPr sz="1575" b="1">
              <a:solidFill>
                <a:srgbClr val="4D78D8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680325" y="2709545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78"/>
                </a:solidFill>
              </a:defRPr>
            </a:pPr>
            <a:r>
              <a:rPr sz="1200" b="0">
                <a:solidFill>
                  <a:srgbClr val="667078"/>
                </a:solidFill>
              </a:rPr>
              <a:t>DPMP · 华泰 GitLab · MySQL</a:t>
            </a:r>
            <a:r>
              <a:rPr lang="en-US" sz="1200" b="0">
                <a:solidFill>
                  <a:srgbClr val="667078"/>
                </a:solidFill>
              </a:rPr>
              <a:t>· </a:t>
            </a:r>
            <a:r>
              <a:rPr>
                <a:sym typeface="+mn-ea"/>
              </a:rPr>
              <a:t>HT Wiki</a:t>
            </a:r>
            <a:endParaRPr lang="en-US" sz="1200" b="0">
              <a:solidFill>
                <a:srgbClr val="667078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680325" y="3071495"/>
            <a:ext cx="3143250" cy="9525"/>
          </a:xfrm>
          <a:prstGeom prst="rect">
            <a:avLst/>
          </a:prstGeom>
          <a:solidFill>
            <a:srgbClr val="D9DEE2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680325" y="3204845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88F82"/>
                </a:solidFill>
              </a:defRPr>
            </a:pPr>
            <a:r>
              <a:rPr sz="1575" b="1">
                <a:solidFill>
                  <a:srgbClr val="188F82"/>
                </a:solidFill>
              </a:rPr>
              <a:t>办公协同</a:t>
            </a:r>
            <a:endParaRPr sz="1575" b="1">
              <a:solidFill>
                <a:srgbClr val="188F82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680325" y="3547745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78"/>
                </a:solidFill>
              </a:defRPr>
            </a:pPr>
            <a:r>
              <a:rPr sz="1200" b="0">
                <a:solidFill>
                  <a:srgbClr val="667078"/>
                </a:solidFill>
              </a:rPr>
              <a:t>华泰邮箱 · 飞书</a:t>
            </a:r>
            <a:r>
              <a:rPr lang="en-US" sz="1200" b="0">
                <a:solidFill>
                  <a:srgbClr val="667078"/>
                </a:solidFill>
              </a:rPr>
              <a:t>· </a:t>
            </a:r>
            <a:r>
              <a:rPr>
                <a:sym typeface="+mn-ea"/>
              </a:rPr>
              <a:t>华泰云文档</a:t>
            </a:r>
            <a:r>
              <a:rPr>
                <a:sym typeface="+mn-ea"/>
              </a:rPr>
              <a:t>· </a:t>
            </a:r>
            <a:r>
              <a:rPr lang="zh-CN">
                <a:sym typeface="+mn-ea"/>
              </a:rPr>
              <a:t>多维表格</a:t>
            </a:r>
            <a:endParaRPr lang="zh-CN" sz="1200" b="0">
              <a:solidFill>
                <a:srgbClr val="667078"/>
              </a:solidFill>
              <a:ea typeface="宋体" pitchFamily="2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680325" y="3909695"/>
            <a:ext cx="3143250" cy="9525"/>
          </a:xfrm>
          <a:prstGeom prst="rect">
            <a:avLst/>
          </a:prstGeom>
          <a:solidFill>
            <a:srgbClr val="D9DEE2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680325" y="4043045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69B83F"/>
                </a:solidFill>
              </a:defRPr>
            </a:pPr>
            <a:r>
              <a:rPr lang="zh-CN" sz="1575" b="1">
                <a:solidFill>
                  <a:srgbClr val="69B83F"/>
                </a:solidFill>
              </a:rPr>
              <a:t>业务</a:t>
            </a:r>
            <a:r>
              <a:rPr lang="zh-CN" sz="1575" b="1">
                <a:solidFill>
                  <a:srgbClr val="69B83F"/>
                </a:solidFill>
              </a:rPr>
              <a:t>场景</a:t>
            </a:r>
            <a:endParaRPr lang="zh-CN" sz="1575" b="1">
              <a:solidFill>
                <a:srgbClr val="69B83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680325" y="4385945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78"/>
                </a:solidFill>
              </a:defRPr>
            </a:pPr>
            <a:r>
              <a:rPr sz="1200" b="0">
                <a:solidFill>
                  <a:srgbClr val="667078"/>
                </a:solidFill>
              </a:rPr>
              <a:t>泰为 HiAgent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万得</a:t>
            </a:r>
            <a:r>
              <a:rPr lang="en-US" altLang="zh-CN">
                <a:sym typeface="+mn-ea"/>
              </a:rPr>
              <a:t> </a:t>
            </a:r>
            <a:r>
              <a:rPr>
                <a:sym typeface="+mn-ea"/>
              </a:rPr>
              <a:t>· </a:t>
            </a:r>
            <a:r>
              <a:rPr lang="zh-CN">
                <a:sym typeface="+mn-ea"/>
              </a:rPr>
              <a:t>企查查</a:t>
            </a:r>
            <a:r>
              <a:rPr lang="en-US" altLang="zh-CN">
                <a:sym typeface="+mn-ea"/>
              </a:rPr>
              <a:t>· A</a:t>
            </a:r>
            <a:r>
              <a:rPr lang="zh-CN" altLang="en-US">
                <a:sym typeface="+mn-ea"/>
              </a:rPr>
              <a:t>股市场等</a:t>
            </a:r>
            <a:r>
              <a:rPr lang="en-US" altLang="zh-CN">
                <a:sym typeface="+mn-ea"/>
              </a:rPr>
              <a:t> </a:t>
            </a:r>
            <a:endParaRPr lang="zh-CN" b="0">
              <a:solidFill>
                <a:srgbClr val="667078"/>
              </a:solidFill>
              <a:ea typeface="宋体" pitchFamily="2" charset="-122"/>
            </a:endParaRPr>
          </a:p>
          <a:p>
            <a:pPr algn="l">
              <a:defRPr sz="1200" b="0">
                <a:solidFill>
                  <a:srgbClr val="667078"/>
                </a:solidFill>
              </a:defRPr>
            </a:pPr>
            <a:endParaRPr lang="zh-CN" b="0">
              <a:solidFill>
                <a:srgbClr val="667078"/>
              </a:solidFill>
              <a:ea typeface="宋体" pitchFamily="2" charset="-122"/>
            </a:endParaRPr>
          </a:p>
          <a:p>
            <a:pPr algn="l">
              <a:defRPr sz="1200" b="0">
                <a:solidFill>
                  <a:srgbClr val="667078"/>
                </a:solidFill>
              </a:defRPr>
            </a:pPr>
            <a:endParaRPr lang="zh-CN" b="0">
              <a:solidFill>
                <a:srgbClr val="667078"/>
              </a:solidFill>
              <a:ea typeface="宋体" pitchFamily="2" charset="-122"/>
            </a:endParaRPr>
          </a:p>
          <a:p>
            <a:pPr algn="l">
              <a:defRPr sz="1200" b="0">
                <a:solidFill>
                  <a:srgbClr val="667078"/>
                </a:solidFill>
              </a:defRPr>
            </a:pPr>
            <a:endParaRPr sz="1200" b="0">
              <a:solidFill>
                <a:srgbClr val="667078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680325" y="4747895"/>
            <a:ext cx="3143250" cy="9525"/>
          </a:xfrm>
          <a:prstGeom prst="rect">
            <a:avLst/>
          </a:prstGeom>
          <a:solidFill>
            <a:srgbClr val="D9DEE2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285990" y="5013325"/>
            <a:ext cx="4707890" cy="1717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02124"/>
                </a:solidFill>
              </a:defRPr>
            </a:pPr>
            <a:r>
              <a:rPr lang="en-US" altLang="zh-CN" sz="1000" b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使用建议：</a:t>
            </a:r>
            <a:endParaRPr lang="en-US" altLang="zh-CN" sz="1000" b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  <a:p>
            <a:pPr>
              <a:buAutoNum type="arabicPeriod"/>
            </a:pPr>
            <a:r>
              <a:rPr lang="zh-CN" altLang="en-US" sz="1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连接器按需开启，尤其是</a:t>
            </a:r>
            <a:r>
              <a:rPr lang="en-US" altLang="zh-CN" sz="1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MCP</a:t>
            </a:r>
            <a:r>
              <a:rPr lang="zh-CN" altLang="en-US" sz="1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类型的连接器，会持续的占用</a:t>
            </a:r>
            <a:r>
              <a:rPr lang="zh-CN" altLang="en-US" sz="1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上下文。</a:t>
            </a:r>
            <a:endParaRPr lang="zh-CN" altLang="en-US" sz="10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sym typeface="+mn-ea"/>
            </a:endParaRPr>
          </a:p>
          <a:p>
            <a:pPr>
              <a:buAutoNum type="arabicPeriod"/>
            </a:pPr>
            <a:endParaRPr lang="zh-CN" altLang="en-US" sz="10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sym typeface="+mn-ea"/>
            </a:endParaRPr>
          </a:p>
          <a:p>
            <a:pPr>
              <a:buAutoNum type="arabicPeriod"/>
            </a:pPr>
            <a:r>
              <a:rPr lang="en-US" altLang="zh-CN" sz="1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 </a:t>
            </a:r>
            <a:r>
              <a:rPr lang="zh-CN" altLang="en-US" sz="1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可以在对话框中</a:t>
            </a:r>
            <a:r>
              <a:rPr lang="en-US" altLang="zh-CN" sz="1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 </a:t>
            </a:r>
            <a:r>
              <a:rPr lang="zh-CN" altLang="en-US" sz="1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通过</a:t>
            </a:r>
            <a:r>
              <a:rPr lang="en-US" altLang="zh-CN" sz="1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# </a:t>
            </a:r>
            <a:r>
              <a:rPr lang="zh-CN" altLang="en-US" sz="1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来指定连接器，确保</a:t>
            </a:r>
            <a:r>
              <a:rPr lang="en-US" altLang="zh-CN" sz="1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Agent</a:t>
            </a:r>
            <a:r>
              <a:rPr lang="zh-CN" altLang="en-US" sz="1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使用的</a:t>
            </a:r>
            <a:r>
              <a:rPr lang="zh-CN" altLang="en-US" sz="1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准确性。</a:t>
            </a:r>
            <a:endParaRPr lang="zh-CN" altLang="en-US" sz="10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sym typeface="+mn-ea"/>
            </a:endParaRPr>
          </a:p>
          <a:p>
            <a:pPr>
              <a:buAutoNum type="arabicPeriod"/>
            </a:pPr>
            <a:endParaRPr lang="zh-CN" altLang="en-US" sz="10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sym typeface="+mn-ea"/>
            </a:endParaRPr>
          </a:p>
          <a:p>
            <a:pPr>
              <a:buAutoNum type="arabicPeriod"/>
            </a:pPr>
            <a:r>
              <a:rPr lang="zh-CN" altLang="en-US" sz="1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如果常用内部系统当前还没有连接器，有几种方案：</a:t>
            </a:r>
            <a:r>
              <a:rPr lang="en-US" altLang="zh-CN" sz="1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 </a:t>
            </a:r>
            <a:endParaRPr lang="en-US" altLang="zh-CN" sz="10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sym typeface="+mn-ea"/>
            </a:endParaRPr>
          </a:p>
          <a:p>
            <a:pPr lvl="1" indent="0">
              <a:buNone/>
            </a:pPr>
            <a:r>
              <a:rPr lang="en-US" altLang="zh-CN" sz="1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a  </a:t>
            </a:r>
            <a:r>
              <a:rPr lang="zh-CN" altLang="en-US" sz="1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由业务系统自建系统</a:t>
            </a:r>
            <a:r>
              <a:rPr lang="en-US" altLang="zh-CN" sz="1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CLI</a:t>
            </a:r>
            <a:r>
              <a:rPr lang="zh-CN" altLang="en-US" sz="1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ea typeface="宋体" pitchFamily="2" charset="-122"/>
                <a:sym typeface="+mn-ea"/>
              </a:rPr>
              <a:t>，我们提供</a:t>
            </a:r>
            <a:r>
              <a:rPr lang="en-US" altLang="zh-CN" sz="1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ea typeface="宋体" pitchFamily="2" charset="-122"/>
                <a:sym typeface="+mn-ea"/>
              </a:rPr>
              <a:t>CLI</a:t>
            </a:r>
            <a:r>
              <a:rPr lang="zh-CN" altLang="en-US" sz="1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ea typeface="宋体" pitchFamily="2" charset="-122"/>
                <a:sym typeface="+mn-ea"/>
              </a:rPr>
              <a:t>建设的支撑；</a:t>
            </a:r>
            <a:endParaRPr lang="zh-CN" altLang="en-US" sz="10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ea typeface="宋体" pitchFamily="2" charset="-122"/>
              <a:sym typeface="+mn-ea"/>
            </a:endParaRPr>
          </a:p>
          <a:p>
            <a:pPr lvl="1" indent="0">
              <a:buNone/>
            </a:pPr>
            <a:r>
              <a:rPr lang="en-US" altLang="zh-CN" sz="1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ea typeface="宋体" pitchFamily="2" charset="-122"/>
                <a:sym typeface="+mn-ea"/>
              </a:rPr>
              <a:t>b  </a:t>
            </a:r>
            <a:r>
              <a:rPr lang="zh-CN" altLang="en-US" sz="1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ea typeface="宋体" pitchFamily="2" charset="-122"/>
                <a:sym typeface="+mn-ea"/>
              </a:rPr>
              <a:t>把业务系统已有的</a:t>
            </a:r>
            <a:r>
              <a:rPr lang="en-US" altLang="zh-CN" sz="1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ea typeface="宋体" pitchFamily="2" charset="-122"/>
                <a:sym typeface="+mn-ea"/>
              </a:rPr>
              <a:t>MCP</a:t>
            </a:r>
            <a:r>
              <a:rPr lang="zh-CN" altLang="en-US" sz="1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ea typeface="宋体" pitchFamily="2" charset="-122"/>
                <a:sym typeface="+mn-ea"/>
              </a:rPr>
              <a:t>挂载到泰为的</a:t>
            </a:r>
            <a:r>
              <a:rPr lang="en-US" altLang="zh-CN" sz="1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ea typeface="宋体" pitchFamily="2" charset="-122"/>
                <a:sym typeface="+mn-ea"/>
              </a:rPr>
              <a:t>MCP</a:t>
            </a:r>
            <a:r>
              <a:rPr lang="zh-CN" altLang="en-US" sz="1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ea typeface="宋体" pitchFamily="2" charset="-122"/>
                <a:sym typeface="+mn-ea"/>
              </a:rPr>
              <a:t>市场或者金融中台的</a:t>
            </a:r>
            <a:r>
              <a:rPr lang="en-US" altLang="zh-CN" sz="1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ea typeface="宋体" pitchFamily="2" charset="-122"/>
                <a:sym typeface="+mn-ea"/>
              </a:rPr>
              <a:t>MCP</a:t>
            </a:r>
            <a:r>
              <a:rPr lang="zh-CN" altLang="en-US" sz="1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ea typeface="宋体" pitchFamily="2" charset="-122"/>
                <a:sym typeface="+mn-ea"/>
              </a:rPr>
              <a:t>市场，</a:t>
            </a:r>
            <a:r>
              <a:rPr lang="en-US" altLang="zh-CN" sz="1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ea typeface="宋体" pitchFamily="2" charset="-122"/>
                <a:sym typeface="+mn-ea"/>
              </a:rPr>
              <a:t>WorkMate</a:t>
            </a:r>
            <a:r>
              <a:rPr lang="zh-CN" altLang="en-US" sz="1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ea typeface="宋体" pitchFamily="2" charset="-122"/>
                <a:sym typeface="+mn-ea"/>
              </a:rPr>
              <a:t>自动的对接着两个</a:t>
            </a:r>
            <a:r>
              <a:rPr lang="zh-CN" altLang="en-US" sz="1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ea typeface="宋体" pitchFamily="2" charset="-122"/>
                <a:sym typeface="+mn-ea"/>
              </a:rPr>
              <a:t>市场。</a:t>
            </a:r>
            <a:endParaRPr lang="zh-CN" altLang="en-US" sz="10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ea typeface="宋体" pitchFamily="2" charset="-122"/>
              <a:sym typeface="+mn-ea"/>
            </a:endParaRPr>
          </a:p>
          <a:p>
            <a:pPr>
              <a:buAutoNum type="arabicPeriod"/>
            </a:pPr>
            <a:endParaRPr lang="zh-CN" altLang="en-US" sz="10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ea typeface="宋体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10804"/>
            <a:ext cx="2857500" cy="311843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10820400" cy="19050"/>
          </a:xfrm>
          <a:prstGeom prst="rect">
            <a:avLst/>
          </a:prstGeom>
          <a:solidFill>
            <a:srgbClr val="D9411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762000" y="796290"/>
            <a:ext cx="10096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B1F"/>
                </a:solidFill>
              </a:defRPr>
            </a:pPr>
            <a:r>
              <a:rPr lang="zh-CN" altLang="en-US" sz="2850" b="1">
                <a:solidFill>
                  <a:srgbClr val="171B1F"/>
                </a:solidFill>
              </a:rPr>
              <a:t>连接外部信息与业务系统：</a:t>
            </a:r>
            <a:r>
              <a:rPr lang="en-US" altLang="zh-CN" sz="2850" b="1">
                <a:solidFill>
                  <a:srgbClr val="171B1F"/>
                </a:solidFill>
              </a:rPr>
              <a:t> </a:t>
            </a:r>
            <a:r>
              <a:rPr lang="zh-CN" sz="2850" b="1">
                <a:solidFill>
                  <a:srgbClr val="171B1F"/>
                </a:solidFill>
              </a:rPr>
              <a:t>浏览器</a:t>
            </a:r>
            <a:r>
              <a:rPr lang="zh-CN" sz="2850" b="1">
                <a:solidFill>
                  <a:srgbClr val="171B1F"/>
                </a:solidFill>
              </a:rPr>
              <a:t>自动化</a:t>
            </a:r>
            <a:endParaRPr lang="zh-CN" sz="2850" b="1">
              <a:solidFill>
                <a:srgbClr val="171B1F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0858500" y="6896100"/>
            <a:ext cx="647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67078"/>
                </a:solidFill>
              </a:defRPr>
            </a:pPr>
            <a:r>
              <a:rPr sz="900" b="0">
                <a:solidFill>
                  <a:srgbClr val="667078"/>
                </a:solidFill>
              </a:rPr>
              <a:t>10</a:t>
            </a:r>
            <a:endParaRPr sz="900" b="0">
              <a:solidFill>
                <a:srgbClr val="667078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315" y="2249170"/>
            <a:ext cx="8511540" cy="418338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13155" y="1495425"/>
            <a:ext cx="91592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WorkMate</a:t>
            </a:r>
            <a:r>
              <a:rPr lang="zh-CN" altLang="en-US"/>
              <a:t>有内置的浏览器，</a:t>
            </a:r>
            <a:r>
              <a:rPr lang="zh-CN" altLang="en-US"/>
              <a:t>你可以直接要求</a:t>
            </a:r>
            <a:r>
              <a:rPr lang="en-US" altLang="zh-CN"/>
              <a:t>WorkMate</a:t>
            </a:r>
            <a:r>
              <a:rPr lang="zh-CN" altLang="en-US"/>
              <a:t>打开</a:t>
            </a:r>
            <a:r>
              <a:rPr lang="en-US" altLang="zh-CN"/>
              <a:t>Web</a:t>
            </a:r>
            <a:r>
              <a:rPr lang="zh-CN" altLang="en-US"/>
              <a:t>页面，并进行一些自动化的操作，比如读取内容，自动化表单操作</a:t>
            </a:r>
            <a:r>
              <a:rPr lang="zh-CN" altLang="en-US"/>
              <a:t>等。</a:t>
            </a:r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10804"/>
            <a:ext cx="2857500" cy="311843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10820400" cy="19050"/>
          </a:xfrm>
          <a:prstGeom prst="rect">
            <a:avLst/>
          </a:prstGeom>
          <a:solidFill>
            <a:srgbClr val="D9411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028700"/>
            <a:ext cx="10096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B1F"/>
                </a:solidFill>
              </a:defRPr>
            </a:pPr>
            <a:r>
              <a:rPr lang="zh-CN" altLang="en-US">
                <a:sym typeface="+mn-ea"/>
              </a:rPr>
              <a:t>连接外部信息与业务系统：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联网</a:t>
            </a:r>
            <a:r>
              <a:rPr lang="zh-CN" altLang="en-US">
                <a:sym typeface="+mn-ea"/>
              </a:rPr>
              <a:t>检索</a:t>
            </a:r>
            <a:endParaRPr lang="zh-CN" altLang="en-US">
              <a:sym typeface="+mn-ea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638300"/>
            <a:ext cx="1009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67078"/>
                </a:solidFill>
              </a:defRPr>
            </a:pPr>
            <a:r>
              <a:rPr lang="en-US" b="1">
                <a:solidFill>
                  <a:srgbClr val="171B1F"/>
                </a:solidFill>
                <a:sym typeface="+mn-ea"/>
              </a:rPr>
              <a:t>WorkMate</a:t>
            </a:r>
            <a:r>
              <a:rPr lang="zh-CN" altLang="en-US" b="1">
                <a:solidFill>
                  <a:srgbClr val="171B1F"/>
                </a:solidFill>
                <a:sym typeface="+mn-ea"/>
              </a:rPr>
              <a:t>支持联网检索，可以直接调用</a:t>
            </a:r>
            <a:r>
              <a:rPr lang="zh-CN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泰为平台</a:t>
            </a:r>
            <a:r>
              <a:rPr lang="zh-CN" altLang="en-US" b="1">
                <a:solidFill>
                  <a:srgbClr val="171B1F"/>
                </a:solidFill>
                <a:sym typeface="+mn-ea"/>
              </a:rPr>
              <a:t>的联网检索能力去获取最新的资讯。</a:t>
            </a:r>
            <a:endParaRPr lang="zh-CN" altLang="en-US" b="1">
              <a:solidFill>
                <a:srgbClr val="171B1F"/>
              </a:solidFill>
              <a:sym typeface="+mn-ea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858500" y="6419850"/>
            <a:ext cx="647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67078"/>
                </a:solidFill>
              </a:defRPr>
            </a:pPr>
            <a:r>
              <a:rPr sz="900" b="0">
                <a:solidFill>
                  <a:srgbClr val="667078"/>
                </a:solidFill>
              </a:rPr>
              <a:t>11</a:t>
            </a:r>
            <a:endParaRPr sz="900" b="0">
              <a:solidFill>
                <a:srgbClr val="667078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631315" y="6051550"/>
            <a:ext cx="19119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开启联网</a:t>
            </a:r>
            <a:r>
              <a:rPr lang="zh-CN" altLang="en-US"/>
              <a:t>检索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" y="2348865"/>
            <a:ext cx="4891405" cy="24212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615" y="4832985"/>
            <a:ext cx="3319145" cy="11557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4200" y="2277110"/>
            <a:ext cx="5389880" cy="401256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10804"/>
            <a:ext cx="2857500" cy="311843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10820400" cy="19050"/>
          </a:xfrm>
          <a:prstGeom prst="rect">
            <a:avLst/>
          </a:prstGeom>
          <a:solidFill>
            <a:srgbClr val="D9411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028700"/>
            <a:ext cx="10096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B1F"/>
                </a:solidFill>
              </a:defRPr>
            </a:pPr>
            <a:r>
              <a:rPr lang="zh-CN" altLang="en-US" sz="2850" b="1">
                <a:solidFill>
                  <a:srgbClr val="171B1F"/>
                </a:solidFill>
              </a:rPr>
              <a:t>让任务持续运行：</a:t>
            </a:r>
            <a:r>
              <a:rPr lang="en-US" altLang="zh-CN" sz="2850" b="1">
                <a:solidFill>
                  <a:srgbClr val="171B1F"/>
                </a:solidFill>
              </a:rPr>
              <a:t> </a:t>
            </a:r>
            <a:r>
              <a:rPr lang="zh-CN" altLang="en-US" sz="2850" b="1">
                <a:solidFill>
                  <a:srgbClr val="171B1F"/>
                </a:solidFill>
              </a:rPr>
              <a:t>远程连接</a:t>
            </a:r>
            <a:r>
              <a:rPr lang="en-US" altLang="zh-CN" sz="2850" b="1">
                <a:solidFill>
                  <a:srgbClr val="171B1F"/>
                </a:solidFill>
              </a:rPr>
              <a:t>(</a:t>
            </a:r>
            <a:r>
              <a:rPr lang="zh-CN" altLang="en-US" sz="2850" b="1">
                <a:solidFill>
                  <a:srgbClr val="171B1F"/>
                </a:solidFill>
              </a:rPr>
              <a:t>铃客</a:t>
            </a:r>
            <a:r>
              <a:rPr lang="en-US" altLang="zh-CN" sz="2850" b="1">
                <a:solidFill>
                  <a:srgbClr val="171B1F"/>
                </a:solidFill>
              </a:rPr>
              <a:t>)</a:t>
            </a:r>
            <a:endParaRPr lang="en-US" altLang="zh-CN" sz="2850" b="1">
              <a:solidFill>
                <a:srgbClr val="171B1F"/>
              </a:solidFill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6591935" y="1334770"/>
          <a:ext cx="4345305" cy="1850390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1790065"/>
                <a:gridCol w="1277620"/>
                <a:gridCol w="1277620"/>
              </a:tblGrid>
              <a:tr h="173990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zh-CN" altLang="en-US" sz="1100"/>
                        <a:t>指令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zh-CN" altLang="en-US" sz="1100"/>
                        <a:t>简写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zh-CN" altLang="en-US" sz="1100"/>
                        <a:t>功能说明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</a:tr>
              <a:tr h="167640"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/help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/h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zh-CN" altLang="en-US" sz="1100"/>
                        <a:t>查看命令帮助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335280"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/new [</a:t>
                      </a:r>
                      <a:r>
                        <a:rPr lang="zh-CN" altLang="en-US" sz="1100"/>
                        <a:t>标题</a:t>
                      </a:r>
                      <a:r>
                        <a:rPr lang="en-US" altLang="zh-CN" sz="1100"/>
                        <a:t>]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/n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zh-CN" altLang="en-US" sz="1100"/>
                        <a:t>创建新的 </a:t>
                      </a:r>
                      <a:r>
                        <a:rPr lang="en-US" altLang="zh-CN" sz="1100"/>
                        <a:t>Agent </a:t>
                      </a:r>
                      <a:r>
                        <a:rPr lang="zh-CN" altLang="en-US" sz="1100"/>
                        <a:t>会话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167640"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/list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/ls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zh-CN" altLang="en-US" sz="1100"/>
                        <a:t>查看可用会话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167640"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/switch &lt;</a:t>
                      </a:r>
                      <a:r>
                        <a:rPr lang="zh-CN" altLang="en-US" sz="1100"/>
                        <a:t>序号</a:t>
                      </a:r>
                      <a:r>
                        <a:rPr lang="en-US" altLang="zh-CN" sz="1100"/>
                        <a:t>&gt;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/sw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zh-CN" altLang="en-US" sz="1100"/>
                        <a:t>切换到指定会话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167640"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/stop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/s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zh-CN" altLang="en-US" sz="1100"/>
                        <a:t>停止当前 </a:t>
                      </a:r>
                      <a:r>
                        <a:rPr lang="en-US" altLang="zh-CN" sz="1100"/>
                        <a:t>Agent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</a:tr>
              <a:tr h="335280"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/workspace [</a:t>
                      </a:r>
                      <a:r>
                        <a:rPr lang="zh-CN" altLang="en-US" sz="1100"/>
                        <a:t>名称</a:t>
                      </a:r>
                      <a:r>
                        <a:rPr lang="en-US" altLang="zh-CN" sz="1100"/>
                        <a:t>/</a:t>
                      </a:r>
                      <a:r>
                        <a:rPr lang="zh-CN" altLang="en-US" sz="1100"/>
                        <a:t>序号</a:t>
                      </a:r>
                      <a:r>
                        <a:rPr lang="en-US" altLang="zh-CN" sz="1100"/>
                        <a:t>]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/ws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zh-CN" altLang="en-US" sz="1100"/>
                        <a:t>查看或切换工作区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335280"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/now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100"/>
                        <a:t>-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zh-CN" altLang="en-US" sz="1100"/>
                        <a:t>查看当前会话和运行状态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70" y="3096260"/>
            <a:ext cx="5537200" cy="330390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5875" y="3429000"/>
            <a:ext cx="5111115" cy="297243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08660" y="1847215"/>
            <a:ext cx="5603875" cy="991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通过铃客的远程连接，我们可以通过铃客给</a:t>
            </a:r>
            <a:r>
              <a:rPr lang="en-US" altLang="zh-CN"/>
              <a:t>WorkMate</a:t>
            </a:r>
            <a:r>
              <a:rPr lang="zh-CN" altLang="en-US"/>
              <a:t>发送任务，并获取到执行的结果，让任务持续的</a:t>
            </a:r>
            <a:r>
              <a:rPr lang="zh-CN" altLang="en-US"/>
              <a:t>运行。</a:t>
            </a:r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10804"/>
            <a:ext cx="2857500" cy="311843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10820400" cy="19050"/>
          </a:xfrm>
          <a:prstGeom prst="rect">
            <a:avLst/>
          </a:prstGeom>
          <a:solidFill>
            <a:srgbClr val="D9411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767715" y="900430"/>
            <a:ext cx="10096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B1F"/>
                </a:solidFill>
              </a:defRPr>
            </a:pPr>
            <a:r>
              <a:rPr lang="zh-CN" altLang="en-US">
                <a:sym typeface="+mn-ea"/>
              </a:rPr>
              <a:t>让任务持续运行：</a:t>
            </a:r>
            <a:r>
              <a:rPr lang="zh-CN" sz="2850" b="1">
                <a:solidFill>
                  <a:srgbClr val="171B1F"/>
                </a:solidFill>
              </a:rPr>
              <a:t>定时</a:t>
            </a:r>
            <a:r>
              <a:rPr lang="zh-CN" sz="2850" b="1">
                <a:solidFill>
                  <a:srgbClr val="171B1F"/>
                </a:solidFill>
              </a:rPr>
              <a:t>任务</a:t>
            </a:r>
            <a:endParaRPr lang="zh-CN" sz="2850" b="1">
              <a:solidFill>
                <a:srgbClr val="171B1F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1309985" y="6419850"/>
            <a:ext cx="647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67078"/>
                </a:solidFill>
              </a:defRPr>
            </a:pPr>
            <a:r>
              <a:rPr sz="900" b="0">
                <a:solidFill>
                  <a:srgbClr val="667078"/>
                </a:solidFill>
              </a:rPr>
              <a:t>11</a:t>
            </a:r>
            <a:endParaRPr sz="900" b="0">
              <a:solidFill>
                <a:srgbClr val="667078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92480" y="146685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4874CB"/>
                </a:solidFill>
              </a:defRPr>
            </a:pPr>
            <a:r>
              <a:rPr sz="1800" b="1">
                <a:solidFill>
                  <a:srgbClr val="4874CB"/>
                </a:solidFill>
              </a:rPr>
              <a:t>让规则明确的重复工作按计划持续执行</a:t>
            </a:r>
            <a:endParaRPr sz="1800" b="1">
              <a:solidFill>
                <a:srgbClr val="4874CB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792480" y="2076450"/>
            <a:ext cx="1066800" cy="266700"/>
          </a:xfrm>
          <a:prstGeom prst="roundRect">
            <a:avLst>
              <a:gd name="adj" fmla="val 42857"/>
            </a:avLst>
          </a:prstGeom>
          <a:solidFill>
            <a:srgbClr val="75BD42"/>
          </a:solidFill>
          <a:ln w="9525">
            <a:solidFill>
              <a:srgbClr val="75BD42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68680" y="2114550"/>
            <a:ext cx="914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适合自动化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92480" y="2495550"/>
            <a:ext cx="2286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目标明确</a:t>
            </a:r>
            <a:endParaRPr sz="1350" b="1">
              <a:solidFill>
                <a:srgbClr val="202124"/>
              </a:solidFill>
            </a:endParaRPr>
          </a:p>
          <a:p>
            <a:pPr algn="l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输入稳定</a:t>
            </a:r>
            <a:endParaRPr sz="1350" b="1">
              <a:solidFill>
                <a:srgbClr val="202124"/>
              </a:solidFill>
            </a:endParaRPr>
          </a:p>
          <a:p>
            <a:pPr algn="l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结果可以按规则检查</a:t>
            </a:r>
            <a:endParaRPr sz="1350" b="1">
              <a:solidFill>
                <a:srgbClr val="202124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792480" y="3714750"/>
            <a:ext cx="1219200" cy="266700"/>
          </a:xfrm>
          <a:prstGeom prst="roundRect">
            <a:avLst>
              <a:gd name="adj" fmla="val 42857"/>
            </a:avLst>
          </a:prstGeom>
          <a:solidFill>
            <a:srgbClr val="E54C5E"/>
          </a:solidFill>
          <a:ln w="9525">
            <a:solidFill>
              <a:srgbClr val="E54C5E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68680" y="3752850"/>
            <a:ext cx="1066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必须人工复核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92480" y="4133850"/>
            <a:ext cx="2286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外部发送</a:t>
            </a:r>
            <a:endParaRPr sz="1350" b="1">
              <a:solidFill>
                <a:srgbClr val="202124"/>
              </a:solidFill>
            </a:endParaRPr>
          </a:p>
          <a:p>
            <a:pPr algn="l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不可逆修改</a:t>
            </a:r>
            <a:endParaRPr sz="1350" b="1">
              <a:solidFill>
                <a:srgbClr val="202124"/>
              </a:solidFill>
            </a:endParaRPr>
          </a:p>
          <a:p>
            <a:pPr algn="l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敏感数据与业务判断</a:t>
            </a:r>
            <a:endParaRPr sz="1350" b="1">
              <a:solidFill>
                <a:srgbClr val="202124"/>
              </a:solidFill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3307080" y="2076450"/>
            <a:ext cx="2742565" cy="3181350"/>
          </a:xfrm>
          <a:prstGeom prst="roundRect">
            <a:avLst>
              <a:gd name="adj" fmla="val 3593"/>
            </a:avLst>
          </a:prstGeom>
          <a:noFill/>
          <a:ln w="9525">
            <a:solidFill>
              <a:srgbClr val="E4E7EA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3592830" y="23241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202124"/>
                </a:solidFill>
              </a:defRPr>
            </a:pPr>
            <a:r>
              <a:rPr sz="1725" b="1">
                <a:solidFill>
                  <a:srgbClr val="202124"/>
                </a:solidFill>
              </a:rPr>
              <a:t>基础配置</a:t>
            </a:r>
            <a:endParaRPr sz="1725" b="1">
              <a:solidFill>
                <a:srgbClr val="202124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3592830" y="2819400"/>
            <a:ext cx="28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75BD42"/>
                </a:solidFill>
              </a:defRPr>
            </a:pPr>
            <a:r>
              <a:rPr sz="1125" b="1">
                <a:solidFill>
                  <a:srgbClr val="75BD42"/>
                </a:solidFill>
              </a:rPr>
              <a:t>1</a:t>
            </a:r>
            <a:endParaRPr sz="1125" b="1">
              <a:solidFill>
                <a:srgbClr val="75BD42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011930" y="28003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202124"/>
                </a:solidFill>
              </a:defRPr>
            </a:pPr>
            <a:r>
              <a:rPr sz="1275" b="0">
                <a:solidFill>
                  <a:srgbClr val="202124"/>
                </a:solidFill>
              </a:rPr>
              <a:t>任务名称与描述</a:t>
            </a:r>
            <a:endParaRPr sz="1275" b="0">
              <a:solidFill>
                <a:srgbClr val="202124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3592830" y="3352800"/>
            <a:ext cx="28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30C0B4"/>
                </a:solidFill>
              </a:defRPr>
            </a:pPr>
            <a:r>
              <a:rPr sz="1125" b="1">
                <a:solidFill>
                  <a:srgbClr val="30C0B4"/>
                </a:solidFill>
              </a:rPr>
              <a:t>2</a:t>
            </a:r>
            <a:endParaRPr sz="1125" b="1">
              <a:solidFill>
                <a:srgbClr val="30C0B4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4011930" y="33337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202124"/>
                </a:solidFill>
              </a:defRPr>
            </a:pPr>
            <a:r>
              <a:rPr sz="1275" b="0">
                <a:solidFill>
                  <a:srgbClr val="202124"/>
                </a:solidFill>
              </a:rPr>
              <a:t>模型与工作区</a:t>
            </a:r>
            <a:endParaRPr sz="1275" b="0">
              <a:solidFill>
                <a:srgbClr val="202124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3592830" y="3886200"/>
            <a:ext cx="28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4874CB"/>
                </a:solidFill>
              </a:defRPr>
            </a:pPr>
            <a:r>
              <a:rPr sz="1125" b="1">
                <a:solidFill>
                  <a:srgbClr val="4874CB"/>
                </a:solidFill>
              </a:rPr>
              <a:t>3</a:t>
            </a:r>
            <a:endParaRPr sz="1125" b="1">
              <a:solidFill>
                <a:srgbClr val="4874CB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4011930" y="38671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202124"/>
                </a:solidFill>
              </a:defRPr>
            </a:pPr>
            <a:r>
              <a:rPr sz="1275" b="0">
                <a:solidFill>
                  <a:srgbClr val="202124"/>
                </a:solidFill>
              </a:rPr>
              <a:t>单次 / 间隔 / 日 / 周 / 月</a:t>
            </a:r>
            <a:endParaRPr sz="1275" b="0">
              <a:solidFill>
                <a:srgbClr val="202124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3592830" y="4419600"/>
            <a:ext cx="28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E54C5E"/>
                </a:solidFill>
              </a:defRPr>
            </a:pPr>
            <a:r>
              <a:rPr sz="1125" b="1">
                <a:solidFill>
                  <a:srgbClr val="E54C5E"/>
                </a:solidFill>
              </a:rPr>
              <a:t>4</a:t>
            </a:r>
            <a:endParaRPr sz="1125" b="1">
              <a:solidFill>
                <a:srgbClr val="E54C5E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4011930" y="44005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202124"/>
                </a:solidFill>
              </a:defRPr>
            </a:pPr>
            <a:r>
              <a:rPr sz="1275" b="1">
                <a:solidFill>
                  <a:srgbClr val="202124"/>
                </a:solidFill>
              </a:rPr>
              <a:t>通知与执行记录</a:t>
            </a:r>
            <a:endParaRPr sz="1275" b="1">
              <a:solidFill>
                <a:srgbClr val="202124"/>
              </a:solidFill>
            </a:endParaRPr>
          </a:p>
        </p:txBody>
      </p:sp>
      <p:sp>
        <p:nvSpPr>
          <p:cNvPr id="41" name="圆角矩形 40"/>
          <p:cNvSpPr>
            <a:spLocks noGrp="1"/>
          </p:cNvSpPr>
          <p:nvPr/>
        </p:nvSpPr>
        <p:spPr>
          <a:xfrm>
            <a:off x="1783080" y="6294755"/>
            <a:ext cx="7238365" cy="426085"/>
          </a:xfrm>
          <a:prstGeom prst="roundRect">
            <a:avLst>
              <a:gd name="adj" fmla="val 27273"/>
            </a:avLst>
          </a:prstGeom>
          <a:solidFill>
            <a:srgbClr val="F1F8EB"/>
          </a:solidFill>
          <a:ln w="9525">
            <a:solidFill>
              <a:srgbClr val="75BD42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1973580" y="6399530"/>
            <a:ext cx="6877685" cy="212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02124"/>
                </a:solidFill>
              </a:defRPr>
            </a:pPr>
            <a:r>
              <a:rPr lang="zh-CN" sz="1200" b="1">
                <a:solidFill>
                  <a:srgbClr val="202124"/>
                </a:solidFill>
              </a:rPr>
              <a:t>对话触发</a:t>
            </a:r>
            <a:r>
              <a:rPr sz="1200" b="1">
                <a:solidFill>
                  <a:srgbClr val="202124"/>
                </a:solidFill>
              </a:rPr>
              <a:t>示例：每个工作日上午 9 点检查新增项目资料并整理待办</a:t>
            </a:r>
            <a:endParaRPr sz="1200" b="1">
              <a:solidFill>
                <a:srgbClr val="202124"/>
              </a:solidFill>
            </a:endParaRP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045" y="1466850"/>
            <a:ext cx="5422265" cy="441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10804"/>
            <a:ext cx="2857500" cy="311843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10820400" cy="19050"/>
          </a:xfrm>
          <a:prstGeom prst="rect">
            <a:avLst/>
          </a:prstGeom>
          <a:solidFill>
            <a:srgbClr val="D9411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028700"/>
            <a:ext cx="10096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B1F"/>
                </a:solidFill>
              </a:defRPr>
            </a:pPr>
            <a:r>
              <a:rPr lang="en-US" altLang="zh-CN" sz="2850" b="1">
                <a:solidFill>
                  <a:srgbClr val="171B1F"/>
                </a:solidFill>
              </a:rPr>
              <a:t>HTML</a:t>
            </a:r>
            <a:r>
              <a:rPr lang="zh-CN" altLang="en-US" sz="2850" b="1">
                <a:solidFill>
                  <a:srgbClr val="171B1F"/>
                </a:solidFill>
              </a:rPr>
              <a:t>的生成和</a:t>
            </a:r>
            <a:r>
              <a:rPr lang="zh-CN" altLang="en-US" sz="2850" b="1">
                <a:solidFill>
                  <a:srgbClr val="171B1F"/>
                </a:solidFill>
              </a:rPr>
              <a:t>协作</a:t>
            </a:r>
            <a:endParaRPr lang="zh-CN" altLang="en-US" sz="2850" b="1">
              <a:solidFill>
                <a:srgbClr val="171B1F"/>
              </a:solidFill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862965" y="1701165"/>
            <a:ext cx="107289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针对</a:t>
            </a:r>
            <a:r>
              <a:rPr lang="en-US" altLang="zh-CN"/>
              <a:t>HTML</a:t>
            </a:r>
            <a:r>
              <a:rPr lang="zh-CN" altLang="en-US"/>
              <a:t>的生成、展示和分享，</a:t>
            </a:r>
            <a:r>
              <a:rPr lang="en-US" altLang="zh-CN"/>
              <a:t>WorkMate</a:t>
            </a:r>
            <a:r>
              <a:rPr lang="zh-CN" altLang="en-US"/>
              <a:t>内置支持了浏览器，可以实时预览，内置了</a:t>
            </a:r>
            <a:r>
              <a:rPr lang="en-US" altLang="zh-CN"/>
              <a:t>HTML Skill</a:t>
            </a:r>
            <a:r>
              <a:rPr lang="zh-CN" altLang="en-US"/>
              <a:t>来</a:t>
            </a:r>
            <a:r>
              <a:rPr lang="zh-CN" altLang="en-US">
                <a:ea typeface="宋体" pitchFamily="2" charset="-122"/>
              </a:rPr>
              <a:t>引导</a:t>
            </a:r>
            <a:r>
              <a:rPr lang="en-US" altLang="zh-CN">
                <a:ea typeface="宋体" pitchFamily="2" charset="-122"/>
              </a:rPr>
              <a:t>HTML</a:t>
            </a:r>
            <a:r>
              <a:rPr lang="zh-CN" altLang="en-US">
                <a:ea typeface="宋体" pitchFamily="2" charset="-122"/>
              </a:rPr>
              <a:t>生成，并支持分享</a:t>
            </a:r>
            <a:r>
              <a:rPr lang="en-US" altLang="zh-CN">
                <a:ea typeface="宋体" pitchFamily="2" charset="-122"/>
              </a:rPr>
              <a:t>HTML</a:t>
            </a:r>
            <a:r>
              <a:rPr lang="zh-CN" altLang="en-US">
                <a:ea typeface="宋体" pitchFamily="2" charset="-122"/>
              </a:rPr>
              <a:t>页面。</a:t>
            </a:r>
            <a:endParaRPr lang="zh-CN" altLang="en-US">
              <a:ea typeface="宋体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" y="2637155"/>
            <a:ext cx="6129655" cy="33489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6135" y="2132965"/>
            <a:ext cx="3602355" cy="228727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325" y="4580890"/>
            <a:ext cx="2727960" cy="22301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10804"/>
            <a:ext cx="2857500" cy="311843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10820400" cy="19050"/>
          </a:xfrm>
          <a:prstGeom prst="rect">
            <a:avLst/>
          </a:prstGeom>
          <a:solidFill>
            <a:srgbClr val="D9411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028700"/>
            <a:ext cx="10096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B1F"/>
                </a:solidFill>
              </a:defRPr>
            </a:pPr>
            <a:r>
              <a:rPr lang="en-US" altLang="zh-CN" sz="2850" b="1">
                <a:solidFill>
                  <a:srgbClr val="171B1F"/>
                </a:solidFill>
              </a:rPr>
              <a:t>HTML</a:t>
            </a:r>
            <a:r>
              <a:rPr lang="zh-CN" altLang="en-US" sz="2850" b="1">
                <a:solidFill>
                  <a:srgbClr val="171B1F"/>
                </a:solidFill>
              </a:rPr>
              <a:t>可视化</a:t>
            </a:r>
            <a:r>
              <a:rPr lang="zh-CN" altLang="en-US" sz="2850" b="1">
                <a:solidFill>
                  <a:srgbClr val="171B1F"/>
                </a:solidFill>
              </a:rPr>
              <a:t>编辑</a:t>
            </a:r>
            <a:endParaRPr lang="zh-CN" altLang="en-US" sz="2850" b="1">
              <a:solidFill>
                <a:srgbClr val="171B1F"/>
              </a:solidFill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862965" y="1701165"/>
            <a:ext cx="107289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ea typeface="宋体" pitchFamily="2" charset="-122"/>
              </a:rPr>
              <a:t>现在</a:t>
            </a:r>
            <a:r>
              <a:rPr lang="en-US" altLang="zh-CN">
                <a:ea typeface="宋体" pitchFamily="2" charset="-122"/>
              </a:rPr>
              <a:t>AI</a:t>
            </a:r>
            <a:r>
              <a:rPr lang="zh-CN" altLang="en-US">
                <a:ea typeface="宋体" pitchFamily="2" charset="-122"/>
              </a:rPr>
              <a:t>生成</a:t>
            </a:r>
            <a:r>
              <a:rPr lang="en-US" altLang="zh-CN">
                <a:ea typeface="宋体" pitchFamily="2" charset="-122"/>
              </a:rPr>
              <a:t>HTML</a:t>
            </a:r>
            <a:r>
              <a:rPr lang="zh-CN" altLang="en-US">
                <a:ea typeface="宋体" pitchFamily="2" charset="-122"/>
              </a:rPr>
              <a:t>是很快，效果也很好，但如果想对局部内容进行微调，只通过对话是比较难的，现在</a:t>
            </a:r>
            <a:r>
              <a:rPr lang="en-US" altLang="zh-CN">
                <a:ea typeface="宋体" pitchFamily="2" charset="-122"/>
              </a:rPr>
              <a:t>WorkMate</a:t>
            </a:r>
            <a:r>
              <a:rPr lang="zh-CN" altLang="en-US">
                <a:ea typeface="宋体" pitchFamily="2" charset="-122"/>
              </a:rPr>
              <a:t>支持了可视化编辑，可以对</a:t>
            </a:r>
            <a:r>
              <a:rPr lang="en-US" altLang="zh-CN">
                <a:ea typeface="宋体" pitchFamily="2" charset="-122"/>
              </a:rPr>
              <a:t>HTML</a:t>
            </a:r>
            <a:r>
              <a:rPr lang="zh-CN" altLang="en-US">
                <a:ea typeface="宋体" pitchFamily="2" charset="-122"/>
              </a:rPr>
              <a:t>页面进行微调。当前支持文字、颜色、边框、边距、宽高的</a:t>
            </a:r>
            <a:r>
              <a:rPr lang="zh-CN" altLang="en-US">
                <a:ea typeface="宋体" pitchFamily="2" charset="-122"/>
              </a:rPr>
              <a:t>调整。</a:t>
            </a:r>
            <a:endParaRPr lang="zh-CN" altLang="en-US">
              <a:ea typeface="宋体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805" y="2637155"/>
            <a:ext cx="4427855" cy="40195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990" y="3213100"/>
            <a:ext cx="2911475" cy="33210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10804"/>
            <a:ext cx="2857500" cy="311843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10820400" cy="19050"/>
          </a:xfrm>
          <a:prstGeom prst="rect">
            <a:avLst/>
          </a:prstGeom>
          <a:solidFill>
            <a:srgbClr val="D9411E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858500" y="6419850"/>
            <a:ext cx="647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67078"/>
                </a:solidFill>
              </a:defRPr>
            </a:pPr>
            <a:r>
              <a:rPr sz="900" b="0">
                <a:solidFill>
                  <a:srgbClr val="667078"/>
                </a:solidFill>
              </a:rPr>
              <a:t>13</a:t>
            </a:r>
            <a:endParaRPr sz="900" b="0">
              <a:solidFill>
                <a:srgbClr val="667078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38200" y="131445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4874CB"/>
                </a:solidFill>
              </a:defRPr>
            </a:pPr>
            <a:endParaRPr lang="zh-CN" sz="1800" b="1">
              <a:solidFill>
                <a:srgbClr val="4874CB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838200" y="2000250"/>
            <a:ext cx="4762500" cy="1219200"/>
          </a:xfrm>
          <a:prstGeom prst="roundRect">
            <a:avLst>
              <a:gd name="adj" fmla="val 9375"/>
            </a:avLst>
          </a:prstGeom>
          <a:noFill/>
          <a:ln w="9525">
            <a:solidFill>
              <a:srgbClr val="EE822F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047750" y="220980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EE822F"/>
                </a:solidFill>
              </a:defRPr>
            </a:pPr>
            <a:r>
              <a:rPr sz="1125" b="1">
                <a:solidFill>
                  <a:srgbClr val="EE822F"/>
                </a:solidFill>
              </a:rPr>
              <a:t>01</a:t>
            </a:r>
            <a:endParaRPr sz="1125" b="1">
              <a:solidFill>
                <a:srgbClr val="EE822F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581150" y="217170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02124"/>
                </a:solidFill>
              </a:defRPr>
            </a:pPr>
            <a:r>
              <a:rPr sz="1650" b="1">
                <a:solidFill>
                  <a:srgbClr val="202124"/>
                </a:solidFill>
              </a:rPr>
              <a:t>使用本人账号和 Key</a:t>
            </a:r>
            <a:endParaRPr sz="1650" b="1">
              <a:solidFill>
                <a:srgbClr val="202124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581150" y="2571750"/>
            <a:ext cx="3619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A7178"/>
                </a:solidFill>
              </a:defRPr>
            </a:pPr>
            <a:r>
              <a:rPr sz="1200" b="0">
                <a:solidFill>
                  <a:srgbClr val="6A7178"/>
                </a:solidFill>
              </a:rPr>
              <a:t>不得共享、转交或在对话中粘贴凭证</a:t>
            </a:r>
            <a:endParaRPr sz="1200" b="0">
              <a:solidFill>
                <a:srgbClr val="6A7178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5981700" y="2000250"/>
            <a:ext cx="4762500" cy="1219200"/>
          </a:xfrm>
          <a:prstGeom prst="roundRect">
            <a:avLst>
              <a:gd name="adj" fmla="val 9375"/>
            </a:avLst>
          </a:prstGeom>
          <a:noFill/>
          <a:ln w="9525">
            <a:solidFill>
              <a:srgbClr val="4874CB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191250" y="220980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4874CB"/>
                </a:solidFill>
              </a:defRPr>
            </a:pPr>
            <a:r>
              <a:rPr sz="1125" b="1">
                <a:solidFill>
                  <a:srgbClr val="4874CB"/>
                </a:solidFill>
              </a:rPr>
              <a:t>02</a:t>
            </a:r>
            <a:endParaRPr sz="1125" b="1">
              <a:solidFill>
                <a:srgbClr val="4874CB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724650" y="217170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02124"/>
                </a:solidFill>
              </a:defRPr>
            </a:pPr>
            <a:r>
              <a:rPr sz="1650" b="1">
                <a:solidFill>
                  <a:srgbClr val="202124"/>
                </a:solidFill>
              </a:rPr>
              <a:t>敏感信息</a:t>
            </a:r>
            <a:r>
              <a:rPr lang="zh-CN" sz="1650" b="1">
                <a:solidFill>
                  <a:srgbClr val="202124"/>
                </a:solidFill>
              </a:rPr>
              <a:t>使用</a:t>
            </a:r>
            <a:r>
              <a:rPr sz="1650" b="1">
                <a:solidFill>
                  <a:srgbClr val="202124"/>
                </a:solidFill>
              </a:rPr>
              <a:t> Local</a:t>
            </a:r>
            <a:endParaRPr sz="1650" b="1">
              <a:solidFill>
                <a:srgbClr val="202124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724650" y="2571750"/>
            <a:ext cx="3619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A7178"/>
                </a:solidFill>
              </a:defRPr>
            </a:pPr>
            <a:r>
              <a:rPr sz="1200" b="0">
                <a:solidFill>
                  <a:srgbClr val="6A7178"/>
                </a:solidFill>
              </a:rPr>
              <a:t>遵守公司 Claw 类智能体工具使用规范</a:t>
            </a:r>
            <a:endParaRPr sz="1200" b="0">
              <a:solidFill>
                <a:srgbClr val="6A7178"/>
              </a:solidFill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838200" y="3524250"/>
            <a:ext cx="4762500" cy="1219200"/>
          </a:xfrm>
          <a:prstGeom prst="roundRect">
            <a:avLst>
              <a:gd name="adj" fmla="val 9375"/>
            </a:avLst>
          </a:prstGeom>
          <a:noFill/>
          <a:ln w="9525">
            <a:solidFill>
              <a:srgbClr val="E54C5E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1047750" y="373380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E54C5E"/>
                </a:solidFill>
              </a:defRPr>
            </a:pPr>
            <a:r>
              <a:rPr sz="1125" b="1">
                <a:solidFill>
                  <a:srgbClr val="E54C5E"/>
                </a:solidFill>
              </a:rPr>
              <a:t>03</a:t>
            </a:r>
            <a:endParaRPr sz="1125" b="1">
              <a:solidFill>
                <a:srgbClr val="E54C5E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581150" y="369570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02124"/>
                </a:solidFill>
              </a:defRPr>
            </a:pPr>
            <a:r>
              <a:rPr sz="1650" b="1">
                <a:solidFill>
                  <a:srgbClr val="202124"/>
                </a:solidFill>
              </a:rPr>
              <a:t>关键写操作必须确认</a:t>
            </a:r>
            <a:endParaRPr sz="1650" b="1">
              <a:solidFill>
                <a:srgbClr val="202124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581150" y="4095750"/>
            <a:ext cx="3619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A7178"/>
                </a:solidFill>
              </a:defRPr>
            </a:pPr>
            <a:r>
              <a:rPr sz="1200" b="0">
                <a:solidFill>
                  <a:srgbClr val="6A7178"/>
                </a:solidFill>
              </a:rPr>
              <a:t>发送、修改、删除前人工复核</a:t>
            </a:r>
            <a:endParaRPr sz="1200" b="0">
              <a:solidFill>
                <a:srgbClr val="6A7178"/>
              </a:solidFill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5981700" y="3524250"/>
            <a:ext cx="4762500" cy="1219200"/>
          </a:xfrm>
          <a:prstGeom prst="roundRect">
            <a:avLst>
              <a:gd name="adj" fmla="val 9375"/>
            </a:avLst>
          </a:prstGeom>
          <a:noFill/>
          <a:ln w="9525">
            <a:solidFill>
              <a:srgbClr val="30C0B4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6191250" y="373380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30C0B4"/>
                </a:solidFill>
              </a:defRPr>
            </a:pPr>
            <a:r>
              <a:rPr sz="1125" b="1">
                <a:solidFill>
                  <a:srgbClr val="30C0B4"/>
                </a:solidFill>
              </a:rPr>
              <a:t>04</a:t>
            </a:r>
            <a:endParaRPr sz="1125" b="1">
              <a:solidFill>
                <a:srgbClr val="30C0B4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724650" y="369570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02124"/>
                </a:solidFill>
              </a:defRPr>
            </a:pPr>
            <a:r>
              <a:rPr sz="1650" b="1">
                <a:solidFill>
                  <a:srgbClr val="202124"/>
                </a:solidFill>
              </a:rPr>
              <a:t>结果提交前人工检查</a:t>
            </a:r>
            <a:endParaRPr sz="1650" b="1">
              <a:solidFill>
                <a:srgbClr val="202124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6724650" y="4095750"/>
            <a:ext cx="3619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A7178"/>
                </a:solidFill>
              </a:defRPr>
            </a:pPr>
            <a:r>
              <a:rPr sz="1200" b="0">
                <a:solidFill>
                  <a:srgbClr val="6A7178"/>
                </a:solidFill>
              </a:rPr>
              <a:t>核对事实、来源、格式和敏感信息</a:t>
            </a:r>
            <a:endParaRPr sz="1200" b="0">
              <a:solidFill>
                <a:srgbClr val="6A7178"/>
              </a:solidFill>
            </a:endParaRP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838200" y="5257800"/>
            <a:ext cx="9906000" cy="1449705"/>
          </a:xfrm>
          <a:prstGeom prst="roundRect">
            <a:avLst>
              <a:gd name="adj" fmla="val 22222"/>
            </a:avLst>
          </a:prstGeom>
          <a:solidFill>
            <a:srgbClr val="EDF3FF"/>
          </a:solidFill>
          <a:ln w="9525">
            <a:solidFill>
              <a:srgbClr val="4874CB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1028700" y="5400675"/>
            <a:ext cx="9525000" cy="11728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4874CB"/>
                </a:solidFill>
              </a:defRPr>
            </a:pPr>
            <a:r>
              <a:rPr lang="en-US" sz="1350" b="1">
                <a:solidFill>
                  <a:srgbClr val="4874CB"/>
                </a:solidFill>
              </a:rPr>
              <a:t>- </a:t>
            </a:r>
            <a:r>
              <a:rPr sz="1350" b="1">
                <a:solidFill>
                  <a:srgbClr val="4874CB"/>
                </a:solidFill>
              </a:rPr>
              <a:t>遇到问题：先保存现场与错误信息，再通过</a:t>
            </a:r>
            <a:r>
              <a:rPr lang="zh-CN" sz="1350" b="1">
                <a:solidFill>
                  <a:srgbClr val="4874CB"/>
                </a:solidFill>
              </a:rPr>
              <a:t>用户群</a:t>
            </a:r>
            <a:r>
              <a:rPr sz="1350" b="1">
                <a:solidFill>
                  <a:srgbClr val="4874CB"/>
                </a:solidFill>
              </a:rPr>
              <a:t>支持渠道反馈</a:t>
            </a:r>
            <a:r>
              <a:rPr lang="zh-CN" sz="1350" b="1">
                <a:solidFill>
                  <a:srgbClr val="4874CB"/>
                </a:solidFill>
              </a:rPr>
              <a:t>；</a:t>
            </a:r>
            <a:endParaRPr sz="1350" b="1">
              <a:solidFill>
                <a:srgbClr val="4874CB"/>
              </a:solidFill>
            </a:endParaRPr>
          </a:p>
          <a:p>
            <a:pPr algn="l">
              <a:defRPr sz="1350" b="1">
                <a:solidFill>
                  <a:srgbClr val="4874CB"/>
                </a:solidFill>
              </a:defRPr>
            </a:pPr>
            <a:r>
              <a:rPr lang="en-US" sz="1350" b="1">
                <a:solidFill>
                  <a:srgbClr val="4874CB"/>
                </a:solidFill>
              </a:rPr>
              <a:t>- </a:t>
            </a:r>
            <a:r>
              <a:rPr lang="zh-CN" altLang="en-US" sz="1350" b="1">
                <a:solidFill>
                  <a:srgbClr val="4874CB"/>
                </a:solidFill>
              </a:rPr>
              <a:t>遇到会话的问题：</a:t>
            </a:r>
            <a:r>
              <a:rPr lang="en-US" altLang="zh-CN" sz="1350" b="1">
                <a:solidFill>
                  <a:srgbClr val="4874CB"/>
                </a:solidFill>
              </a:rPr>
              <a:t> </a:t>
            </a:r>
            <a:r>
              <a:rPr lang="zh-CN" altLang="en-US" sz="1350" b="1">
                <a:solidFill>
                  <a:srgbClr val="4874CB"/>
                </a:solidFill>
              </a:rPr>
              <a:t>直接让</a:t>
            </a:r>
            <a:r>
              <a:rPr lang="en-US" altLang="zh-CN" sz="1350" b="1">
                <a:solidFill>
                  <a:srgbClr val="4874CB"/>
                </a:solidFill>
              </a:rPr>
              <a:t>WM</a:t>
            </a:r>
            <a:r>
              <a:rPr lang="zh-CN" altLang="en-US" sz="1350" b="1">
                <a:solidFill>
                  <a:srgbClr val="4874CB"/>
                </a:solidFill>
              </a:rPr>
              <a:t>自己分析，比如问它：你刚才的会话为什么跑这么久？</a:t>
            </a:r>
            <a:r>
              <a:rPr lang="en-US" altLang="zh-CN" sz="1350" b="1">
                <a:solidFill>
                  <a:srgbClr val="4874CB"/>
                </a:solidFill>
              </a:rPr>
              <a:t> </a:t>
            </a:r>
            <a:r>
              <a:rPr lang="zh-CN" altLang="en-US" sz="1350" b="1">
                <a:solidFill>
                  <a:srgbClr val="4874CB"/>
                </a:solidFill>
              </a:rPr>
              <a:t>你刚下为什么没用</a:t>
            </a:r>
            <a:r>
              <a:rPr lang="en-US" altLang="zh-CN" sz="1350" b="1">
                <a:solidFill>
                  <a:srgbClr val="4874CB"/>
                </a:solidFill>
              </a:rPr>
              <a:t>xxSkill?  </a:t>
            </a:r>
            <a:r>
              <a:rPr lang="zh-CN" altLang="en-US" sz="1350" b="1">
                <a:solidFill>
                  <a:srgbClr val="4874CB"/>
                </a:solidFill>
              </a:rPr>
              <a:t>你为什么要这么处理文档？</a:t>
            </a:r>
            <a:r>
              <a:rPr lang="en-US" altLang="zh-CN" sz="1350" b="1">
                <a:solidFill>
                  <a:srgbClr val="4874CB"/>
                </a:solidFill>
              </a:rPr>
              <a:t> </a:t>
            </a:r>
            <a:r>
              <a:rPr lang="zh-CN" altLang="en-US" sz="1350" b="1">
                <a:solidFill>
                  <a:srgbClr val="4874CB"/>
                </a:solidFill>
              </a:rPr>
              <a:t>等等，让</a:t>
            </a:r>
            <a:r>
              <a:rPr lang="en-US" altLang="zh-CN" sz="1350" b="1">
                <a:solidFill>
                  <a:srgbClr val="4874CB"/>
                </a:solidFill>
              </a:rPr>
              <a:t>WM</a:t>
            </a:r>
            <a:r>
              <a:rPr lang="zh-CN" altLang="en-US" sz="1350" b="1">
                <a:solidFill>
                  <a:srgbClr val="4874CB"/>
                </a:solidFill>
              </a:rPr>
              <a:t>分析自己的问题。</a:t>
            </a:r>
            <a:endParaRPr lang="en-US" altLang="zh-CN" sz="1350" b="1">
              <a:solidFill>
                <a:srgbClr val="4874CB"/>
              </a:solidFill>
            </a:endParaRPr>
          </a:p>
          <a:p>
            <a:pPr algn="l">
              <a:defRPr sz="1350" b="1">
                <a:solidFill>
                  <a:srgbClr val="4874CB"/>
                </a:solidFill>
              </a:defRPr>
            </a:pPr>
            <a:r>
              <a:rPr lang="en-US" altLang="zh-CN" sz="1350" b="1">
                <a:solidFill>
                  <a:srgbClr val="4874CB"/>
                </a:solidFill>
              </a:rPr>
              <a:t>- </a:t>
            </a:r>
            <a:r>
              <a:rPr lang="zh-CN" altLang="en-US" sz="1350" b="1">
                <a:solidFill>
                  <a:srgbClr val="4874CB"/>
                </a:solidFill>
              </a:rPr>
              <a:t>遇到复杂的问题，可以在设置</a:t>
            </a:r>
            <a:r>
              <a:rPr lang="en-US" altLang="zh-CN" sz="1350" b="1">
                <a:solidFill>
                  <a:srgbClr val="4874CB"/>
                </a:solidFill>
              </a:rPr>
              <a:t>-</a:t>
            </a:r>
            <a:r>
              <a:rPr lang="zh-CN" altLang="en-US" sz="1350" b="1">
                <a:solidFill>
                  <a:srgbClr val="4874CB"/>
                </a:solidFill>
              </a:rPr>
              <a:t>日志上报中，把本地日志上来配合开发人员排查</a:t>
            </a:r>
            <a:r>
              <a:rPr lang="zh-CN" altLang="en-US" sz="1350" b="1">
                <a:solidFill>
                  <a:srgbClr val="4874CB"/>
                </a:solidFill>
              </a:rPr>
              <a:t>问题；</a:t>
            </a:r>
            <a:endParaRPr lang="zh-CN" altLang="en-US" sz="1350" b="1">
              <a:solidFill>
                <a:srgbClr val="4874CB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028700"/>
            <a:ext cx="10096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B1F"/>
                </a:solidFill>
              </a:defRPr>
            </a:pPr>
            <a:r>
              <a:rPr lang="zh-CN" sz="2850" b="1">
                <a:solidFill>
                  <a:srgbClr val="171B1F"/>
                </a:solidFill>
              </a:rPr>
              <a:t>安全使用</a:t>
            </a:r>
            <a:r>
              <a:rPr lang="zh-CN" sz="2850" b="1">
                <a:solidFill>
                  <a:srgbClr val="171B1F"/>
                </a:solidFill>
              </a:rPr>
              <a:t>边界</a:t>
            </a:r>
            <a:endParaRPr lang="zh-CN" sz="2850" b="1">
              <a:solidFill>
                <a:srgbClr val="171B1F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10804"/>
            <a:ext cx="2857500" cy="311843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10820400" cy="19050"/>
          </a:xfrm>
          <a:prstGeom prst="rect">
            <a:avLst/>
          </a:prstGeom>
          <a:solidFill>
            <a:srgbClr val="D9411E"/>
          </a:solidFill>
          <a:ln w="0">
            <a:noFill/>
            <a:prstDash val="solid"/>
          </a:ln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225" y="1052830"/>
            <a:ext cx="9337040" cy="504634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020" y="2205355"/>
            <a:ext cx="2611755" cy="30930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487545" y="5364480"/>
            <a:ext cx="21844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欢迎加入</a:t>
            </a:r>
            <a:r>
              <a:rPr lang="en-US" altLang="zh-CN"/>
              <a:t>WorkMate</a:t>
            </a:r>
            <a:r>
              <a:rPr lang="zh-CN" altLang="en-US"/>
              <a:t>用户群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6135" y="2348865"/>
            <a:ext cx="2736850" cy="27813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967980" y="5298440"/>
            <a:ext cx="1283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培训</a:t>
            </a:r>
            <a:r>
              <a:rPr lang="zh-CN" altLang="en-US"/>
              <a:t>签到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47.5,&quot;left&quot;:70.5,&quot;top&quot;:184.5,&quot;width&quot;:769.5}"/>
</p:tagLst>
</file>

<file path=ppt/tags/tag2.xml><?xml version="1.0" encoding="utf-8"?>
<p:tagLst xmlns:p="http://schemas.openxmlformats.org/presentationml/2006/main">
  <p:tag name="KSO_WM_DIAGRAM_VIRTUALLY_FRAME" val="{&quot;height&quot;:247.5,&quot;left&quot;:70.5,&quot;top&quot;:184.5,&quot;width&quot;:769.5}"/>
</p:tagLst>
</file>

<file path=ppt/tags/tag3.xml><?xml version="1.0" encoding="utf-8"?>
<p:tagLst xmlns:p="http://schemas.openxmlformats.org/presentationml/2006/main">
  <p:tag name="KSO_WM_DIAGRAM_VIRTUALLY_FRAME" val="{&quot;height&quot;:247.5,&quot;left&quot;:70.5,&quot;top&quot;:184.5,&quot;width&quot;:769.5}"/>
</p:tagLst>
</file>

<file path=ppt/tags/tag4.xml><?xml version="1.0" encoding="utf-8"?>
<p:tagLst xmlns:p="http://schemas.openxmlformats.org/presentationml/2006/main">
  <p:tag name="KSO_WM_DIAGRAM_VIRTUALLY_FRAME" val="{&quot;height&quot;:247.5,&quot;left&quot;:70.5,&quot;top&quot;:184.5,&quot;width&quot;:769.5}"/>
</p:tagLst>
</file>

<file path=ppt/tags/tag5.xml><?xml version="1.0" encoding="utf-8"?>
<p:tagLst xmlns:p="http://schemas.openxmlformats.org/presentationml/2006/main">
  <p:tag name="KSO_WM_DIAGRAM_VIRTUALLY_FRAME" val="{&quot;height&quot;:247.5,&quot;left&quot;:70.5,&quot;top&quot;:184.5,&quot;width&quot;:769.5}"/>
</p:tagLst>
</file>

<file path=ppt/tags/tag6.xml><?xml version="1.0" encoding="utf-8"?>
<p:tagLst xmlns:p="http://schemas.openxmlformats.org/presentationml/2006/main">
  <p:tag name="KSO_WM_DIAGRAM_VIRTUALLY_FRAME" val="{&quot;height&quot;:247.5,&quot;left&quot;:70.5,&quot;top&quot;:184.5,&quot;width&quot;:769.5}"/>
</p:tagLst>
</file>

<file path=ppt/tags/tag7.xml><?xml version="1.0" encoding="utf-8"?>
<p:tagLst xmlns:p="http://schemas.openxmlformats.org/presentationml/2006/main">
  <p:tag name="KSO_WM_DIAGRAM_VIRTUALLY_FRAME" val="{&quot;height&quot;:247.5,&quot;left&quot;:70.5,&quot;top&quot;:184.5,&quot;width&quot;:769.5}"/>
</p:tagLst>
</file>

<file path=ppt/tags/tag8.xml><?xml version="1.0" encoding="utf-8"?>
<p:tagLst xmlns:p="http://schemas.openxmlformats.org/presentationml/2006/main">
  <p:tag name="KSO_WM_DIAGRAM_VIRTUALLY_FRAME" val="{&quot;height&quot;:247.5,&quot;left&quot;:70.5,&quot;top&quot;:184.5,&quot;width&quot;:769.5}"/>
</p:tagLst>
</file>

<file path=ppt/tags/tag9.xml><?xml version="1.0" encoding="utf-8"?>
<p:tagLst xmlns:p="http://schemas.openxmlformats.org/presentationml/2006/main">
  <p:tag name="KSO_WM_DIAGRAM_VIRTUALLY_FRAME" val="{&quot;height&quot;:247.5,&quot;left&quot;:70.5,&quot;top&quot;:184.5,&quot;width&quot;:769.5}"/>
</p:tagLst>
</file>

<file path=ppt/tags/tag10.xml><?xml version="1.0" encoding="utf-8"?>
<p:tagLst xmlns:p="http://schemas.openxmlformats.org/presentationml/2006/main">
  <p:tag name="KSO_WM_DIAGRAM_VIRTUALLY_FRAME" val="{&quot;height&quot;:247.5,&quot;left&quot;:70.5,&quot;top&quot;:184.5,&quot;width&quot;:769.5}"/>
</p:tagLst>
</file>

<file path=ppt/tags/tag11.xml><?xml version="1.0" encoding="utf-8"?>
<p:tagLst xmlns:p="http://schemas.openxmlformats.org/presentationml/2006/main">
  <p:tag name="KSO_WM_DIAGRAM_VIRTUALLY_FRAME" val="{&quot;height&quot;:247.5,&quot;left&quot;:70.5,&quot;top&quot;:184.5,&quot;width&quot;:769.5}"/>
</p:tagLst>
</file>

<file path=ppt/tags/tag12.xml><?xml version="1.0" encoding="utf-8"?>
<p:tagLst xmlns:p="http://schemas.openxmlformats.org/presentationml/2006/main">
  <p:tag name="KSO_WM_DIAGRAM_VIRTUALLY_FRAME" val="{&quot;height&quot;:247.5,&quot;left&quot;:70.5,&quot;top&quot;:184.5,&quot;width&quot;:769.5}"/>
</p:tagLst>
</file>

<file path=ppt/tags/tag13.xml><?xml version="1.0" encoding="utf-8"?>
<p:tagLst xmlns:p="http://schemas.openxmlformats.org/presentationml/2006/main">
  <p:tag name="KSO_WM_DIAGRAM_VIRTUALLY_FRAME" val="{&quot;height&quot;:247.5,&quot;left&quot;:70.5,&quot;top&quot;:184.5,&quot;width&quot;:769.5}"/>
</p:tagLst>
</file>

<file path=ppt/tags/tag14.xml><?xml version="1.0" encoding="utf-8"?>
<p:tagLst xmlns:p="http://schemas.openxmlformats.org/presentationml/2006/main">
  <p:tag name="KSO_WM_DIAGRAM_VIRTUALLY_FRAME" val="{&quot;height&quot;:247.5,&quot;left&quot;:70.5,&quot;top&quot;:184.5,&quot;width&quot;:769.5}"/>
</p:tagLst>
</file>

<file path=ppt/tags/tag15.xml><?xml version="1.0" encoding="utf-8"?>
<p:tagLst xmlns:p="http://schemas.openxmlformats.org/presentationml/2006/main">
  <p:tag name="KSO_WM_DIAGRAM_VIRTUALLY_FRAME" val="{&quot;height&quot;:247.5,&quot;left&quot;:70.5,&quot;top&quot;:184.5,&quot;width&quot;:769.5}"/>
</p:tagLst>
</file>

<file path=ppt/tags/tag16.xml><?xml version="1.0" encoding="utf-8"?>
<p:tagLst xmlns:p="http://schemas.openxmlformats.org/presentationml/2006/main">
  <p:tag name="KSO_WM_DIAGRAM_VIRTUALLY_FRAME" val="{&quot;height&quot;:247.5,&quot;left&quot;:70.5,&quot;top&quot;:184.5,&quot;width&quot;:769.5}"/>
</p:tagLst>
</file>

<file path=ppt/tags/tag17.xml><?xml version="1.0" encoding="utf-8"?>
<p:tagLst xmlns:p="http://schemas.openxmlformats.org/presentationml/2006/main">
  <p:tag name="KSO_WM_DIAGRAM_VIRTUALLY_FRAME" val="{&quot;height&quot;:247.5,&quot;left&quot;:70.5,&quot;top&quot;:184.5,&quot;width&quot;:769.5}"/>
</p:tagLst>
</file>

<file path=ppt/tags/tag18.xml><?xml version="1.0" encoding="utf-8"?>
<p:tagLst xmlns:p="http://schemas.openxmlformats.org/presentationml/2006/main">
  <p:tag name="KSO_WM_DIAGRAM_VIRTUALLY_FRAME" val="{&quot;height&quot;:247.5,&quot;left&quot;:70.5,&quot;top&quot;:184.5,&quot;width&quot;:769.5}"/>
</p:tagLst>
</file>

<file path=ppt/tags/tag19.xml><?xml version="1.0" encoding="utf-8"?>
<p:tagLst xmlns:p="http://schemas.openxmlformats.org/presentationml/2006/main">
  <p:tag name="KSO_WM_DIAGRAM_VIRTUALLY_FRAME" val="{&quot;height&quot;:247.5,&quot;left&quot;:70.5,&quot;top&quot;:184.5,&quot;width&quot;:769.5}"/>
</p:tagLst>
</file>

<file path=ppt/tags/tag20.xml><?xml version="1.0" encoding="utf-8"?>
<p:tagLst xmlns:p="http://schemas.openxmlformats.org/presentationml/2006/main">
  <p:tag name="KSO_WM_DIAGRAM_VIRTUALLY_FRAME" val="{&quot;height&quot;:247.5,&quot;left&quot;:70.5,&quot;top&quot;:184.5,&quot;width&quot;:769.5}"/>
</p:tagLst>
</file>

<file path=ppt/tags/tag21.xml><?xml version="1.0" encoding="utf-8"?>
<p:tagLst xmlns:p="http://schemas.openxmlformats.org/presentationml/2006/main">
  <p:tag name="KSO_WM_DIAGRAM_VIRTUALLY_FRAME" val="{&quot;height&quot;:247.5,&quot;left&quot;:70.5,&quot;top&quot;:184.5,&quot;width&quot;:769.5}"/>
</p:tagLst>
</file>

<file path=ppt/tags/tag22.xml><?xml version="1.0" encoding="utf-8"?>
<p:tagLst xmlns:p="http://schemas.openxmlformats.org/presentationml/2006/main">
  <p:tag name="KSO_WM_DIAGRAM_VIRTUALLY_FRAME" val="{&quot;height&quot;:247.5,&quot;left&quot;:70.5,&quot;top&quot;:184.5,&quot;width&quot;:769.5}"/>
</p:tagLst>
</file>

<file path=ppt/tags/tag23.xml><?xml version="1.0" encoding="utf-8"?>
<p:tagLst xmlns:p="http://schemas.openxmlformats.org/presentationml/2006/main">
  <p:tag name="KSO_WM_DIAGRAM_VIRTUALLY_FRAME" val="{&quot;height&quot;:247.5,&quot;left&quot;:70.5,&quot;top&quot;:184.5,&quot;width&quot;:769.5}"/>
</p:tagLst>
</file>

<file path=ppt/tags/tag24.xml><?xml version="1.0" encoding="utf-8"?>
<p:tagLst xmlns:p="http://schemas.openxmlformats.org/presentationml/2006/main">
  <p:tag name="KSO_WM_DIAGRAM_VIRTUALLY_FRAME" val="{&quot;height&quot;:247.5,&quot;left&quot;:70.5,&quot;top&quot;:184.5,&quot;width&quot;:769.5}"/>
</p:tagLst>
</file>

<file path=ppt/tags/tag25.xml><?xml version="1.0" encoding="utf-8"?>
<p:tagLst xmlns:p="http://schemas.openxmlformats.org/presentationml/2006/main">
  <p:tag name="KSO_WM_DIAGRAM_VIRTUALLY_FRAME" val="{&quot;height&quot;:247.5,&quot;left&quot;:70.5,&quot;top&quot;:184.5,&quot;width&quot;:769.5}"/>
</p:tagLst>
</file>

<file path=ppt/tags/tag26.xml><?xml version="1.0" encoding="utf-8"?>
<p:tagLst xmlns:p="http://schemas.openxmlformats.org/presentationml/2006/main">
  <p:tag name="KSO_WM_DIAGRAM_VIRTUALLY_FRAME" val="{&quot;height&quot;:247.5,&quot;left&quot;:70.5,&quot;top&quot;:184.5,&quot;width&quot;:769.5}"/>
</p:tagLst>
</file>

<file path=ppt/tags/tag27.xml><?xml version="1.0" encoding="utf-8"?>
<p:tagLst xmlns:p="http://schemas.openxmlformats.org/presentationml/2006/main">
  <p:tag name="KSO_WM_DIAGRAM_VIRTUALLY_FRAME" val="{&quot;height&quot;:247.5,&quot;left&quot;:70.5,&quot;top&quot;:184.5,&quot;width&quot;:769.5}"/>
</p:tagLst>
</file>

<file path=ppt/tags/tag28.xml><?xml version="1.0" encoding="utf-8"?>
<p:tagLst xmlns:p="http://schemas.openxmlformats.org/presentationml/2006/main">
  <p:tag name="KSO_WM_DIAGRAM_VIRTUALLY_FRAME" val="{&quot;height&quot;:247.5,&quot;left&quot;:70.5,&quot;top&quot;:184.5,&quot;width&quot;:769.5}"/>
</p:tagLst>
</file>

<file path=ppt/tags/tag29.xml><?xml version="1.0" encoding="utf-8"?>
<p:tagLst xmlns:p="http://schemas.openxmlformats.org/presentationml/2006/main">
  <p:tag name="KSO_WM_DIAGRAM_VIRTUALLY_FRAME" val="{&quot;height&quot;:247.5,&quot;left&quot;:70.5,&quot;top&quot;:184.5,&quot;width&quot;:769.5}"/>
</p:tagLst>
</file>

<file path=ppt/tags/tag30.xml><?xml version="1.0" encoding="utf-8"?>
<p:tagLst xmlns:p="http://schemas.openxmlformats.org/presentationml/2006/main">
  <p:tag name="KSO_WM_DIAGRAM_VIRTUALLY_FRAME" val="{&quot;height&quot;:247.5,&quot;left&quot;:70.5,&quot;top&quot;:184.5,&quot;width&quot;:769.5}"/>
</p:tagLst>
</file>

<file path=ppt/tags/tag31.xml><?xml version="1.0" encoding="utf-8"?>
<p:tagLst xmlns:p="http://schemas.openxmlformats.org/presentationml/2006/main">
  <p:tag name="KSO_WM_DIAGRAM_VIRTUALLY_FRAME" val="{&quot;height&quot;:262.25,&quot;left&quot;:361.5,&quot;top&quot;:175.5,&quot;width&quot;:573.25}"/>
</p:tagLst>
</file>

<file path=ppt/tags/tag32.xml><?xml version="1.0" encoding="utf-8"?>
<p:tagLst xmlns:p="http://schemas.openxmlformats.org/presentationml/2006/main">
  <p:tag name="KSO_WM_DIAGRAM_VIRTUALLY_FRAME" val="{&quot;height&quot;:262.25,&quot;left&quot;:361.5,&quot;top&quot;:175.5,&quot;width&quot;:573.25}"/>
</p:tagLst>
</file>

<file path=ppt/tags/tag33.xml><?xml version="1.0" encoding="utf-8"?>
<p:tagLst xmlns:p="http://schemas.openxmlformats.org/presentationml/2006/main">
  <p:tag name="KSO_WM_DIAGRAM_VIRTUALLY_FRAME" val="{&quot;height&quot;:262.25,&quot;left&quot;:361.5,&quot;top&quot;:175.5,&quot;width&quot;:573.25}"/>
</p:tagLst>
</file>

<file path=ppt/tags/tag34.xml><?xml version="1.0" encoding="utf-8"?>
<p:tagLst xmlns:p="http://schemas.openxmlformats.org/presentationml/2006/main">
  <p:tag name="KSO_WM_DIAGRAM_VIRTUALLY_FRAME" val="{&quot;height&quot;:262.25,&quot;left&quot;:361.5,&quot;top&quot;:175.5,&quot;width&quot;:573.25}"/>
</p:tagLst>
</file>

<file path=ppt/tags/tag35.xml><?xml version="1.0" encoding="utf-8"?>
<p:tagLst xmlns:p="http://schemas.openxmlformats.org/presentationml/2006/main">
  <p:tag name="KSO_WM_DIAGRAM_VIRTUALLY_FRAME" val="{&quot;height&quot;:262.25,&quot;left&quot;:361.5,&quot;top&quot;:175.5,&quot;width&quot;:573.25}"/>
</p:tagLst>
</file>

<file path=ppt/tags/tag36.xml><?xml version="1.0" encoding="utf-8"?>
<p:tagLst xmlns:p="http://schemas.openxmlformats.org/presentationml/2006/main">
  <p:tag name="KSO_WM_DIAGRAM_VIRTUALLY_FRAME" val="{&quot;height&quot;:262.25,&quot;left&quot;:361.5,&quot;top&quot;:175.5,&quot;width&quot;:573.25}"/>
</p:tagLst>
</file>

<file path=ppt/tags/tag37.xml><?xml version="1.0" encoding="utf-8"?>
<p:tagLst xmlns:p="http://schemas.openxmlformats.org/presentationml/2006/main">
  <p:tag name="KSO_WM_DIAGRAM_VIRTUALLY_FRAME" val="{&quot;height&quot;:262.25,&quot;left&quot;:361.5,&quot;top&quot;:175.5,&quot;width&quot;:573.25}"/>
</p:tagLst>
</file>

<file path=ppt/tags/tag38.xml><?xml version="1.0" encoding="utf-8"?>
<p:tagLst xmlns:p="http://schemas.openxmlformats.org/presentationml/2006/main">
  <p:tag name="KSO_WM_DIAGRAM_VIRTUALLY_FRAME" val="{&quot;height&quot;:262.25,&quot;left&quot;:361.5,&quot;top&quot;:175.5,&quot;width&quot;:573.25}"/>
</p:tagLst>
</file>

<file path=ppt/tags/tag39.xml><?xml version="1.0" encoding="utf-8"?>
<p:tagLst xmlns:p="http://schemas.openxmlformats.org/presentationml/2006/main">
  <p:tag name="KSO_WM_DIAGRAM_VIRTUALLY_FRAME" val="{&quot;height&quot;:262.25,&quot;left&quot;:361.5,&quot;top&quot;:175.5,&quot;width&quot;:573.25}"/>
</p:tagLst>
</file>

<file path=ppt/tags/tag40.xml><?xml version="1.0" encoding="utf-8"?>
<p:tagLst xmlns:p="http://schemas.openxmlformats.org/presentationml/2006/main">
  <p:tag name="KSO_WM_DIAGRAM_VIRTUALLY_FRAME" val="{&quot;height&quot;:262.25,&quot;left&quot;:361.5,&quot;top&quot;:175.5,&quot;width&quot;:573.25}"/>
</p:tagLst>
</file>

<file path=ppt/tags/tag41.xml><?xml version="1.0" encoding="utf-8"?>
<p:tagLst xmlns:p="http://schemas.openxmlformats.org/presentationml/2006/main">
  <p:tag name="KSO_WM_DIAGRAM_VIRTUALLY_FRAME" val="{&quot;height&quot;:262.25,&quot;left&quot;:361.5,&quot;top&quot;:175.5,&quot;width&quot;:573.25}"/>
</p:tagLst>
</file>

<file path=ppt/tags/tag42.xml><?xml version="1.0" encoding="utf-8"?>
<p:tagLst xmlns:p="http://schemas.openxmlformats.org/presentationml/2006/main">
  <p:tag name="KSO_WM_DIAGRAM_VIRTUALLY_FRAME" val="{&quot;height&quot;:262.25,&quot;left&quot;:361.5,&quot;top&quot;:175.5,&quot;width&quot;:573.25}"/>
</p:tagLst>
</file>

<file path=ppt/tags/tag43.xml><?xml version="1.0" encoding="utf-8"?>
<p:tagLst xmlns:p="http://schemas.openxmlformats.org/presentationml/2006/main">
  <p:tag name="KSO_WM_DIAGRAM_VIRTUALLY_FRAME" val="{&quot;height&quot;:262.25,&quot;left&quot;:361.5,&quot;top&quot;:175.5,&quot;width&quot;:573.25}"/>
</p:tagLst>
</file>

<file path=ppt/tags/tag44.xml><?xml version="1.0" encoding="utf-8"?>
<p:tagLst xmlns:p="http://schemas.openxmlformats.org/presentationml/2006/main">
  <p:tag name="KSO_WM_DIAGRAM_VIRTUALLY_FRAME" val="{&quot;height&quot;:262.25,&quot;left&quot;:361.5,&quot;top&quot;:175.5,&quot;width&quot;:573.25}"/>
</p:tagLst>
</file>

<file path=ppt/tags/tag45.xml><?xml version="1.0" encoding="utf-8"?>
<p:tagLst xmlns:p="http://schemas.openxmlformats.org/presentationml/2006/main">
  <p:tag name="KSO_WM_DIAGRAM_VIRTUALLY_FRAME" val="{&quot;height&quot;:262.25,&quot;left&quot;:361.5,&quot;top&quot;:175.5,&quot;width&quot;:573.25}"/>
</p:tagLst>
</file>

<file path=ppt/tags/tag46.xml><?xml version="1.0" encoding="utf-8"?>
<p:tagLst xmlns:p="http://schemas.openxmlformats.org/presentationml/2006/main">
  <p:tag name="KSO_WM_DIAGRAM_VIRTUALLY_FRAME" val="{&quot;height&quot;:262.25,&quot;left&quot;:361.5,&quot;top&quot;:175.5,&quot;width&quot;:573.25}"/>
</p:tagLst>
</file>

<file path=ppt/tags/tag47.xml><?xml version="1.0" encoding="utf-8"?>
<p:tagLst xmlns:p="http://schemas.openxmlformats.org/presentationml/2006/main">
  <p:tag name="KSO_WM_DIAGRAM_VIRTUALLY_FRAME" val="{&quot;height&quot;:84,&quot;left&quot;:66,&quot;top&quot;:151.5,&quot;width&quot;:778.5}"/>
</p:tagLst>
</file>

<file path=ppt/tags/tag48.xml><?xml version="1.0" encoding="utf-8"?>
<p:tagLst xmlns:p="http://schemas.openxmlformats.org/presentationml/2006/main">
  <p:tag name="KSO_WM_DIAGRAM_VIRTUALLY_FRAME" val="{&quot;height&quot;:84,&quot;left&quot;:66,&quot;top&quot;:151.5,&quot;width&quot;:778.5}"/>
</p:tagLst>
</file>

<file path=ppt/tags/tag49.xml><?xml version="1.0" encoding="utf-8"?>
<p:tagLst xmlns:p="http://schemas.openxmlformats.org/presentationml/2006/main">
  <p:tag name="KSO_WM_DIAGRAM_VIRTUALLY_FRAME" val="{&quot;height&quot;:84,&quot;left&quot;:66,&quot;top&quot;:151.5,&quot;width&quot;:778.5}"/>
</p:tagLst>
</file>

<file path=ppt/tags/tag50.xml><?xml version="1.0" encoding="utf-8"?>
<p:tagLst xmlns:p="http://schemas.openxmlformats.org/presentationml/2006/main">
  <p:tag name="KSO_WM_DIAGRAM_VIRTUALLY_FRAME" val="{&quot;height&quot;:84,&quot;left&quot;:66,&quot;top&quot;:151.5,&quot;width&quot;:778.5}"/>
</p:tagLst>
</file>

<file path=ppt/tags/tag51.xml><?xml version="1.0" encoding="utf-8"?>
<p:tagLst xmlns:p="http://schemas.openxmlformats.org/presentationml/2006/main">
  <p:tag name="KSO_WM_DIAGRAM_VIRTUALLY_FRAME" val="{&quot;height&quot;:84,&quot;left&quot;:66,&quot;top&quot;:151.5,&quot;width&quot;:778.5}"/>
</p:tagLst>
</file>

<file path=ppt/tags/tag52.xml><?xml version="1.0" encoding="utf-8"?>
<p:tagLst xmlns:p="http://schemas.openxmlformats.org/presentationml/2006/main">
  <p:tag name="KSO_WM_DIAGRAM_VIRTUALLY_FRAME" val="{&quot;height&quot;:84,&quot;left&quot;:66,&quot;top&quot;:151.5,&quot;width&quot;:778.5}"/>
</p:tagLst>
</file>

<file path=ppt/tags/tag53.xml><?xml version="1.0" encoding="utf-8"?>
<p:tagLst xmlns:p="http://schemas.openxmlformats.org/presentationml/2006/main">
  <p:tag name="KSO_WM_DIAGRAM_VIRTUALLY_FRAME" val="{&quot;height&quot;:84,&quot;left&quot;:66,&quot;top&quot;:151.5,&quot;width&quot;:778.5}"/>
</p:tagLst>
</file>

<file path=ppt/tags/tag54.xml><?xml version="1.0" encoding="utf-8"?>
<p:tagLst xmlns:p="http://schemas.openxmlformats.org/presentationml/2006/main">
  <p:tag name="KSO_WM_DIAGRAM_VIRTUALLY_FRAME" val="{&quot;height&quot;:84,&quot;left&quot;:66,&quot;top&quot;:151.5,&quot;width&quot;:778.5}"/>
</p:tagLst>
</file>

<file path=ppt/tags/tag55.xml><?xml version="1.0" encoding="utf-8"?>
<p:tagLst xmlns:p="http://schemas.openxmlformats.org/presentationml/2006/main">
  <p:tag name="KSO_WM_DIAGRAM_VIRTUALLY_FRAME" val="{&quot;height&quot;:84,&quot;left&quot;:66,&quot;top&quot;:151.5,&quot;width&quot;:778.5}"/>
</p:tagLst>
</file>

<file path=ppt/tags/tag56.xml><?xml version="1.0" encoding="utf-8"?>
<p:tagLst xmlns:p="http://schemas.openxmlformats.org/presentationml/2006/main">
  <p:tag name="KSO_WM_DIAGRAM_VIRTUALLY_FRAME" val="{&quot;height&quot;:84,&quot;left&quot;:66,&quot;top&quot;:151.5,&quot;width&quot;:778.5}"/>
</p:tagLst>
</file>

<file path=ppt/tags/tag57.xml><?xml version="1.0" encoding="utf-8"?>
<p:tagLst xmlns:p="http://schemas.openxmlformats.org/presentationml/2006/main">
  <p:tag name="KSO_WM_DIAGRAM_VIRTUALLY_FRAME" val="{&quot;height&quot;:84,&quot;left&quot;:66,&quot;top&quot;:151.5,&quot;width&quot;:778.5}"/>
</p:tagLst>
</file>

<file path=ppt/tags/tag58.xml><?xml version="1.0" encoding="utf-8"?>
<p:tagLst xmlns:p="http://schemas.openxmlformats.org/presentationml/2006/main">
  <p:tag name="KSO_WM_DIAGRAM_VIRTUALLY_FRAME" val="{&quot;height&quot;:84,&quot;left&quot;:66,&quot;top&quot;:151.5,&quot;width&quot;:778.5}"/>
</p:tagLst>
</file>

<file path=ppt/tags/tag59.xml><?xml version="1.0" encoding="utf-8"?>
<p:tagLst xmlns:p="http://schemas.openxmlformats.org/presentationml/2006/main">
  <p:tag name="KSO_WM_DIAGRAM_VIRTUALLY_FRAME" val="{&quot;height&quot;:192,&quot;left&quot;:58.5,&quot;top&quot;:189,&quot;width&quot;:847.5}"/>
</p:tagLst>
</file>

<file path=ppt/tags/tag60.xml><?xml version="1.0" encoding="utf-8"?>
<p:tagLst xmlns:p="http://schemas.openxmlformats.org/presentationml/2006/main">
  <p:tag name="KSO_WM_DIAGRAM_VIRTUALLY_FRAME" val="{&quot;height&quot;:192,&quot;left&quot;:58.5,&quot;top&quot;:189,&quot;width&quot;:847.5}"/>
</p:tagLst>
</file>

<file path=ppt/tags/tag61.xml><?xml version="1.0" encoding="utf-8"?>
<p:tagLst xmlns:p="http://schemas.openxmlformats.org/presentationml/2006/main">
  <p:tag name="KSO_WM_DIAGRAM_VIRTUALLY_FRAME" val="{&quot;height&quot;:192,&quot;left&quot;:58.5,&quot;top&quot;:189,&quot;width&quot;:847.5}"/>
</p:tagLst>
</file>

<file path=ppt/tags/tag62.xml><?xml version="1.0" encoding="utf-8"?>
<p:tagLst xmlns:p="http://schemas.openxmlformats.org/presentationml/2006/main">
  <p:tag name="KSO_WM_DIAGRAM_VIRTUALLY_FRAME" val="{&quot;height&quot;:192,&quot;left&quot;:58.5,&quot;top&quot;:189,&quot;width&quot;:847.5}"/>
</p:tagLst>
</file>

<file path=ppt/tags/tag63.xml><?xml version="1.0" encoding="utf-8"?>
<p:tagLst xmlns:p="http://schemas.openxmlformats.org/presentationml/2006/main">
  <p:tag name="KSO_WM_DIAGRAM_VIRTUALLY_FRAME" val="{&quot;height&quot;:192,&quot;left&quot;:58.5,&quot;top&quot;:189,&quot;width&quot;:847.5}"/>
</p:tagLst>
</file>

<file path=ppt/tags/tag64.xml><?xml version="1.0" encoding="utf-8"?>
<p:tagLst xmlns:p="http://schemas.openxmlformats.org/presentationml/2006/main">
  <p:tag name="KSO_WM_DIAGRAM_VIRTUALLY_FRAME" val="{&quot;height&quot;:192,&quot;left&quot;:58.5,&quot;top&quot;:189,&quot;width&quot;:847.5}"/>
</p:tagLst>
</file>

<file path=ppt/tags/tag65.xml><?xml version="1.0" encoding="utf-8"?>
<p:tagLst xmlns:p="http://schemas.openxmlformats.org/presentationml/2006/main">
  <p:tag name="KSO_WM_DIAGRAM_VIRTUALLY_FRAME" val="{&quot;height&quot;:192,&quot;left&quot;:58.5,&quot;top&quot;:189,&quot;width&quot;:847.5}"/>
</p:tagLst>
</file>

<file path=ppt/tags/tag66.xml><?xml version="1.0" encoding="utf-8"?>
<p:tagLst xmlns:p="http://schemas.openxmlformats.org/presentationml/2006/main">
  <p:tag name="KSO_WM_DIAGRAM_VIRTUALLY_FRAME" val="{&quot;height&quot;:192,&quot;left&quot;:58.5,&quot;top&quot;:189,&quot;width&quot;:847.5}"/>
</p:tagLst>
</file>

<file path=ppt/tags/tag67.xml><?xml version="1.0" encoding="utf-8"?>
<p:tagLst xmlns:p="http://schemas.openxmlformats.org/presentationml/2006/main">
  <p:tag name="KSO_WM_DIAGRAM_VIRTUALLY_FRAME" val="{&quot;height&quot;:192,&quot;left&quot;:58.5,&quot;top&quot;:189,&quot;width&quot;:847.5}"/>
</p:tagLst>
</file>

<file path=ppt/tags/tag68.xml><?xml version="1.0" encoding="utf-8"?>
<p:tagLst xmlns:p="http://schemas.openxmlformats.org/presentationml/2006/main">
  <p:tag name="KSO_WM_DIAGRAM_VIRTUALLY_FRAME" val="{&quot;height&quot;:192,&quot;left&quot;:58.5,&quot;top&quot;:189,&quot;width&quot;:847.5}"/>
</p:tagLst>
</file>

<file path=ppt/tags/tag69.xml><?xml version="1.0" encoding="utf-8"?>
<p:tagLst xmlns:p="http://schemas.openxmlformats.org/presentationml/2006/main">
  <p:tag name="KSO_WM_DIAGRAM_VIRTUALLY_FRAME" val="{&quot;height&quot;:192,&quot;left&quot;:58.5,&quot;top&quot;:189,&quot;width&quot;:847.5}"/>
</p:tagLst>
</file>

<file path=ppt/tags/tag70.xml><?xml version="1.0" encoding="utf-8"?>
<p:tagLst xmlns:p="http://schemas.openxmlformats.org/presentationml/2006/main">
  <p:tag name="KSO_WM_DIAGRAM_VIRTUALLY_FRAME" val="{&quot;height&quot;:192,&quot;left&quot;:58.5,&quot;top&quot;:189,&quot;width&quot;:847.5}"/>
</p:tagLst>
</file>

<file path=ppt/tags/tag71.xml><?xml version="1.0" encoding="utf-8"?>
<p:tagLst xmlns:p="http://schemas.openxmlformats.org/presentationml/2006/main">
  <p:tag name="KSO_WM_DIAGRAM_VIRTUALLY_FRAME" val="{&quot;height&quot;:192,&quot;left&quot;:58.5,&quot;top&quot;:189,&quot;width&quot;:847.5}"/>
</p:tagLst>
</file>

<file path=ppt/tags/tag72.xml><?xml version="1.0" encoding="utf-8"?>
<p:tagLst xmlns:p="http://schemas.openxmlformats.org/presentationml/2006/main">
  <p:tag name="KSO_WM_DIAGRAM_VIRTUALLY_FRAME" val="{&quot;height&quot;:192,&quot;left&quot;:58.5,&quot;top&quot;:189,&quot;width&quot;:847.5}"/>
</p:tagLst>
</file>

<file path=ppt/tags/tag73.xml><?xml version="1.0" encoding="utf-8"?>
<p:tagLst xmlns:p="http://schemas.openxmlformats.org/presentationml/2006/main">
  <p:tag name="KSO_WM_DIAGRAM_VIRTUALLY_FRAME" val="{&quot;height&quot;:192,&quot;left&quot;:58.5,&quot;top&quot;:189,&quot;width&quot;:847.5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3136</Words>
  <Application>WPS 演示</Application>
  <PresentationFormat>Converted Presentation</PresentationFormat>
  <Paragraphs>422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5" baseType="lpstr">
      <vt:lpstr>Arial</vt:lpstr>
      <vt:lpstr>宋体</vt:lpstr>
      <vt:lpstr>Wingdings</vt:lpstr>
      <vt:lpstr>汉仪书宋二KW</vt:lpstr>
      <vt:lpstr>微软雅黑</vt:lpstr>
      <vt:lpstr>Calibri</vt:lpstr>
      <vt:lpstr>Helvetica Neue</vt:lpstr>
      <vt:lpstr>宋体</vt:lpstr>
      <vt:lpstr>方正雅意黑 GB18030L2</vt:lpstr>
      <vt:lpstr>Arial Unicode MS</vt:lpstr>
      <vt:lpstr>微软雅黑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qinxiao</cp:lastModifiedBy>
  <cp:revision>287</cp:revision>
  <dcterms:created xsi:type="dcterms:W3CDTF">2026-10-28T13:20:13Z</dcterms:created>
  <dcterms:modified xsi:type="dcterms:W3CDTF">2026-10-28T13:20:13Z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62C52F981C1FA3257A23856A3B1473BF_42</vt:lpwstr>
  </property>
  <property fmtid="{D5CDD505-2E9C-101B-9397-08002B2CF9AE}" pid="3" name="KSOProductBuildVer">
    <vt:lpwstr>2052-12.1.26055.26055</vt:lpwstr>
  </property>
</Properties>
</file>